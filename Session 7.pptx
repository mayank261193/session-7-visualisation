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</p:sldIdLst>
  <p:sldSz cx="18288000" cy="10287000"/>
  <p:notesSz cx="10287000" cy="1828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8" roundtripDataSignature="AMtx7miLT1u8gO+lsUUcpFcLo2TXXZOk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4" d="100"/>
          <a:sy n="44" d="100"/>
        </p:scale>
        <p:origin x="660" y="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Objective: open Session 7 and signal that Capstone 1 starts today. Key teaching points: welcome back; Session 6 gave you clean tables — today those tables become charts a stakeholder reads in five seconds, and you learn to collect your own data from an API and a web page; this is not a statistics course, everything stays practical. Time: ~1 min. Notebook: title cell — Session 7 Follow-Along. Classroom question: 'Where do you usually SEE data — a table or a chart?' Transition: 60-second recap of Session 6.</a:t>
            </a: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" name="Google Shape;3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Objective: reactivate Session 6 in under two minutes and take an MP3 pulse — do NOT re-teach. Key teaching points: read_csv loads a table; loc and iloc select by label and position; masks filter rows; fillna and drop_duplicates clean; groupby splits-applies-combines; merge joins two tables — today groupby returns as chart preparation, not as new material. Quick MP3 poll. Time: ~2 min. Notebook: intro + 'we'll reuse groupby()' note. Classroom question: 'Where are you on MP3 — not started, halfway, or done?' Transition: so why do we need charts at all?</a:t>
            </a:r>
            <a:endParaRPr/>
          </a:p>
        </p:txBody>
      </p:sp>
      <p:sp>
        <p:nvSpPr>
          <p:cNvPr id="35" name="Google Shape;3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" name="Google Shape;6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Objective: show today's destination in one glance. Key teaching points: six capabilities — choose the right chart, draw with Matplotlib, polish with Seaborn, go interactive with Plotly, tell a story, and acquire data from an API and the web; each maps to a notebook section and a live-coding block. Time: ~2 min. Notebook: Learning objectives cell. Classroom question: 'Which of these will you use first in your capstone?' Transition: start with the why.</a:t>
            </a:r>
            <a:endParaRPr/>
          </a:p>
        </p:txBody>
      </p:sp>
      <p:sp>
        <p:nvSpPr>
          <p:cNvPr id="64" name="Google Shape;6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" name="Google Shape;121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Objective: open chapter 1. Key teaching points: this block is chart choice plus Matplotlib — the library every other plotting tool sits on top of. Time: ~30 sec. Notebook: Sections 1–3. Transition: first, the two datasets we'll use all session.</a:t>
            </a:r>
            <a:endParaRPr/>
          </a:p>
        </p:txBody>
      </p:sp>
      <p:sp>
        <p:nvSpPr>
          <p:cNvPr id="122" name="Google Shape;122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Objective: introduce the two datasets before any chart, so every later example has meaning. Key teaching points: state_development.csv holds 13 states with literacy rate, forest cover, renewable energy in MW, population density and rainfall — a development-indicators table; district_healthcare.csv holds 15 districts with hospitals, PHCs, doctors, population and literacy — a service-delivery table; Section 1 of the notebook builds both in code and saves them as CSVs, so the notebook runs top to bottom with no downloads; np.random.seed(42) keeps everything reproducible. Say the disclaimer aloud: the data is fictional but modelled on real government reporting formats. Time: ~4 min. Notebook: Section 1 — Creating the Datasets. Classroom question: 'Which column would you chart first, and what question would it answer?' Transition: with data in hand — which chart?</a:t>
            </a:r>
            <a:endParaRPr/>
          </a:p>
        </p:txBody>
      </p:sp>
      <p:sp>
        <p:nvSpPr>
          <p:cNvPr id="135" name="Google Shape;135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Objective: give a decision rule for chart choice. Key teaching points: the chart follows the QUESTION, not taste — compare categories → bar (horizontal when names are long); sequence or trend → line; relationship between two numbers → scatter; distribution of one number → histogram; spread, median and outliers → box; parts of one whole → pie, sparingly and never with many slices; many-by-many correlation → heatmap. Say the 'when NOT to' for each: no pie with 10 slices, no line for unordered categories, no bar for a distribution. Time: ~5 min. Notebook: Section 3 — Choosing the Right Chart. Classroom question: 'Rainfall across 13 states — bar or histogram? Why both are defensible.' Transition: your turn to choose.</a:t>
            </a:r>
            <a:endParaRPr/>
          </a:p>
        </p:txBody>
      </p:sp>
      <p:sp>
        <p:nvSpPr>
          <p:cNvPr id="162" name="Google Shape;162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6" name="Google Shape;206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Objective: make chart choice active before any code. Key teaching points: read each question, let the room commit, then reveal — 1 literacy by state → bar; 2 rainfall vs forest cover → scatter; 3 spread of literacy rates → box plot; 4 each state's share of hospitals → pie, because the parts sum to one whole. Push back on 'line' answers for question 1: states have no order. Time: ~3 min. Notebook: Section 3. Classroom question: 'What would make you switch question 1 to a horizontal bar?' Transition: now the library that draws all of them.</a:t>
            </a:r>
            <a:endParaRPr/>
          </a:p>
        </p:txBody>
      </p:sp>
      <p:sp>
        <p:nvSpPr>
          <p:cNvPr id="207" name="Google Shape;207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1" name="Google Shape;231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Objective: teach the fixed Matplotlib rhythm so every later chart is a variation. Key teaching points: import pyplot as plt; plt.figure(figsize=...) opens a canvas; one drawing call — plot, bar, scatter, hist, boxplot; then title, xlabel, ylabel, and legend when there is more than one series; xticks(rotation=45, ha='right') rescues long state names; tight_layout() stops labels being cut off; plt.show() displays, plt.savefig('chart.png', dpi=150) saves — savefig must come BEFORE show. Time: ~5 min. Notebook: Section 2 — Matplotlib Basics. Classroom question: 'Which line would you delete and still have a readable chart? Which one never?' Transition: the same six lines, five different charts.</a:t>
            </a:r>
            <a:endParaRPr/>
          </a:p>
        </p:txBody>
      </p:sp>
      <p:sp>
        <p:nvSpPr>
          <p:cNvPr id="232" name="Google Shape;232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3" name="Google Shape;26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Objective: show that five chart types are five one-line swaps. Key teaching points: plot for the line — renewable energy across states; bar with color='teal' for literacy; scatter for literacy against forest cover; hist with bins=6 and edgecolor='white' for rainfall; boxplot for the spread of literacy rates; every one keeps the same figure-label-layout-show wrapper. Point out that bins is a judgement call — too few hides shape, too many is noise. Time: ~5 min. Notebook: Section 2 — Matplotlib Basics, five code cells. Classroom question: 'Predict the histogram shape for rainfall from 550 to 3000 mm — where is the peak?' Transition: two more chart jobs before we code.</a:t>
            </a:r>
            <a:endParaRPr/>
          </a:p>
        </p:txBody>
      </p:sp>
      <p:sp>
        <p:nvSpPr>
          <p:cNvPr id="264" name="Google Shape;264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9" name="Google Shape;299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Objective: cover the two remaining chart jobs from Section 3 — parts of a whole, and two measures side by side. Key teaching points: the pie needs a whole, so we groupby State and sum Hospitals first — this is Session 6 doing chart preparation; autopct='%1.0f%%' prints the percentages; for two measures we offset the x positions by half a bar width using np.arange, and the notebook scales PHCs by dividing by 3 so both series fit one axis — say plainly that scaling must always be labelled, here 'PHCs (scaled)'; legend() is mandatory the moment there are two series. Time: ~5 min. Notebook: Section 3 — Choosing the Right Chart, both code cells. Classroom question: 'Predict which state takes the largest pie slice — and why Karnataka might surprise you.' Transition: notebook time.</a:t>
            </a:r>
            <a:endParaRPr/>
          </a:p>
        </p:txBody>
      </p:sp>
      <p:sp>
        <p:nvSpPr>
          <p:cNvPr id="300" name="Google Shape;300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4" name="Google Shape;324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Objective: hands-on — build the datasets and draw all seven Matplotlib charts. Key teaching points: run Section 1 first so both CSVs exist; then work through Section 2's five charts; then Section 3's pie and grouped bar; make everyone predict each chart's shape before running the cell. Watch for missing tight_layout and rotated ticks. Time: ~15 min. Notebook: Sections 1–3 — Datasets, Matplotlib Basics, Choosing the Right Chart. Classroom question: 'Before you run the scatter — do you expect literacy and forest cover to be linked at all?' Transition: back to slides for Seaborn.</a:t>
            </a:r>
            <a:endParaRPr/>
          </a:p>
        </p:txBody>
      </p:sp>
      <p:sp>
        <p:nvSpPr>
          <p:cNvPr id="325" name="Google Shape;325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3" name="Google Shape;343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Objective: open chapter 2. Key teaching points: Matplotlib draws anything but asks for many lines — Seaborn gives polished defaults in one line, Plotly makes the chart interactive. Time: ~30 sec. Notebook: Sections 4–5. Transition: why Seaborn exists.</a:t>
            </a:r>
            <a:endParaRPr/>
          </a:p>
        </p:txBody>
      </p:sp>
      <p:sp>
        <p:nvSpPr>
          <p:cNvPr id="344" name="Google Shape;344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6" name="Google Shape;356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Objective: explain what Seaborn adds and read both notebook examples. Key teaching points: Seaborn sits ON TOP of Matplotlib — you still use plt for title, ticks and show; it takes the DataFrame plus column names, so no manual slicing; the defaults are cleaner and the palettes are chosen for you; it adds statistical charts Matplotlib has no shortcut for — barplot with sorting, distribution plots, categorical plots, and the correlation heatmap; the heatmap of corr() with annot=True and cmap='Blues' answers 'which healthcare numbers move together?' — read values near 1 as a strong link, and remind the room that correlation is not causation. Time: ~6 min. Notebook: Section 4 — Seaborn Basics. Classroom question: 'Doctors and Population — how strong do you expect that correlation to be?' Transition: run both in the notebook.</a:t>
            </a:r>
            <a:endParaRPr/>
          </a:p>
        </p:txBody>
      </p:sp>
      <p:sp>
        <p:nvSpPr>
          <p:cNvPr id="357" name="Google Shape;357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6" name="Google Shape;38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Objective: hands-on Seaborn. Key teaching points: sorted barplot of forest cover; correlation heatmap of the five healthcare columns; ask them to read two cells of the heatmap aloud before you explain it. Time: ~10 min. Notebook: Section 4 — Seaborn Basics. Classroom question: 'Which pair in the heatmap is strongest, and does that surprise you?' Transition: same charts, now interactive.</a:t>
            </a:r>
            <a:endParaRPr/>
          </a:p>
        </p:txBody>
      </p:sp>
      <p:sp>
        <p:nvSpPr>
          <p:cNvPr id="387" name="Google Shape;387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5" name="Google Shape;405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Objective: introduce interactive charting with plotly.express, basics only. Key teaching points: px.bar and px.scatter take the DataFrame and column names like Seaborn, but the output is a live chart — hover for exact values, zoom, pan, and toggle series from the legend; extra columns can be encoded as colour, size and hover_name, so one scatter carries five variables — population, doctors, hospitals, state and district; fig.show() displays it, and the toolbar exports a PNG; this is how business dashboards are built. No authentication, no Dash, nothing beyond these two calls today. Time: ~5 min. Notebook: Section 5 — Plotly Basics. Classroom question: 'Which is easier to present live — a static PNG or a chart you can hover? When is static better?' Transition: try it yourself.</a:t>
            </a:r>
            <a:endParaRPr/>
          </a:p>
        </p:txBody>
      </p:sp>
      <p:sp>
        <p:nvSpPr>
          <p:cNvPr id="406" name="Google Shape;406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6" name="Google Shape;436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Objective: hands-on Plotly. Key teaching points: interactive bar of renewable energy — hover to read Gujarat and Tamil Nadu exactly; interactive scatter of doctors vs population — hover a bubble to name the district, click legend entries to isolate a state; if a chart doesn't render in Colab, re-run the cell. Time: ~10 min. Notebook: Section 5 — Plotly Basics. Classroom question: 'Find the district that has many people but few doctors — what would you ask about it?' Transition: charts are done — now make them say something.</a:t>
            </a:r>
            <a:endParaRPr/>
          </a:p>
        </p:txBody>
      </p:sp>
      <p:sp>
        <p:nvSpPr>
          <p:cNvPr id="437" name="Google Shape;437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5" name="Google Shape;455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Objective: open chapter 3. Key teaching points: a chart shows a number; a story changes a decision — this short block is about the difference. Time: ~30 sec. Notebook: Section 6. Transition: what makes a chart into an insight.</a:t>
            </a:r>
            <a:endParaRPr/>
          </a:p>
        </p:txBody>
      </p:sp>
      <p:sp>
        <p:nvSpPr>
          <p:cNvPr id="456" name="Google Shape;456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8" name="Google Shape;468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Objective: give four concrete storytelling habits and one honesty rule. Key teaching points: write the title as the finding, not the variable — 'Renewable leaders are the drier states' beats 'RenewableEnergy by State'; annotate the one point that matters instead of labelling everything; use colour to highlight, grey for context — one accent, not a rainbow; order the bars, because sorted bars are read instantly; and the honesty rule — never truncate a y-axis to exaggerate a difference, never use 3D or unlabelled dual axes, never cherry-pick the flattering year. Reference how government reports use exactly these devices. Time: ~5 min. Notebook: Section 6 intro. Discussion question: 'Show me a chart that technically told the truth and still misled you.' Transition: the notebook's three-panel story.</a:t>
            </a:r>
            <a:endParaRPr/>
          </a:p>
        </p:txBody>
      </p:sp>
      <p:sp>
        <p:nvSpPr>
          <p:cNvPr id="469" name="Google Shape;469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5" name="Google Shape;495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Objective: read the notebook's worked story and name the technique. Key teaching points: plt.subplots(1, 3) puts three panels in one figure, each making exactly one point — panel 1 rain against forest cover, panel 2 the top five renewable-energy states, panel 3 the rainfall of those same five; the message is a turn: more rain means more forest, BUT the energy leaders are dry states, so their story is sun and wind rather than water; each panel title states its own finding; note that axes[i] replaces plt for titles and labels once you use subplots. Time: ~5 min. Notebook: Section 6 — Data Storytelling. Classroom question: 'Which panel would you cut if you had only two?' Transition: chapter 4 — go and get your own data.</a:t>
            </a:r>
            <a:endParaRPr/>
          </a:p>
        </p:txBody>
      </p:sp>
      <p:sp>
        <p:nvSpPr>
          <p:cNvPr id="496" name="Google Shape;496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7" name="Google Shape;527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Objective: open chapter 4 — the half of the session that is not charts. Key teaching points: until now someone handed you a CSV; from here you go and get the data yourself, from an API and from a web page. Time: ~30 sec. Notebook: Sections 7–8. Transition: what an API actually is.</a:t>
            </a:r>
            <a:endParaRPr/>
          </a:p>
        </p:txBody>
      </p:sp>
      <p:sp>
        <p:nvSpPr>
          <p:cNvPr id="528" name="Google Shape;528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0" name="Google Shape;540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Objective: explain the request-response cycle in plain language. Key teaching points: an API is a door on someone else's server — you send a GET request as a URL with parameters, it sends back a response; the status code tells you what happened — 200 success, 404 not found, 429 too many requests, 500 server error, and you must check it before touching the data; the body comes back as JSON, which is just nested Python dictionaries and lists once parsed; today's API is Open-Meteo — free, no key, no authentication, so we skip auth entirely. Read the URL aloud and point at latitude, longitude, daily and forecast_days. Time: ~6 min. Notebook: Section 7 — Acquiring Data from a REST API. Classroom question: 'Your call returns 200 but the data is empty — where do you look first?' Transition: the four steps from request to DataFrame.</a:t>
            </a:r>
            <a:endParaRPr/>
          </a:p>
        </p:txBody>
      </p:sp>
      <p:sp>
        <p:nvSpPr>
          <p:cNvPr id="541" name="Google Shape;541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4" name="Google Shape;584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Objective: walk the five numbered steps in the notebook's API cell. Key teaching points: 1 requests.get with a timeout; 2 print status_code — 200 means success; 3 .json() parses the body into Python dicts and lists, and data['daily']['temperature_2m_max'] reaches the seven daily maximums; 4 collect one dict per city into rows and hand the list to pd.DataFrame; 5 to_csv('api_weather.csv', index=False) saves it. Explain the try/except: if there is no internet the cell falls back to the offline sample so the lesson always runs — that is a deliberate teaching pattern, and in production you would log and retry instead. Time: ~6 min. Notebook: Section 7. Classroom question: 'Why loop over four cities instead of asking for all four in one call?' Transition: your turn.</a:t>
            </a:r>
            <a:endParaRPr/>
          </a:p>
        </p:txBody>
      </p:sp>
      <p:sp>
        <p:nvSpPr>
          <p:cNvPr id="585" name="Google Shape;585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5" name="Google Shape;615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Objective: hands-on API call, JSON parsing and DataFrame conversion. Key teaching points: run the cell and read the four printed status codes; open data['daily'] and look at the raw JSON before averaging; inspect the resulting DataFrame and confirm api_weather.csv appears in the file list; if the room has no internet, point out the offline fallback firing. Time: ~12 min. Notebook: Section 7 — REST API (requests, JSON, DataFrame, CSV). Classroom question: 'Predict which capital has the highest average maximum before you run it.' Transition: some data has no API — then we scrape.</a:t>
            </a:r>
            <a:endParaRPr/>
          </a:p>
        </p:txBody>
      </p:sp>
      <p:sp>
        <p:nvSpPr>
          <p:cNvPr id="616" name="Google Shape;616;p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4" name="Google Shape;634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Objective: teach the scraping pipeline and the ethics in one pass. Key teaching points: HTML is nested tags — a table is table, then tr rows, then th headers and td cells; requests fetches the page text, BeautifulSoup(html, 'html.parser') turns it into a searchable tree; find() gets the first match, find_all() gets every match, and class_= narrows by CSS class; get_text(strip=True) pulls clean text out of a cell; row zero is the header, the rest is data, and everything arrives as TEXT so you must cast — astype(int) on Area_sq_km; the notebook fetches the live Wikipedia page to show the real call, then parses a small static table so every machine gets identical results. Ethics: read the site's terms and robots.txt, prefer an official API or dataset when one exists, never hammer a server, identify yourself, and never republish someone's data as your own. Time: ~7 min. Notebook: Section 8 — Scraping a Web Table with BeautifulSoup. Classroom question: 'Your scraper returns None — what are the two most likely causes?' Transition: run it.</a:t>
            </a:r>
            <a:endParaRPr/>
          </a:p>
        </p:txBody>
      </p:sp>
      <p:sp>
        <p:nvSpPr>
          <p:cNvPr id="635" name="Google Shape;635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2" name="Google Shape;672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Objective: hands-on scraping and saving. Key teaching points: run the live Wikipedia fetch and read its status code; then parse the static table; print headers and one row before building the DataFrame; check the dtype of Area_sq_km before and after astype(int); confirm scraped_states.csv is written. Time: ~12 min. Notebook: Section 8 — BeautifulSoup, web table extraction, saving CSV. Classroom question: 'Change find_all("td") to find_all("th") — predict what you get back.' Transition: we now have two acquired datasets — chart them.</a:t>
            </a:r>
            <a:endParaRPr/>
          </a:p>
        </p:txBody>
      </p:sp>
      <p:sp>
        <p:nvSpPr>
          <p:cNvPr id="673" name="Google Shape;673;p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1" name="Google Shape;691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Objective: close the loop — acquired data is just data. Key teaching points: read api_weather.csv and scraped_states.csv straight back in with read_csv; the quick cleaning is the Session 6 checklist — check shape, check dtypes, cast text numbers, drop or fill gaps; then chart them with the exact same Matplotlib calls from Section 2 — two panels, one from the API, one from the scrape; the full loop is Acquire → Clean → Visualise → Story, and that loop IS the capstone. Time: ~5 min. Notebook: Section 9 — Mini Wrap-Up, Charting the Acquired Data. Classroom question: 'Which of the four steps do you think will eat most of your capstone time?' Transition: a bug worth meeting before you hit it.</a:t>
            </a:r>
            <a:endParaRPr/>
          </a:p>
        </p:txBody>
      </p:sp>
      <p:sp>
        <p:nvSpPr>
          <p:cNvPr id="692" name="Google Shape;692;p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8" name="Google Shape;728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Objective: teach the most common acquisition bug — trusting the response. Key teaching points: the buggy version calls .json() immediately, so a 404 or 500 page becomes a confusing JSONDecodeError or a KeyError three lines later, and the real problem — a wrong URL — is invisible; the fix checks status_code first and only then parses; mention that a scraper hits the same shape of bug when find() returns None and you call find_all on it. Diagnose with the room before revealing. Time: ~4 min. Notebook: Sections 7–8 — status-code checks. Classroom question: 'What error message would the buggy version actually print?' Transition: the full mistakes grid.</a:t>
            </a:r>
            <a:endParaRPr/>
          </a:p>
        </p:txBody>
      </p:sp>
      <p:sp>
        <p:nvSpPr>
          <p:cNvPr id="729" name="Google Shape;729;p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3" name="Google Shape;753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Objective: pre-empt the errors they will actually hit in the practice and the capstone. Key teaching points: walk each cell fast — wrong chart for the question; a chart with no title or axis labels; too many colours so nothing stands out; parsing before checking the status code; assuming the JSON shape instead of printing it; grabbing the wrong tag or the wrong table on the page; and hardcoding a URL or a file path so nothing is reusable — put it in a variable. Reassure: every one of these is normal and fast to fix. Time: ~4 min. Notebook: Sections 7–8 callouts. Classroom question: 'Which of these have you already hit today?' Transition: quiz.</a:t>
            </a:r>
            <a:endParaRPr/>
          </a:p>
        </p:txBody>
      </p:sp>
      <p:sp>
        <p:nvSpPr>
          <p:cNvPr id="754" name="Google Shape;754;p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6" name="Google Shape;796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Objective: retrieval check across the whole session. Key teaching points: read each aloud, let the room answer, then reveal. Answers: 1 → scatter; 2 → 200; 3 → .json(); 4 → find_all(); 5 → a pie chart with too many slices, and the fix is a sorted bar; 6 → because scraped values arrive as text. Time: ~6 min. Notebook: Summary cell. Classroom question: use each item. Transition: the capstone brief.</a:t>
            </a:r>
            <a:endParaRPr/>
          </a:p>
        </p:txBody>
      </p:sp>
      <p:sp>
        <p:nvSpPr>
          <p:cNvPr id="797" name="Google Shape;797;p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6" name="Google Shape;826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Objective: launch Capstone 1 'Extract &amp; Explore' — introduce only, do not build it here. Key teaching points: five steps — acquire your own dataset from an API or a scraped table, clean it with the Session 6 toolkit, visualise it with three or four charts, tell one clear story with a finding per chart, and publish the notebook to GitHub; the topic is theirs, ideally a UPSC or policy theme; the only hard requirement today is to CHOOSE the source and save the raw CSV; we build it across Session 8. Time: ~4 min. Notebook: Deliverable — MP3 &amp; Capstone. Classroom question: 'Name your dataset and your source out loud — API or scrape?' Transition: homework.</a:t>
            </a:r>
            <a:endParaRPr/>
          </a:p>
        </p:txBody>
      </p:sp>
      <p:sp>
        <p:nvSpPr>
          <p:cNvPr id="827" name="Google Shape;827;p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0" name="Google Shape;860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Objective: set clear, checkable homework. Key teaching points: finish the notebook with Restart &amp; Run All so every cell runs clean; submit MP3 — a short visual narrative of three or four charts with one insight each on a UPSC theme of their choice; acquire the capstone dataset via API or scrape and save the CSV; push everything to the GitHub Session-7 folder. Say the deadline out loud. Time: ~2 min. Notebook: Deliverable — MP3 &amp; Capstone. Classroom question: 'What will your MP3 theme be?' Transition: the recap.</a:t>
            </a:r>
            <a:endParaRPr/>
          </a:p>
        </p:txBody>
      </p:sp>
      <p:sp>
        <p:nvSpPr>
          <p:cNvPr id="861" name="Google Shape;861;p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7" name="Google Shape;887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Objective: consolidate Session 7 and build excitement for Session 8. Key teaching points: today you chose and drew the right charts, polished them with Seaborn, made them interactive with Plotly, arranged them into a story, and acquired data from an API and a web page — you are no longer dependent on someone handing you a CSV; Session 8 is Capstone 1 end to end: acquire, clean, analyse, visualise and present your own project, with the presentation as the deliverable. Remind them of the pre-work and thank the room. Time: ~2 min. Notebook: Summary + Deliverable. Classroom question: 'Which of today's tools will you reach for first?' Transition: close.</a:t>
            </a:r>
            <a:endParaRPr/>
          </a:p>
        </p:txBody>
      </p:sp>
      <p:sp>
        <p:nvSpPr>
          <p:cNvPr id="888" name="Google Shape;888;p3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2E1E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13906500" y="-1714500"/>
            <a:ext cx="5905500" cy="5905500"/>
          </a:xfrm>
          <a:prstGeom prst="ellipse">
            <a:avLst/>
          </a:prstGeom>
          <a:solidFill>
            <a:srgbClr val="7FD6A0">
              <a:alpha val="784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-1333500" y="7429500"/>
            <a:ext cx="4953000" cy="4953000"/>
          </a:xfrm>
          <a:prstGeom prst="ellipse">
            <a:avLst/>
          </a:prstGeom>
          <a:solidFill>
            <a:srgbClr val="F0B060">
              <a:alpha val="588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" name="Google Shape;18;p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0600" y="495300"/>
            <a:ext cx="1582936" cy="10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1"/>
          <p:cNvSpPr/>
          <p:nvPr/>
        </p:nvSpPr>
        <p:spPr>
          <a:xfrm>
            <a:off x="1047750" y="2975570"/>
            <a:ext cx="17811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7FD6A0"/>
                </a:solidFill>
                <a:latin typeface="Arial"/>
                <a:ea typeface="Arial"/>
                <a:cs typeface="Arial"/>
                <a:sym typeface="Arial"/>
              </a:rPr>
              <a:t>APPLIED AI &amp; ANALYTICS LAB · SESSION 7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1047750" y="3566120"/>
            <a:ext cx="1571625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8704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400"/>
              <a:buFont typeface="Arial"/>
              <a:buNone/>
            </a:pPr>
            <a:r>
              <a:rPr lang="en-US" sz="8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Visualisation &amp; Data</a:t>
            </a:r>
            <a:r>
              <a:rPr lang="en-US" sz="8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8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Acquisition</a:t>
            </a:r>
            <a:endParaRPr sz="8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1047750" y="5394921"/>
            <a:ext cx="13096875" cy="544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20909"/>
              </a:lnSpc>
              <a:spcBef>
                <a:spcPts val="0"/>
              </a:spcBef>
              <a:spcAft>
                <a:spcPts val="0"/>
              </a:spcAft>
              <a:buClr>
                <a:srgbClr val="C9D6CD"/>
              </a:buClr>
              <a:buSzPts val="2850"/>
              <a:buFont typeface="Arial"/>
              <a:buNone/>
            </a:pPr>
            <a:r>
              <a:rPr lang="en-US" sz="2850" b="0" i="0" u="none" strike="noStrike" cap="none">
                <a:solidFill>
                  <a:srgbClr val="C9D6CD"/>
                </a:solidFill>
                <a:latin typeface="Arial"/>
                <a:ea typeface="Arial"/>
                <a:cs typeface="Arial"/>
                <a:sym typeface="Arial"/>
              </a:rPr>
              <a:t>Turn clean tables into charts that tell a story — then go collect your own data.</a:t>
            </a:r>
            <a:endParaRPr sz="2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1047750" y="6587430"/>
            <a:ext cx="2719675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7FD6A0"/>
                </a:solidFill>
                <a:latin typeface="Arial"/>
                <a:ea typeface="Arial"/>
                <a:cs typeface="Arial"/>
                <a:sym typeface="Arial"/>
              </a:rPr>
              <a:t>INSTRUCTOR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1047750" y="6981131"/>
            <a:ext cx="2719675" cy="3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lang="en-US" sz="22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Mr. Varunn Kaushik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4053582" y="6587430"/>
            <a:ext cx="3520549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7FD6A0"/>
                </a:solidFill>
                <a:latin typeface="Arial"/>
                <a:ea typeface="Arial"/>
                <a:cs typeface="Arial"/>
                <a:sym typeface="Arial"/>
              </a:rPr>
              <a:t>FORMAT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4053582" y="6981131"/>
            <a:ext cx="3520549" cy="3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lang="en-US" sz="22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Live workshop · ~2 hours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7787482" y="6587430"/>
            <a:ext cx="3494465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7FD6A0"/>
                </a:solidFill>
                <a:latin typeface="Arial"/>
                <a:ea typeface="Arial"/>
                <a:cs typeface="Arial"/>
                <a:sym typeface="Arial"/>
              </a:rPr>
              <a:t>BUILDS ON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7787482" y="6981131"/>
            <a:ext cx="3494465" cy="3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lang="en-US" sz="22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Session 6 · Pandas Core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" name="Google Shape;28;p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7750" y="9658350"/>
            <a:ext cx="40292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1"/>
          <p:cNvSpPr/>
          <p:nvPr/>
        </p:nvSpPr>
        <p:spPr>
          <a:xfrm>
            <a:off x="1574502" y="9674225"/>
            <a:ext cx="4108763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AA79F"/>
              </a:buClr>
              <a:buSzPts val="1425"/>
              <a:buFont typeface="Arial"/>
              <a:buNone/>
            </a:pPr>
            <a:r>
              <a:rPr lang="en-US" sz="1425" b="0" i="0" u="none" strike="noStrike" cap="none">
                <a:solidFill>
                  <a:srgbClr val="9AA79F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14366677" y="9674225"/>
            <a:ext cx="2541091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AA79F"/>
              </a:buClr>
              <a:buSzPts val="1425"/>
              <a:buFont typeface="Arial"/>
              <a:buNone/>
            </a:pPr>
            <a:r>
              <a:rPr lang="en-US" sz="1425" b="0" i="0" u="none" strike="noStrike" cap="none">
                <a:solidFill>
                  <a:srgbClr val="9AA79F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17060168" y="9674225"/>
            <a:ext cx="256282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425"/>
              <a:buFont typeface="Arial"/>
              <a:buNone/>
            </a:pPr>
            <a:r>
              <a:rPr lang="en-US" sz="1425" b="0" i="0" u="none" strike="noStrike" cap="non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"/>
          <p:cNvSpPr/>
          <p:nvPr/>
        </p:nvSpPr>
        <p:spPr>
          <a:xfrm>
            <a:off x="1047750" y="914400"/>
            <a:ext cx="17811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QUICK RECAP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1047750" y="1390650"/>
            <a:ext cx="17811750" cy="643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92621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4500"/>
              <a:buFont typeface="Arial"/>
              <a:buNone/>
            </a:pPr>
            <a:r>
              <a:rPr lang="en-US" sz="4500" b="1" i="0" u="none" strike="noStrike" cap="non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From clean tables to charts</a:t>
            </a:r>
            <a:endParaRPr sz="4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1047750" y="2148780"/>
            <a:ext cx="13096875" cy="412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2250"/>
              <a:buFont typeface="Arial"/>
              <a:buNone/>
            </a:pPr>
            <a:r>
              <a:rPr lang="en-US" sz="2250" b="0" i="0" u="none" strike="noStrike" cap="non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Session 6 got the data </a:t>
            </a:r>
            <a:r>
              <a:rPr lang="en-US" sz="2250" b="1" i="0" u="none" strike="noStrike" cap="non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clean</a:t>
            </a:r>
            <a:r>
              <a:rPr lang="en-US" sz="2250" b="0" i="0" u="none" strike="noStrike" cap="non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. Today we make it </a:t>
            </a:r>
            <a:r>
              <a:rPr lang="en-US" sz="2250" b="1" i="0" u="none" strike="noStrike" cap="non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readable </a:t>
            </a:r>
            <a:r>
              <a:rPr lang="en-US" sz="2250" b="0" i="0" u="none" strike="noStrike" cap="non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— and go fetch more of it.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1047750" y="2942531"/>
            <a:ext cx="4035822" cy="3148310"/>
          </a:xfrm>
          <a:prstGeom prst="roundRect">
            <a:avLst>
              <a:gd name="adj" fmla="val 6051"/>
            </a:avLst>
          </a:prstGeom>
          <a:solidFill>
            <a:srgbClr val="F4F7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1333500" y="4175026"/>
            <a:ext cx="3810754" cy="29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Courier New"/>
              <a:buNone/>
            </a:pPr>
            <a:r>
              <a:rPr lang="en-US" sz="1800" b="1" i="0" u="none" strike="noStrike" cap="none">
                <a:solidFill>
                  <a:srgbClr val="1F9D57"/>
                </a:solidFill>
                <a:latin typeface="Courier New"/>
                <a:ea typeface="Courier New"/>
                <a:cs typeface="Courier New"/>
                <a:sym typeface="Courier New"/>
              </a:rPr>
              <a:t>read_csv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1333500" y="4549676"/>
            <a:ext cx="3810754" cy="346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file → DataFrame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5274072" y="2942531"/>
            <a:ext cx="4035921" cy="3148310"/>
          </a:xfrm>
          <a:prstGeom prst="roundRect">
            <a:avLst>
              <a:gd name="adj" fmla="val 6051"/>
            </a:avLst>
          </a:prstGeom>
          <a:solidFill>
            <a:srgbClr val="F4F7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5559822" y="4175026"/>
            <a:ext cx="3810863" cy="29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Courier New"/>
              <a:buNone/>
            </a:pPr>
            <a:r>
              <a:rPr lang="en-US" sz="1800" b="1" i="0" u="none" strike="noStrike" cap="none">
                <a:solidFill>
                  <a:srgbClr val="1F9D57"/>
                </a:solidFill>
                <a:latin typeface="Courier New"/>
                <a:ea typeface="Courier New"/>
                <a:cs typeface="Courier New"/>
                <a:sym typeface="Courier New"/>
              </a:rPr>
              <a:t>loc · iloc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5559822" y="4549676"/>
            <a:ext cx="3810863" cy="346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label &amp; position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1047750" y="6281341"/>
            <a:ext cx="4035822" cy="3148410"/>
          </a:xfrm>
          <a:prstGeom prst="roundRect">
            <a:avLst>
              <a:gd name="adj" fmla="val 6051"/>
            </a:avLst>
          </a:prstGeom>
          <a:solidFill>
            <a:srgbClr val="F4F7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1333500" y="7513936"/>
            <a:ext cx="3810754" cy="29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Courier New"/>
              <a:buNone/>
            </a:pPr>
            <a:r>
              <a:rPr lang="en-US" sz="1800" b="1" i="0" u="none" strike="noStrike" cap="none">
                <a:solidFill>
                  <a:srgbClr val="1F9D57"/>
                </a:solidFill>
                <a:latin typeface="Courier New"/>
                <a:ea typeface="Courier New"/>
                <a:cs typeface="Courier New"/>
                <a:sym typeface="Courier New"/>
              </a:rPr>
              <a:t>fillna · drop_duplicates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1333500" y="7888585"/>
            <a:ext cx="3810754" cy="346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cleaning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5274072" y="6281341"/>
            <a:ext cx="4035921" cy="3148410"/>
          </a:xfrm>
          <a:prstGeom prst="roundRect">
            <a:avLst>
              <a:gd name="adj" fmla="val 6051"/>
            </a:avLst>
          </a:prstGeom>
          <a:solidFill>
            <a:srgbClr val="0C2E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5559822" y="7513936"/>
            <a:ext cx="3810863" cy="29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800"/>
              <a:buFont typeface="Courier New"/>
              <a:buNone/>
            </a:pPr>
            <a:r>
              <a:rPr lang="en-US" sz="1800" b="1" i="0" u="none" strike="noStrike" cap="non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groupby · merge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5559822" y="7888585"/>
            <a:ext cx="3810863" cy="346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summarise &amp; join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9729093" y="2942531"/>
            <a:ext cx="7511157" cy="6487220"/>
          </a:xfrm>
          <a:prstGeom prst="roundRect">
            <a:avLst>
              <a:gd name="adj" fmla="val 3230"/>
            </a:avLst>
          </a:prstGeom>
          <a:solidFill>
            <a:srgbClr val="EAF3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10186293" y="5002610"/>
            <a:ext cx="1638697" cy="368300"/>
          </a:xfrm>
          <a:prstGeom prst="roundRect">
            <a:avLst>
              <a:gd name="adj" fmla="val 50000"/>
            </a:avLst>
          </a:prstGeom>
          <a:solidFill>
            <a:srgbClr val="0C2E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10376793" y="5078810"/>
            <a:ext cx="1333897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QUICK POLL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10186293" y="5599509"/>
            <a:ext cx="6794660" cy="891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22182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Where are you on </a:t>
            </a:r>
            <a:r>
              <a:rPr lang="en-US" sz="2400" b="1" i="0" u="none" strike="noStrike" cap="non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MP3 </a:t>
            </a:r>
            <a:r>
              <a:rPr lang="en-US" sz="2400" b="0" i="0" u="none" strike="noStrike" cap="non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— not started, halfway, or done? Hands up.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10186293" y="6700441"/>
            <a:ext cx="6794660" cy="7072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24286"/>
              </a:lnSpc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We reuse </a:t>
            </a:r>
            <a:r>
              <a:rPr lang="en-US" sz="1800" b="0" i="0" u="none" strike="noStrike" cap="none">
                <a:solidFill>
                  <a:srgbClr val="47564E"/>
                </a:solidFill>
                <a:latin typeface="Courier New"/>
                <a:ea typeface="Courier New"/>
                <a:cs typeface="Courier New"/>
                <a:sym typeface="Courier New"/>
              </a:rPr>
              <a:t>groupby() </a:t>
            </a:r>
            <a:r>
              <a:rPr lang="en-US" sz="1800" b="0" i="0" u="none" strike="noStrike" cap="non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today to prepare data for charts — but we won't re-teach it.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" name="Google Shape;57;p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7750" y="9658350"/>
            <a:ext cx="40292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2"/>
          <p:cNvSpPr/>
          <p:nvPr/>
        </p:nvSpPr>
        <p:spPr>
          <a:xfrm>
            <a:off x="1574502" y="9674225"/>
            <a:ext cx="4108763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lang="en-US" sz="1425" b="0" i="0" u="none" strike="noStrike" cap="non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14320143" y="9674225"/>
            <a:ext cx="2541091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lang="en-US" sz="1425" b="0" i="0" u="none" strike="noStrike" cap="non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17013635" y="9674225"/>
            <a:ext cx="302816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lang="en-US" sz="1425" b="0" i="0" u="none" strike="noStrike" cap="non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"/>
          <p:cNvSpPr/>
          <p:nvPr/>
        </p:nvSpPr>
        <p:spPr>
          <a:xfrm>
            <a:off x="1047750" y="914400"/>
            <a:ext cx="17811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TODAY'S OBJECTIVES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047750" y="1390650"/>
            <a:ext cx="17811750" cy="643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92621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4500"/>
              <a:buFont typeface="Arial"/>
              <a:buNone/>
            </a:pPr>
            <a:r>
              <a:rPr lang="en-US" sz="4500" b="1" i="0" u="none" strike="noStrike" cap="non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What you'll be able to do today</a:t>
            </a:r>
            <a:endParaRPr sz="4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1047750" y="2453580"/>
            <a:ext cx="5232400" cy="3364210"/>
          </a:xfrm>
          <a:prstGeom prst="roundRect">
            <a:avLst>
              <a:gd name="adj" fmla="val 6229"/>
            </a:avLst>
          </a:prstGeom>
          <a:solidFill>
            <a:srgbClr val="F4F7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1428750" y="3556397"/>
            <a:ext cx="4917440" cy="3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950"/>
              <a:buFont typeface="Arial"/>
              <a:buNone/>
            </a:pPr>
            <a:r>
              <a:rPr lang="en-US" sz="1950" b="1" i="0" u="none" strike="noStrike" cap="non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1428750" y="3969147"/>
            <a:ext cx="4604512" cy="783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19847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175"/>
              <a:buFont typeface="Arial"/>
              <a:buNone/>
            </a:pPr>
            <a:r>
              <a:rPr lang="en-US" sz="2175" b="0" i="0" u="none" strike="noStrike" cap="non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Choose the right chart for a question</a:t>
            </a:r>
            <a:endParaRPr sz="21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6527800" y="2453580"/>
            <a:ext cx="5232400" cy="3364210"/>
          </a:xfrm>
          <a:prstGeom prst="roundRect">
            <a:avLst>
              <a:gd name="adj" fmla="val 6229"/>
            </a:avLst>
          </a:prstGeom>
          <a:solidFill>
            <a:srgbClr val="F4F7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6908800" y="3742829"/>
            <a:ext cx="4917440" cy="3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950"/>
              <a:buFont typeface="Arial"/>
              <a:buNone/>
            </a:pPr>
            <a:r>
              <a:rPr lang="en-US" sz="1950" b="1" i="0" u="none" strike="noStrike" cap="non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6908800" y="4155579"/>
            <a:ext cx="4917440" cy="410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19847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175"/>
              <a:buFont typeface="Arial"/>
              <a:buNone/>
            </a:pPr>
            <a:r>
              <a:rPr lang="en-US" sz="2175" b="0" i="0" u="none" strike="noStrike" cap="non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Draw core charts with Matplotlib</a:t>
            </a:r>
            <a:endParaRPr sz="21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12007851" y="2453580"/>
            <a:ext cx="5232400" cy="3364210"/>
          </a:xfrm>
          <a:prstGeom prst="roundRect">
            <a:avLst>
              <a:gd name="adj" fmla="val 6229"/>
            </a:avLst>
          </a:prstGeom>
          <a:solidFill>
            <a:srgbClr val="F4F7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12388851" y="3556397"/>
            <a:ext cx="4917440" cy="3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950"/>
              <a:buFont typeface="Arial"/>
              <a:buNone/>
            </a:pPr>
            <a:r>
              <a:rPr lang="en-US" sz="1950" b="1" i="0" u="none" strike="noStrike" cap="non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12388851" y="3969147"/>
            <a:ext cx="4604512" cy="783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19847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175"/>
              <a:buFont typeface="Arial"/>
              <a:buNone/>
            </a:pPr>
            <a:r>
              <a:rPr lang="en-US" sz="2175" b="0" i="0" u="none" strike="noStrike" cap="non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Polish with Seaborn, go interactive with Plotly</a:t>
            </a:r>
            <a:endParaRPr sz="21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1047750" y="6065441"/>
            <a:ext cx="5232400" cy="3364309"/>
          </a:xfrm>
          <a:prstGeom prst="roundRect">
            <a:avLst>
              <a:gd name="adj" fmla="val 6229"/>
            </a:avLst>
          </a:prstGeom>
          <a:solidFill>
            <a:srgbClr val="F4F7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1428750" y="7168357"/>
            <a:ext cx="4917440" cy="3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950"/>
              <a:buFont typeface="Arial"/>
              <a:buNone/>
            </a:pPr>
            <a:r>
              <a:rPr lang="en-US" sz="1950" b="1" i="0" u="none" strike="noStrike" cap="non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1428750" y="7581106"/>
            <a:ext cx="4604512" cy="783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19847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175"/>
              <a:buFont typeface="Arial"/>
              <a:buNone/>
            </a:pPr>
            <a:r>
              <a:rPr lang="en-US" sz="2175" b="0" i="0" u="none" strike="noStrike" cap="non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Turn a few charts into one clear data story</a:t>
            </a:r>
            <a:endParaRPr sz="21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6527800" y="6065441"/>
            <a:ext cx="5232400" cy="3364309"/>
          </a:xfrm>
          <a:prstGeom prst="roundRect">
            <a:avLst>
              <a:gd name="adj" fmla="val 6229"/>
            </a:avLst>
          </a:prstGeom>
          <a:solidFill>
            <a:srgbClr val="F4F7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6908800" y="7168357"/>
            <a:ext cx="4917440" cy="3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950"/>
              <a:buFont typeface="Arial"/>
              <a:buNone/>
            </a:pPr>
            <a:r>
              <a:rPr lang="en-US" sz="1950" b="1" i="0" u="none" strike="noStrike" cap="non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6908800" y="7581106"/>
            <a:ext cx="4604512" cy="783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19847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175"/>
              <a:buFont typeface="Arial"/>
              <a:buNone/>
            </a:pPr>
            <a:r>
              <a:rPr lang="en-US" sz="2175" b="0" i="0" u="none" strike="noStrike" cap="non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Pull live data from a REST API with requests</a:t>
            </a:r>
            <a:endParaRPr sz="21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12007851" y="6065441"/>
            <a:ext cx="5232400" cy="3364309"/>
          </a:xfrm>
          <a:prstGeom prst="roundRect">
            <a:avLst>
              <a:gd name="adj" fmla="val 6229"/>
            </a:avLst>
          </a:prstGeom>
          <a:solidFill>
            <a:srgbClr val="0C2E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12388851" y="7168357"/>
            <a:ext cx="4917440" cy="3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950"/>
              <a:buFont typeface="Arial"/>
              <a:buNone/>
            </a:pPr>
            <a:r>
              <a:rPr lang="en-US" sz="1950" b="1" i="0" u="none" strike="noStrike" cap="none">
                <a:solidFill>
                  <a:srgbClr val="7FD6A0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12388851" y="7581106"/>
            <a:ext cx="4604512" cy="783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1984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75"/>
              <a:buFont typeface="Arial"/>
              <a:buNone/>
            </a:pPr>
            <a:r>
              <a:rPr lang="en-US" sz="2175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Scrape a web table with BeautifulSoup &amp; save it</a:t>
            </a:r>
            <a:endParaRPr sz="21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" name="Google Shape;86;p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7750" y="9658350"/>
            <a:ext cx="40292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3"/>
          <p:cNvSpPr/>
          <p:nvPr/>
        </p:nvSpPr>
        <p:spPr>
          <a:xfrm>
            <a:off x="1574502" y="9674225"/>
            <a:ext cx="4108763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lang="en-US" sz="1425" b="0" i="0" u="none" strike="noStrike" cap="non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14315580" y="9674225"/>
            <a:ext cx="2541091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lang="en-US" sz="1425" b="0" i="0" u="none" strike="noStrike" cap="non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17009071" y="9674225"/>
            <a:ext cx="307380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lang="en-US" sz="1425" b="0" i="0" u="none" strike="noStrike" cap="non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4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"/>
          <p:cNvSpPr/>
          <p:nvPr/>
        </p:nvSpPr>
        <p:spPr>
          <a:xfrm>
            <a:off x="12673807" y="3048000"/>
            <a:ext cx="5127863" cy="42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86957"/>
              </a:lnSpc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33000"/>
              <a:buFont typeface="Arial"/>
              <a:buNone/>
            </a:pPr>
            <a:r>
              <a:rPr lang="en-US" sz="33000" b="1" i="0" u="none" strike="noStrike" cap="non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3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1047750" y="4035822"/>
            <a:ext cx="17811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E4A32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CE4A32"/>
                </a:solidFill>
                <a:latin typeface="Arial"/>
                <a:ea typeface="Arial"/>
                <a:cs typeface="Arial"/>
                <a:sym typeface="Arial"/>
              </a:rPr>
              <a:t>CHAPTER 01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1047750" y="4569222"/>
            <a:ext cx="13096875" cy="970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88482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7200"/>
              <a:buFont typeface="Arial"/>
              <a:buNone/>
            </a:pPr>
            <a:r>
              <a:rPr lang="en-US" sz="7200" b="1" i="0" u="none" strike="noStrike" cap="non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Charts &amp; Matplotlib</a:t>
            </a:r>
            <a:endParaRPr sz="7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1047750" y="5825728"/>
            <a:ext cx="10058400" cy="463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2550"/>
              <a:buFont typeface="Arial"/>
              <a:buNone/>
            </a:pPr>
            <a:r>
              <a:rPr lang="en-US" sz="2550" b="0" i="0" u="none" strike="noStrike" cap="non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Pick the right chart, then draw it.</a:t>
            </a:r>
            <a:endParaRPr sz="2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8" name="Google Shape;128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7750" y="9658350"/>
            <a:ext cx="40292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5"/>
          <p:cNvSpPr/>
          <p:nvPr/>
        </p:nvSpPr>
        <p:spPr>
          <a:xfrm>
            <a:off x="1574502" y="9674225"/>
            <a:ext cx="4108763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lang="en-US" sz="1425" b="0" i="0" u="none" strike="noStrike" cap="non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14311610" y="9674225"/>
            <a:ext cx="2541091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lang="en-US" sz="1425" b="0" i="0" u="none" strike="noStrike" cap="non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17005102" y="9674225"/>
            <a:ext cx="311348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lang="en-US" sz="1425" b="0" i="0" u="none" strike="noStrike" cap="non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"/>
          <p:cNvSpPr/>
          <p:nvPr/>
        </p:nvSpPr>
        <p:spPr>
          <a:xfrm>
            <a:off x="1047750" y="914400"/>
            <a:ext cx="17811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THE DATA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1047750" y="1390650"/>
            <a:ext cx="17811750" cy="643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92621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4500"/>
              <a:buFont typeface="Arial"/>
              <a:buNone/>
            </a:pPr>
            <a:r>
              <a:rPr lang="en-US" sz="4500" b="1" i="0" u="none" strike="noStrike" cap="non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Two datasets, all session</a:t>
            </a:r>
            <a:endParaRPr sz="4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1047750" y="2110680"/>
            <a:ext cx="136207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21154"/>
              </a:lnSpc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2250"/>
              <a:buFont typeface="Arial"/>
              <a:buNone/>
            </a:pPr>
            <a:r>
              <a:rPr lang="en-US" sz="2250" b="0" i="0" u="none" strike="noStrike" cap="non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Section 1 of the notebook builds both in code and saves them as CSVs — no downloads needed.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1047750" y="2834580"/>
            <a:ext cx="7924800" cy="5699820"/>
          </a:xfrm>
          <a:prstGeom prst="roundRect">
            <a:avLst>
              <a:gd name="adj" fmla="val 3676"/>
            </a:avLst>
          </a:prstGeom>
          <a:solidFill>
            <a:srgbClr val="F4F7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6"/>
          <p:cNvSpPr/>
          <p:nvPr/>
        </p:nvSpPr>
        <p:spPr>
          <a:xfrm>
            <a:off x="1428750" y="3158430"/>
            <a:ext cx="7879080" cy="29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Courier New"/>
              <a:buNone/>
            </a:pPr>
            <a:r>
              <a:rPr lang="en-US" sz="1800" b="1" i="0" u="none" strike="noStrike" cap="none">
                <a:solidFill>
                  <a:srgbClr val="1F9D57"/>
                </a:solidFill>
                <a:latin typeface="Courier New"/>
                <a:ea typeface="Courier New"/>
                <a:cs typeface="Courier New"/>
                <a:sym typeface="Courier New"/>
              </a:rPr>
              <a:t>state_development.csv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1428750" y="3514031"/>
            <a:ext cx="7879080" cy="311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875"/>
              <a:buFont typeface="Arial"/>
              <a:buNone/>
            </a:pPr>
            <a:r>
              <a:rPr lang="en-US" sz="1875" b="1" i="0" u="none" strike="noStrike" cap="non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13 states · development indicators</a:t>
            </a:r>
            <a:endParaRPr sz="18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1428750" y="3844230"/>
            <a:ext cx="7377684" cy="645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25921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650"/>
              <a:buFont typeface="Arial"/>
              <a:buNone/>
            </a:pPr>
            <a:r>
              <a:rPr lang="en-US" sz="1650" b="0" i="0" u="none" strike="noStrike" cap="non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Literacy rate, forest cover, renewable energy (MW), population density, rainfall.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1428750" y="7214394"/>
            <a:ext cx="7162800" cy="996156"/>
          </a:xfrm>
          <a:prstGeom prst="roundRect">
            <a:avLst>
              <a:gd name="adj" fmla="val 13386"/>
            </a:avLst>
          </a:prstGeom>
          <a:solidFill>
            <a:srgbClr val="0C2E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6"/>
          <p:cNvSpPr/>
          <p:nvPr/>
        </p:nvSpPr>
        <p:spPr>
          <a:xfrm>
            <a:off x="1676400" y="7404894"/>
            <a:ext cx="6882384" cy="653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46818"/>
              </a:lnSpc>
              <a:spcBef>
                <a:spcPts val="0"/>
              </a:spcBef>
              <a:spcAft>
                <a:spcPts val="0"/>
              </a:spcAft>
              <a:buClr>
                <a:srgbClr val="E8F0E9"/>
              </a:buClr>
              <a:buSzPts val="1425"/>
              <a:buFont typeface="Courier New"/>
              <a:buNone/>
            </a:pPr>
            <a:r>
              <a:rPr lang="en-US" sz="1425" b="0" i="0" u="none" strike="noStrike" cap="non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states = pd.</a:t>
            </a:r>
            <a:r>
              <a:rPr lang="en-US" sz="1425" b="0" i="0" u="none" strike="noStrike" cap="none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read_csv</a:t>
            </a:r>
            <a:r>
              <a:rPr lang="en-US" sz="1425" b="0" i="0" u="none" strike="noStrike" cap="non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425" b="0" i="0" u="none" strike="noStrike" cap="non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"state_development.csv" </a:t>
            </a:r>
            <a:r>
              <a:rPr lang="en-US" sz="1425" b="0" i="0" u="none" strike="noStrike" cap="non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endParaRPr sz="1425" b="0" i="0" u="none" strike="noStrike" cap="none">
              <a:solidFill>
                <a:srgbClr val="E8F0E9"/>
              </a:solidFill>
              <a:highlight>
                <a:srgbClr val="0C2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46818"/>
              </a:lnSpc>
              <a:spcBef>
                <a:spcPts val="0"/>
              </a:spcBef>
              <a:spcAft>
                <a:spcPts val="0"/>
              </a:spcAft>
              <a:buClr>
                <a:srgbClr val="E8F0E9"/>
              </a:buClr>
              <a:buSzPts val="1425"/>
              <a:buFont typeface="Courier New"/>
              <a:buNone/>
            </a:pPr>
            <a:r>
              <a:rPr lang="en-US" sz="1425" b="0" i="0" u="none" strike="noStrike" cap="non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states.shape </a:t>
            </a:r>
            <a:r>
              <a:rPr lang="en-US" sz="1425" b="0" i="0" u="none" strike="noStrike" cap="none">
                <a:solidFill>
                  <a:srgbClr val="9AA79F"/>
                </a:solidFill>
                <a:latin typeface="Courier New"/>
                <a:ea typeface="Courier New"/>
                <a:cs typeface="Courier New"/>
                <a:sym typeface="Courier New"/>
              </a:rPr>
              <a:t># (13, 6)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9315450" y="2834580"/>
            <a:ext cx="7924800" cy="5699820"/>
          </a:xfrm>
          <a:prstGeom prst="roundRect">
            <a:avLst>
              <a:gd name="adj" fmla="val 3676"/>
            </a:avLst>
          </a:prstGeom>
          <a:solidFill>
            <a:srgbClr val="F4F7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6"/>
          <p:cNvSpPr/>
          <p:nvPr/>
        </p:nvSpPr>
        <p:spPr>
          <a:xfrm>
            <a:off x="9696450" y="3158430"/>
            <a:ext cx="7879080" cy="29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Courier New"/>
              <a:buNone/>
            </a:pPr>
            <a:r>
              <a:rPr lang="en-US" sz="1800" b="1" i="0" u="none" strike="noStrike" cap="none">
                <a:solidFill>
                  <a:srgbClr val="1F9D57"/>
                </a:solidFill>
                <a:latin typeface="Courier New"/>
                <a:ea typeface="Courier New"/>
                <a:cs typeface="Courier New"/>
                <a:sym typeface="Courier New"/>
              </a:rPr>
              <a:t>district_healthcare.csv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9696450" y="3514031"/>
            <a:ext cx="7879080" cy="311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875"/>
              <a:buFont typeface="Arial"/>
              <a:buNone/>
            </a:pPr>
            <a:r>
              <a:rPr lang="en-US" sz="1875" b="1" i="0" u="none" strike="noStrike" cap="non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15 districts · service delivery</a:t>
            </a:r>
            <a:endParaRPr sz="18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9696450" y="3844230"/>
            <a:ext cx="7377684" cy="645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25921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650"/>
              <a:buFont typeface="Arial"/>
              <a:buNone/>
            </a:pPr>
            <a:r>
              <a:rPr lang="en-US" sz="1650" b="0" i="0" u="none" strike="noStrike" cap="non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Hospitals, PHCs, doctors, population, literacy rate — with a State column to group by.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9696450" y="7214394"/>
            <a:ext cx="7162800" cy="996156"/>
          </a:xfrm>
          <a:prstGeom prst="roundRect">
            <a:avLst>
              <a:gd name="adj" fmla="val 13386"/>
            </a:avLst>
          </a:prstGeom>
          <a:solidFill>
            <a:srgbClr val="0C2E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6"/>
          <p:cNvSpPr/>
          <p:nvPr/>
        </p:nvSpPr>
        <p:spPr>
          <a:xfrm>
            <a:off x="9944100" y="7404894"/>
            <a:ext cx="6882384" cy="653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46818"/>
              </a:lnSpc>
              <a:spcBef>
                <a:spcPts val="0"/>
              </a:spcBef>
              <a:spcAft>
                <a:spcPts val="0"/>
              </a:spcAft>
              <a:buClr>
                <a:srgbClr val="E8F0E9"/>
              </a:buClr>
              <a:buSzPts val="1425"/>
              <a:buFont typeface="Courier New"/>
              <a:buNone/>
            </a:pPr>
            <a:r>
              <a:rPr lang="en-US" sz="1425" b="0" i="0" u="none" strike="noStrike" cap="non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health = pd.</a:t>
            </a:r>
            <a:r>
              <a:rPr lang="en-US" sz="1425" b="0" i="0" u="none" strike="noStrike" cap="none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read_csv</a:t>
            </a:r>
            <a:r>
              <a:rPr lang="en-US" sz="1425" b="0" i="0" u="none" strike="noStrike" cap="non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425" b="0" i="0" u="none" strike="noStrike" cap="non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"district_healthcare.csv" </a:t>
            </a:r>
            <a:r>
              <a:rPr lang="en-US" sz="1425" b="0" i="0" u="none" strike="noStrike" cap="non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endParaRPr sz="1425" b="0" i="0" u="none" strike="noStrike" cap="none">
              <a:solidFill>
                <a:srgbClr val="E8F0E9"/>
              </a:solidFill>
              <a:highlight>
                <a:srgbClr val="0C2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46818"/>
              </a:lnSpc>
              <a:spcBef>
                <a:spcPts val="0"/>
              </a:spcBef>
              <a:spcAft>
                <a:spcPts val="0"/>
              </a:spcAft>
              <a:buClr>
                <a:srgbClr val="E8F0E9"/>
              </a:buClr>
              <a:buSzPts val="1425"/>
              <a:buFont typeface="Courier New"/>
              <a:buNone/>
            </a:pPr>
            <a:r>
              <a:rPr lang="en-US" sz="1425" b="0" i="0" u="none" strike="noStrike" cap="non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health.shape </a:t>
            </a:r>
            <a:r>
              <a:rPr lang="en-US" sz="1425" b="0" i="0" u="none" strike="noStrike" cap="none">
                <a:solidFill>
                  <a:srgbClr val="9AA79F"/>
                </a:solidFill>
                <a:latin typeface="Courier New"/>
                <a:ea typeface="Courier New"/>
                <a:cs typeface="Courier New"/>
                <a:sym typeface="Courier New"/>
              </a:rPr>
              <a:t># (15, 7)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1047750" y="8763000"/>
            <a:ext cx="16192500" cy="666750"/>
          </a:xfrm>
          <a:prstGeom prst="roundRect">
            <a:avLst>
              <a:gd name="adj" fmla="val 22857"/>
            </a:avLst>
          </a:prstGeom>
          <a:solidFill>
            <a:srgbClr val="FBEF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6"/>
          <p:cNvSpPr/>
          <p:nvPr/>
        </p:nvSpPr>
        <p:spPr>
          <a:xfrm>
            <a:off x="1047750" y="8763000"/>
            <a:ext cx="57150" cy="666750"/>
          </a:xfrm>
          <a:prstGeom prst="rect">
            <a:avLst/>
          </a:prstGeom>
          <a:solidFill>
            <a:srgbClr val="CE4A3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6"/>
          <p:cNvSpPr/>
          <p:nvPr/>
        </p:nvSpPr>
        <p:spPr>
          <a:xfrm>
            <a:off x="1428750" y="8953500"/>
            <a:ext cx="159734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1725"/>
              <a:buFont typeface="Arial"/>
              <a:buNone/>
            </a:pPr>
            <a:r>
              <a:rPr lang="en-US" sz="1725" b="0" i="0" u="none" strike="noStrike" cap="none">
                <a:solidFill>
                  <a:srgbClr val="47564E"/>
                </a:solidFill>
                <a:highlight>
                  <a:srgbClr val="FBEFE6"/>
                </a:highlight>
                <a:latin typeface="Arial"/>
                <a:ea typeface="Arial"/>
                <a:cs typeface="Arial"/>
                <a:sym typeface="Arial"/>
              </a:rPr>
              <a:t>The datasets are </a:t>
            </a:r>
            <a:r>
              <a:rPr lang="en-US" sz="1725" b="1" i="0" u="none" strike="noStrike" cap="non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fictional </a:t>
            </a:r>
            <a:r>
              <a:rPr lang="en-US" sz="1725" b="0" i="0" u="none" strike="noStrike" cap="none">
                <a:solidFill>
                  <a:srgbClr val="47564E"/>
                </a:solidFill>
                <a:highlight>
                  <a:srgbClr val="FBEFE6"/>
                </a:highlight>
                <a:latin typeface="Arial"/>
                <a:ea typeface="Arial"/>
                <a:cs typeface="Arial"/>
                <a:sym typeface="Arial"/>
              </a:rPr>
              <a:t>but modelled on real government reporting formats — for learning only, never quote them as statistics.</a:t>
            </a:r>
            <a:endParaRPr sz="17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5" name="Google Shape;155;p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7750" y="9658350"/>
            <a:ext cx="40292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6"/>
          <p:cNvSpPr/>
          <p:nvPr/>
        </p:nvSpPr>
        <p:spPr>
          <a:xfrm>
            <a:off x="1574502" y="9674225"/>
            <a:ext cx="4108763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lang="en-US" sz="1425" b="0" i="0" u="none" strike="noStrike" cap="non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14308336" y="9674225"/>
            <a:ext cx="2541091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lang="en-US" sz="1425" b="0" i="0" u="none" strike="noStrike" cap="non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17001827" y="9674225"/>
            <a:ext cx="314623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lang="en-US" sz="1425" b="0" i="0" u="none" strike="noStrike" cap="non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"/>
          <p:cNvSpPr/>
          <p:nvPr/>
        </p:nvSpPr>
        <p:spPr>
          <a:xfrm>
            <a:off x="1047750" y="914400"/>
            <a:ext cx="17811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CHART CHOICE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1047750" y="1390650"/>
            <a:ext cx="17811750" cy="643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92621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4500"/>
              <a:buFont typeface="Arial"/>
              <a:buNone/>
            </a:pPr>
            <a:r>
              <a:rPr lang="en-US" sz="4500" b="1" i="0" u="none" strike="noStrike" cap="non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The question picks the chart</a:t>
            </a:r>
            <a:endParaRPr sz="4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1047750" y="2110680"/>
            <a:ext cx="136207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21154"/>
              </a:lnSpc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2250"/>
              <a:buFont typeface="Arial"/>
              <a:buNone/>
            </a:pPr>
            <a:r>
              <a:rPr lang="en-US" sz="2250" b="0" i="0" u="none" strike="noStrike" cap="non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Ask what you want the viewer to </a:t>
            </a:r>
            <a:r>
              <a:rPr lang="en-US" sz="2250" b="1" i="0" u="none" strike="noStrike" cap="non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see </a:t>
            </a:r>
            <a:r>
              <a:rPr lang="en-US" sz="2250" b="0" i="0" u="none" strike="noStrike" cap="non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— the chart type follows from the answer.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1047750" y="2815530"/>
            <a:ext cx="3905250" cy="3211810"/>
          </a:xfrm>
          <a:prstGeom prst="roundRect">
            <a:avLst>
              <a:gd name="adj" fmla="val 5338"/>
            </a:avLst>
          </a:prstGeom>
          <a:solidFill>
            <a:srgbClr val="F4F7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7"/>
          <p:cNvSpPr/>
          <p:nvPr/>
        </p:nvSpPr>
        <p:spPr>
          <a:xfrm>
            <a:off x="1314450" y="3063180"/>
            <a:ext cx="3709035" cy="311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75"/>
              <a:buFont typeface="Arial"/>
              <a:buNone/>
            </a:pPr>
            <a:r>
              <a:rPr lang="en-US" sz="1875" b="1" i="0" u="none" strike="noStrike" cap="non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Bar</a:t>
            </a:r>
            <a:endParaRPr sz="18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1314450" y="3412431"/>
            <a:ext cx="3709035" cy="3080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14932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575"/>
              <a:buFont typeface="Arial"/>
              <a:buNone/>
            </a:pPr>
            <a:r>
              <a:rPr lang="en-US" sz="1575" b="0" i="0" u="none" strike="noStrike" cap="non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Compare a value across categories.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1314450" y="5535414"/>
            <a:ext cx="3709035" cy="282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16591"/>
              </a:lnSpc>
              <a:spcBef>
                <a:spcPts val="0"/>
              </a:spcBef>
              <a:spcAft>
                <a:spcPts val="0"/>
              </a:spcAft>
              <a:buClr>
                <a:srgbClr val="CE4A32"/>
              </a:buClr>
              <a:buSzPts val="1425"/>
              <a:buFont typeface="Arial"/>
              <a:buNone/>
            </a:pPr>
            <a:r>
              <a:rPr lang="en-US" sz="1425" b="0" i="0" u="none" strike="noStrike" cap="none">
                <a:solidFill>
                  <a:srgbClr val="CE4A32"/>
                </a:solidFill>
                <a:latin typeface="Arial"/>
                <a:ea typeface="Arial"/>
                <a:cs typeface="Arial"/>
                <a:sym typeface="Arial"/>
              </a:rPr>
              <a:t>Not for distributions.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5143500" y="2815530"/>
            <a:ext cx="3905250" cy="3211810"/>
          </a:xfrm>
          <a:prstGeom prst="roundRect">
            <a:avLst>
              <a:gd name="adj" fmla="val 5338"/>
            </a:avLst>
          </a:prstGeom>
          <a:solidFill>
            <a:srgbClr val="F4F7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5410200" y="3063180"/>
            <a:ext cx="3709035" cy="311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75"/>
              <a:buFont typeface="Arial"/>
              <a:buNone/>
            </a:pPr>
            <a:r>
              <a:rPr lang="en-US" sz="1875" b="1" i="0" u="none" strike="noStrike" cap="non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Horizontal bar</a:t>
            </a:r>
            <a:endParaRPr sz="18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5410200" y="3412431"/>
            <a:ext cx="3709035" cy="3080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14932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575"/>
              <a:buFont typeface="Arial"/>
              <a:buNone/>
            </a:pPr>
            <a:r>
              <a:rPr lang="en-US" sz="1575" b="0" i="0" u="none" strike="noStrike" cap="non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Same job, long category names.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5410200" y="5535414"/>
            <a:ext cx="3709035" cy="282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16591"/>
              </a:lnSpc>
              <a:spcBef>
                <a:spcPts val="0"/>
              </a:spcBef>
              <a:spcAft>
                <a:spcPts val="0"/>
              </a:spcAft>
              <a:buClr>
                <a:srgbClr val="CE4A32"/>
              </a:buClr>
              <a:buSzPts val="1425"/>
              <a:buFont typeface="Arial"/>
              <a:buNone/>
            </a:pPr>
            <a:r>
              <a:rPr lang="en-US" sz="1425" b="0" i="0" u="none" strike="noStrike" cap="none">
                <a:solidFill>
                  <a:srgbClr val="CE4A32"/>
                </a:solidFill>
                <a:latin typeface="Arial"/>
                <a:ea typeface="Arial"/>
                <a:cs typeface="Arial"/>
                <a:sym typeface="Arial"/>
              </a:rPr>
              <a:t>Not for time.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9239250" y="2815530"/>
            <a:ext cx="3905250" cy="3211810"/>
          </a:xfrm>
          <a:prstGeom prst="roundRect">
            <a:avLst>
              <a:gd name="adj" fmla="val 5338"/>
            </a:avLst>
          </a:prstGeom>
          <a:solidFill>
            <a:srgbClr val="F4F7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7"/>
          <p:cNvSpPr/>
          <p:nvPr/>
        </p:nvSpPr>
        <p:spPr>
          <a:xfrm>
            <a:off x="9505950" y="3063180"/>
            <a:ext cx="3709035" cy="311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75"/>
              <a:buFont typeface="Arial"/>
              <a:buNone/>
            </a:pPr>
            <a:r>
              <a:rPr lang="en-US" sz="1875" b="1" i="0" u="none" strike="noStrike" cap="non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Line</a:t>
            </a:r>
            <a:endParaRPr sz="18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9505950" y="3412431"/>
            <a:ext cx="3709035" cy="3080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14932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575"/>
              <a:buFont typeface="Arial"/>
              <a:buNone/>
            </a:pPr>
            <a:r>
              <a:rPr lang="en-US" sz="1575" b="0" i="0" u="none" strike="noStrike" cap="non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A sequence or trend in order.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9505950" y="5535414"/>
            <a:ext cx="3709035" cy="282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16591"/>
              </a:lnSpc>
              <a:spcBef>
                <a:spcPts val="0"/>
              </a:spcBef>
              <a:spcAft>
                <a:spcPts val="0"/>
              </a:spcAft>
              <a:buClr>
                <a:srgbClr val="CE4A32"/>
              </a:buClr>
              <a:buSzPts val="1425"/>
              <a:buFont typeface="Arial"/>
              <a:buNone/>
            </a:pPr>
            <a:r>
              <a:rPr lang="en-US" sz="1425" b="0" i="0" u="none" strike="noStrike" cap="none">
                <a:solidFill>
                  <a:srgbClr val="CE4A32"/>
                </a:solidFill>
                <a:latin typeface="Arial"/>
                <a:ea typeface="Arial"/>
                <a:cs typeface="Arial"/>
                <a:sym typeface="Arial"/>
              </a:rPr>
              <a:t>Not for unordered categories.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13335000" y="2815530"/>
            <a:ext cx="3905250" cy="3211810"/>
          </a:xfrm>
          <a:prstGeom prst="roundRect">
            <a:avLst>
              <a:gd name="adj" fmla="val 5338"/>
            </a:avLst>
          </a:prstGeom>
          <a:solidFill>
            <a:srgbClr val="F4F7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7"/>
          <p:cNvSpPr/>
          <p:nvPr/>
        </p:nvSpPr>
        <p:spPr>
          <a:xfrm>
            <a:off x="13601700" y="3063180"/>
            <a:ext cx="3709035" cy="311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75"/>
              <a:buFont typeface="Arial"/>
              <a:buNone/>
            </a:pPr>
            <a:r>
              <a:rPr lang="en-US" sz="1875" b="1" i="0" u="none" strike="noStrike" cap="non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Scatter</a:t>
            </a:r>
            <a:endParaRPr sz="18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13601700" y="3412431"/>
            <a:ext cx="3709035" cy="3080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14932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575"/>
              <a:buFont typeface="Arial"/>
              <a:buNone/>
            </a:pPr>
            <a:r>
              <a:rPr lang="en-US" sz="1575" b="0" i="0" u="none" strike="noStrike" cap="non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Relationship between two numbers.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13601700" y="5535414"/>
            <a:ext cx="3709035" cy="282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16591"/>
              </a:lnSpc>
              <a:spcBef>
                <a:spcPts val="0"/>
              </a:spcBef>
              <a:spcAft>
                <a:spcPts val="0"/>
              </a:spcAft>
              <a:buClr>
                <a:srgbClr val="CE4A32"/>
              </a:buClr>
              <a:buSzPts val="1425"/>
              <a:buFont typeface="Arial"/>
              <a:buNone/>
            </a:pPr>
            <a:r>
              <a:rPr lang="en-US" sz="1425" b="0" i="0" u="none" strike="noStrike" cap="none">
                <a:solidFill>
                  <a:srgbClr val="CE4A32"/>
                </a:solidFill>
                <a:latin typeface="Arial"/>
                <a:ea typeface="Arial"/>
                <a:cs typeface="Arial"/>
                <a:sym typeface="Arial"/>
              </a:rPr>
              <a:t>Not proof of cause.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1047750" y="6217841"/>
            <a:ext cx="3905250" cy="3211909"/>
          </a:xfrm>
          <a:prstGeom prst="roundRect">
            <a:avLst>
              <a:gd name="adj" fmla="val 5338"/>
            </a:avLst>
          </a:prstGeom>
          <a:solidFill>
            <a:srgbClr val="F4F7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7"/>
          <p:cNvSpPr/>
          <p:nvPr/>
        </p:nvSpPr>
        <p:spPr>
          <a:xfrm>
            <a:off x="1314450" y="6465491"/>
            <a:ext cx="3709035" cy="311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75"/>
              <a:buFont typeface="Arial"/>
              <a:buNone/>
            </a:pPr>
            <a:r>
              <a:rPr lang="en-US" sz="1875" b="1" i="0" u="none" strike="noStrike" cap="non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Histogram</a:t>
            </a:r>
            <a:endParaRPr sz="18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1314450" y="6814741"/>
            <a:ext cx="3709035" cy="3080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14932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575"/>
              <a:buFont typeface="Arial"/>
              <a:buNone/>
            </a:pPr>
            <a:r>
              <a:rPr lang="en-US" sz="1575" b="0" i="0" u="none" strike="noStrike" cap="non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How one number is distributed.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1314450" y="8937824"/>
            <a:ext cx="3709035" cy="282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16591"/>
              </a:lnSpc>
              <a:spcBef>
                <a:spcPts val="0"/>
              </a:spcBef>
              <a:spcAft>
                <a:spcPts val="0"/>
              </a:spcAft>
              <a:buClr>
                <a:srgbClr val="CE4A32"/>
              </a:buClr>
              <a:buSzPts val="1425"/>
              <a:buFont typeface="Arial"/>
              <a:buNone/>
            </a:pPr>
            <a:r>
              <a:rPr lang="en-US" sz="1425" b="0" i="0" u="none" strike="noStrike" cap="none">
                <a:solidFill>
                  <a:srgbClr val="CE4A32"/>
                </a:solidFill>
                <a:latin typeface="Arial"/>
                <a:ea typeface="Arial"/>
                <a:cs typeface="Arial"/>
                <a:sym typeface="Arial"/>
              </a:rPr>
              <a:t>Not for categories.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5143500" y="6217841"/>
            <a:ext cx="3905250" cy="3211909"/>
          </a:xfrm>
          <a:prstGeom prst="roundRect">
            <a:avLst>
              <a:gd name="adj" fmla="val 5338"/>
            </a:avLst>
          </a:prstGeom>
          <a:solidFill>
            <a:srgbClr val="F4F7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7"/>
          <p:cNvSpPr/>
          <p:nvPr/>
        </p:nvSpPr>
        <p:spPr>
          <a:xfrm>
            <a:off x="5410200" y="6465491"/>
            <a:ext cx="3709035" cy="311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75"/>
              <a:buFont typeface="Arial"/>
              <a:buNone/>
            </a:pPr>
            <a:r>
              <a:rPr lang="en-US" sz="1875" b="1" i="0" u="none" strike="noStrike" cap="non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Box plot</a:t>
            </a:r>
            <a:endParaRPr sz="18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5410200" y="6814741"/>
            <a:ext cx="3709035" cy="3080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14932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575"/>
              <a:buFont typeface="Arial"/>
              <a:buNone/>
            </a:pPr>
            <a:r>
              <a:rPr lang="en-US" sz="1575" b="0" i="0" u="none" strike="noStrike" cap="non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Median, spread and outliers.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5410200" y="8937824"/>
            <a:ext cx="3709035" cy="282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16591"/>
              </a:lnSpc>
              <a:spcBef>
                <a:spcPts val="0"/>
              </a:spcBef>
              <a:spcAft>
                <a:spcPts val="0"/>
              </a:spcAft>
              <a:buClr>
                <a:srgbClr val="CE4A32"/>
              </a:buClr>
              <a:buSzPts val="1425"/>
              <a:buFont typeface="Arial"/>
              <a:buNone/>
            </a:pPr>
            <a:r>
              <a:rPr lang="en-US" sz="1425" b="0" i="0" u="none" strike="noStrike" cap="none">
                <a:solidFill>
                  <a:srgbClr val="CE4A32"/>
                </a:solidFill>
                <a:latin typeface="Arial"/>
                <a:ea typeface="Arial"/>
                <a:cs typeface="Arial"/>
                <a:sym typeface="Arial"/>
              </a:rPr>
              <a:t>Not for a lay audience alone.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9239250" y="6217841"/>
            <a:ext cx="3905250" cy="3211909"/>
          </a:xfrm>
          <a:prstGeom prst="roundRect">
            <a:avLst>
              <a:gd name="adj" fmla="val 5338"/>
            </a:avLst>
          </a:prstGeom>
          <a:solidFill>
            <a:srgbClr val="FBEF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7"/>
          <p:cNvSpPr/>
          <p:nvPr/>
        </p:nvSpPr>
        <p:spPr>
          <a:xfrm>
            <a:off x="9239250" y="6217841"/>
            <a:ext cx="57150" cy="3211909"/>
          </a:xfrm>
          <a:prstGeom prst="rect">
            <a:avLst/>
          </a:prstGeom>
          <a:solidFill>
            <a:srgbClr val="CE4A3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7"/>
          <p:cNvSpPr/>
          <p:nvPr/>
        </p:nvSpPr>
        <p:spPr>
          <a:xfrm>
            <a:off x="9563100" y="6465491"/>
            <a:ext cx="3646170" cy="311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875"/>
              <a:buFont typeface="Arial"/>
              <a:buNone/>
            </a:pPr>
            <a:r>
              <a:rPr lang="en-US" sz="1875" b="1" i="0" u="none" strike="noStrike" cap="non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Pie</a:t>
            </a:r>
            <a:endParaRPr sz="18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9563100" y="6814741"/>
            <a:ext cx="3646170" cy="3080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14932"/>
              </a:lnSpc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1575"/>
              <a:buFont typeface="Arial"/>
              <a:buNone/>
            </a:pPr>
            <a:r>
              <a:rPr lang="en-US" sz="1575" b="0" i="0" u="none" strike="noStrike" cap="non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Parts of one whole — briefly.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9563100" y="8937824"/>
            <a:ext cx="3646170" cy="282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16591"/>
              </a:lnSpc>
              <a:spcBef>
                <a:spcPts val="0"/>
              </a:spcBef>
              <a:spcAft>
                <a:spcPts val="0"/>
              </a:spcAft>
              <a:buClr>
                <a:srgbClr val="CE4A32"/>
              </a:buClr>
              <a:buSzPts val="1425"/>
              <a:buFont typeface="Arial"/>
              <a:buNone/>
            </a:pPr>
            <a:r>
              <a:rPr lang="en-US" sz="1425" b="0" i="0" u="none" strike="noStrike" cap="none">
                <a:solidFill>
                  <a:srgbClr val="CE4A32"/>
                </a:solidFill>
                <a:latin typeface="Arial"/>
                <a:ea typeface="Arial"/>
                <a:cs typeface="Arial"/>
                <a:sym typeface="Arial"/>
              </a:rPr>
              <a:t>Never with 10 slices.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13335000" y="6217841"/>
            <a:ext cx="3905250" cy="3211909"/>
          </a:xfrm>
          <a:prstGeom prst="roundRect">
            <a:avLst>
              <a:gd name="adj" fmla="val 5338"/>
            </a:avLst>
          </a:prstGeom>
          <a:solidFill>
            <a:srgbClr val="0C2E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7"/>
          <p:cNvSpPr/>
          <p:nvPr/>
        </p:nvSpPr>
        <p:spPr>
          <a:xfrm>
            <a:off x="13601700" y="6465491"/>
            <a:ext cx="3709035" cy="311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875"/>
              <a:buFont typeface="Arial"/>
              <a:buNone/>
            </a:pPr>
            <a:r>
              <a:rPr lang="en-US" sz="1875" b="1" i="0" u="none" strike="noStrike" cap="none">
                <a:solidFill>
                  <a:srgbClr val="7FD6A0"/>
                </a:solidFill>
                <a:latin typeface="Arial"/>
                <a:ea typeface="Arial"/>
                <a:cs typeface="Arial"/>
                <a:sym typeface="Arial"/>
              </a:rPr>
              <a:t>Heatmap</a:t>
            </a:r>
            <a:endParaRPr sz="18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13601700" y="6814741"/>
            <a:ext cx="3709035" cy="3080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1493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</a:pPr>
            <a:r>
              <a:rPr lang="en-US" sz="1575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Many-by-many — e.g. correlations.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13601700" y="8937824"/>
            <a:ext cx="3709035" cy="282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16591"/>
              </a:lnSpc>
              <a:spcBef>
                <a:spcPts val="0"/>
              </a:spcBef>
              <a:spcAft>
                <a:spcPts val="0"/>
              </a:spcAft>
              <a:buClr>
                <a:srgbClr val="F0B060"/>
              </a:buClr>
              <a:buSzPts val="1425"/>
              <a:buFont typeface="Arial"/>
              <a:buNone/>
            </a:pPr>
            <a:r>
              <a:rPr lang="en-US" sz="1425" b="0" i="0" u="none" strike="noStrike" cap="none">
                <a:solidFill>
                  <a:srgbClr val="F0B060"/>
                </a:solidFill>
                <a:latin typeface="Arial"/>
                <a:ea typeface="Arial"/>
                <a:cs typeface="Arial"/>
                <a:sym typeface="Arial"/>
              </a:rPr>
              <a:t>Needs a legend.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0" name="Google Shape;200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7750" y="9658350"/>
            <a:ext cx="40292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7"/>
          <p:cNvSpPr/>
          <p:nvPr/>
        </p:nvSpPr>
        <p:spPr>
          <a:xfrm>
            <a:off x="1574502" y="9674225"/>
            <a:ext cx="4108763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lang="en-US" sz="1425" b="0" i="0" u="none" strike="noStrike" cap="non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14328081" y="9674225"/>
            <a:ext cx="2541091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lang="en-US" sz="1425" b="0" i="0" u="none" strike="noStrike" cap="non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17021573" y="9674225"/>
            <a:ext cx="294878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lang="en-US" sz="1425" b="0" i="0" u="none" strike="noStrike" cap="non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8"/>
          <p:cNvSpPr/>
          <p:nvPr/>
        </p:nvSpPr>
        <p:spPr>
          <a:xfrm>
            <a:off x="1047750" y="914400"/>
            <a:ext cx="4501455" cy="425450"/>
          </a:xfrm>
          <a:prstGeom prst="roundRect">
            <a:avLst>
              <a:gd name="adj" fmla="val 50000"/>
            </a:avLst>
          </a:prstGeom>
          <a:solidFill>
            <a:srgbClr val="0C2E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8"/>
          <p:cNvSpPr/>
          <p:nvPr/>
        </p:nvSpPr>
        <p:spPr>
          <a:xfrm>
            <a:off x="1257300" y="1009650"/>
            <a:ext cx="4217399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</a:pPr>
            <a:r>
              <a:rPr lang="en-US" sz="1575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WHICH CHART WOULD YOU CHOOSE?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1047750" y="1587500"/>
            <a:ext cx="17811750" cy="623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92220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4350"/>
              <a:buFont typeface="Arial"/>
              <a:buNone/>
            </a:pPr>
            <a:r>
              <a:rPr lang="en-US" sz="4350" b="1" i="0" u="none" strike="noStrike" cap="non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Commit, then reveal</a:t>
            </a:r>
            <a:endParaRPr sz="4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1047750" y="2325489"/>
            <a:ext cx="13096875" cy="412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2250"/>
              <a:buFont typeface="Arial"/>
              <a:buNone/>
            </a:pPr>
            <a:r>
              <a:rPr lang="en-US" sz="2250" b="0" i="0" u="none" strike="noStrike" cap="non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Four questions from today's datasets. Say your chart out loud before the answer appears.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1047750" y="3023989"/>
            <a:ext cx="7991475" cy="3098106"/>
          </a:xfrm>
          <a:prstGeom prst="roundRect">
            <a:avLst>
              <a:gd name="adj" fmla="val 5534"/>
            </a:avLst>
          </a:prstGeom>
          <a:solidFill>
            <a:srgbClr val="F4F7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8"/>
          <p:cNvSpPr/>
          <p:nvPr/>
        </p:nvSpPr>
        <p:spPr>
          <a:xfrm>
            <a:off x="1390650" y="4236442"/>
            <a:ext cx="8036243" cy="3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950"/>
              <a:buFont typeface="Arial"/>
              <a:buNone/>
            </a:pPr>
            <a:r>
              <a:rPr lang="en-US" sz="1950" b="1" i="0" u="none" strike="noStrike" cap="non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1. Literacy rate for each of 13 states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1390650" y="4630142"/>
            <a:ext cx="8036243" cy="3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650"/>
              <a:buFont typeface="Courier New"/>
              <a:buNone/>
            </a:pPr>
            <a:r>
              <a:rPr lang="en-US" sz="1650" b="0" i="0" u="none" strike="noStrike" cap="none">
                <a:solidFill>
                  <a:srgbClr val="1F9D57"/>
                </a:solidFill>
                <a:latin typeface="Courier New"/>
                <a:ea typeface="Courier New"/>
                <a:cs typeface="Courier New"/>
                <a:sym typeface="Courier New"/>
              </a:rPr>
              <a:t>→ bar chart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9248775" y="3023989"/>
            <a:ext cx="7991475" cy="3098106"/>
          </a:xfrm>
          <a:prstGeom prst="roundRect">
            <a:avLst>
              <a:gd name="adj" fmla="val 5534"/>
            </a:avLst>
          </a:prstGeom>
          <a:solidFill>
            <a:srgbClr val="F4F7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8"/>
          <p:cNvSpPr/>
          <p:nvPr/>
        </p:nvSpPr>
        <p:spPr>
          <a:xfrm>
            <a:off x="9591675" y="4236442"/>
            <a:ext cx="8036243" cy="3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950"/>
              <a:buFont typeface="Arial"/>
              <a:buNone/>
            </a:pPr>
            <a:r>
              <a:rPr lang="en-US" sz="1950" b="1" i="0" u="none" strike="noStrike" cap="non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2. Does more rainfall mean more forest cover?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9591675" y="4630142"/>
            <a:ext cx="8036243" cy="3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650"/>
              <a:buFont typeface="Courier New"/>
              <a:buNone/>
            </a:pPr>
            <a:r>
              <a:rPr lang="en-US" sz="1650" b="0" i="0" u="none" strike="noStrike" cap="none">
                <a:solidFill>
                  <a:srgbClr val="1F9D57"/>
                </a:solidFill>
                <a:latin typeface="Courier New"/>
                <a:ea typeface="Courier New"/>
                <a:cs typeface="Courier New"/>
                <a:sym typeface="Courier New"/>
              </a:rPr>
              <a:t>→ scatter plot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1047750" y="6331645"/>
            <a:ext cx="7991475" cy="3098106"/>
          </a:xfrm>
          <a:prstGeom prst="roundRect">
            <a:avLst>
              <a:gd name="adj" fmla="val 5534"/>
            </a:avLst>
          </a:prstGeom>
          <a:solidFill>
            <a:srgbClr val="F4F7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8"/>
          <p:cNvSpPr/>
          <p:nvPr/>
        </p:nvSpPr>
        <p:spPr>
          <a:xfrm>
            <a:off x="1390650" y="7544098"/>
            <a:ext cx="8036243" cy="3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950"/>
              <a:buFont typeface="Arial"/>
              <a:buNone/>
            </a:pPr>
            <a:r>
              <a:rPr lang="en-US" sz="1950" b="1" i="0" u="none" strike="noStrike" cap="non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3. How spread out are the literacy rates?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1390650" y="7937798"/>
            <a:ext cx="8036243" cy="3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650"/>
              <a:buFont typeface="Courier New"/>
              <a:buNone/>
            </a:pPr>
            <a:r>
              <a:rPr lang="en-US" sz="1650" b="0" i="0" u="none" strike="noStrike" cap="none">
                <a:solidFill>
                  <a:srgbClr val="1F9D57"/>
                </a:solidFill>
                <a:latin typeface="Courier New"/>
                <a:ea typeface="Courier New"/>
                <a:cs typeface="Courier New"/>
                <a:sym typeface="Courier New"/>
              </a:rPr>
              <a:t>→ box plot (or histogram)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9248775" y="6331645"/>
            <a:ext cx="7991475" cy="3098106"/>
          </a:xfrm>
          <a:prstGeom prst="roundRect">
            <a:avLst>
              <a:gd name="adj" fmla="val 5534"/>
            </a:avLst>
          </a:prstGeom>
          <a:solidFill>
            <a:srgbClr val="0C2E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8"/>
          <p:cNvSpPr/>
          <p:nvPr/>
        </p:nvSpPr>
        <p:spPr>
          <a:xfrm>
            <a:off x="9591675" y="7544098"/>
            <a:ext cx="8036243" cy="3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lang="en-US" sz="19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4. Each state's share of all hospitals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9591675" y="7937798"/>
            <a:ext cx="8036243" cy="3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650"/>
              <a:buFont typeface="Courier New"/>
              <a:buNone/>
            </a:pPr>
            <a:r>
              <a:rPr lang="en-US" sz="1650" b="0" i="0" u="none" strike="noStrike" cap="non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→ pie chart — parts of one whole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5" name="Google Shape;225;p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7750" y="9658350"/>
            <a:ext cx="40292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8"/>
          <p:cNvSpPr/>
          <p:nvPr/>
        </p:nvSpPr>
        <p:spPr>
          <a:xfrm>
            <a:off x="1574502" y="9674225"/>
            <a:ext cx="4108763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lang="en-US" sz="1425" b="0" i="0" u="none" strike="noStrike" cap="non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14312008" y="9674225"/>
            <a:ext cx="2541091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lang="en-US" sz="1425" b="0" i="0" u="none" strike="noStrike" cap="non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17005499" y="9674225"/>
            <a:ext cx="310952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lang="en-US" sz="1425" b="0" i="0" u="none" strike="noStrike" cap="non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9"/>
          <p:cNvSpPr/>
          <p:nvPr/>
        </p:nvSpPr>
        <p:spPr>
          <a:xfrm>
            <a:off x="1047750" y="914400"/>
            <a:ext cx="17811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MATPLOTLIB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1047750" y="1390650"/>
            <a:ext cx="17811750" cy="643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92621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4500"/>
              <a:buFont typeface="Arial"/>
              <a:buNone/>
            </a:pPr>
            <a:r>
              <a:rPr lang="en-US" sz="4500" b="1" i="0" u="none" strike="noStrike" cap="non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One rhythm, every chart</a:t>
            </a:r>
            <a:endParaRPr sz="4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1047750" y="2110680"/>
            <a:ext cx="136207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21154"/>
              </a:lnSpc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2250"/>
              <a:buFont typeface="Arial"/>
              <a:buNone/>
            </a:pPr>
            <a:r>
              <a:rPr lang="en-US" sz="2250" b="0" i="0" u="none" strike="noStrike" cap="non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Figure → draw → label → layout → show. Learn it once; only the drawing line changes.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1047750" y="2796480"/>
            <a:ext cx="8457307" cy="6633270"/>
          </a:xfrm>
          <a:prstGeom prst="roundRect">
            <a:avLst>
              <a:gd name="adj" fmla="val 2585"/>
            </a:avLst>
          </a:prstGeom>
          <a:solidFill>
            <a:srgbClr val="0C2E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9"/>
          <p:cNvSpPr/>
          <p:nvPr/>
        </p:nvSpPr>
        <p:spPr>
          <a:xfrm>
            <a:off x="1428750" y="3101280"/>
            <a:ext cx="7949026" cy="6061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54412"/>
              </a:lnSpc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500"/>
              <a:buFont typeface="Courier New"/>
              <a:buNone/>
            </a:pPr>
            <a:r>
              <a:rPr lang="en-US" sz="1500" b="0" i="0" u="none" strike="noStrike" cap="none" dirty="0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lang="en-US" sz="1500" b="0" i="0" u="none" strike="noStrike" cap="none" dirty="0" err="1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matplotlib.pyplot</a:t>
            </a:r>
            <a:r>
              <a:rPr lang="en-US" sz="1500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500" b="0" i="0" u="none" strike="noStrike" cap="none" dirty="0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as </a:t>
            </a:r>
            <a:r>
              <a:rPr lang="en-US" sz="1500" b="0" i="0" u="none" strike="noStrike" cap="none" dirty="0" err="1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plt</a:t>
            </a:r>
            <a:r>
              <a:rPr lang="en-US" sz="1500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500" b="0" i="0" u="none" strike="noStrike" cap="none" dirty="0" err="1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plt.</a:t>
            </a:r>
            <a:r>
              <a:rPr lang="en-US" sz="1500" b="0" i="0" u="none" strike="noStrike" cap="none" dirty="0" err="1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figure</a:t>
            </a:r>
            <a:r>
              <a:rPr lang="en-US" sz="1500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500" b="0" i="0" u="none" strike="noStrike" cap="none" dirty="0" err="1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figsize</a:t>
            </a:r>
            <a:r>
              <a:rPr lang="en-US" sz="1500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=(</a:t>
            </a:r>
            <a:r>
              <a:rPr lang="en-US" sz="1500" b="0" i="0" u="none" strike="noStrike" cap="none" dirty="0">
                <a:solidFill>
                  <a:srgbClr val="F0B060"/>
                </a:solidFill>
                <a:latin typeface="Courier New"/>
                <a:ea typeface="Courier New"/>
                <a:cs typeface="Courier New"/>
                <a:sym typeface="Courier New"/>
              </a:rPr>
              <a:t>9</a:t>
            </a:r>
            <a:r>
              <a:rPr lang="en-US" sz="1500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500" b="0" i="0" u="none" strike="noStrike" cap="none" dirty="0">
                <a:solidFill>
                  <a:srgbClr val="F0B060"/>
                </a:solidFill>
                <a:latin typeface="Courier New"/>
                <a:ea typeface="Courier New"/>
                <a:cs typeface="Courier New"/>
                <a:sym typeface="Courier New"/>
              </a:rPr>
              <a:t>4 </a:t>
            </a:r>
            <a:r>
              <a:rPr lang="en-US" sz="1500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)) </a:t>
            </a:r>
            <a:r>
              <a:rPr lang="en-US" sz="1500" b="0" i="0" u="none" strike="noStrike" cap="none" dirty="0" err="1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plt.</a:t>
            </a:r>
            <a:r>
              <a:rPr lang="en-US" sz="1500" b="0" i="0" u="none" strike="noStrike" cap="none" dirty="0" err="1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plot</a:t>
            </a:r>
            <a:r>
              <a:rPr lang="en-US" sz="1500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(states[</a:t>
            </a:r>
            <a:r>
              <a:rPr lang="en-US" sz="1500" b="0" i="0" u="none" strike="noStrike" cap="none" dirty="0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"State"</a:t>
            </a:r>
            <a:r>
              <a:rPr lang="en-US" sz="1500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], states[</a:t>
            </a:r>
            <a:r>
              <a:rPr lang="en-US" sz="1500" b="0" i="0" u="none" strike="noStrike" cap="none" dirty="0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500" b="0" i="0" u="none" strike="noStrike" cap="none" dirty="0" err="1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RenewableEnergy</a:t>
            </a:r>
            <a:r>
              <a:rPr lang="en-US" sz="1500" b="0" i="0" u="none" strike="noStrike" cap="none" dirty="0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500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], marker=</a:t>
            </a:r>
            <a:r>
              <a:rPr lang="en-US" sz="1500" b="0" i="0" u="none" strike="noStrike" cap="none" dirty="0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"o" </a:t>
            </a:r>
            <a:r>
              <a:rPr lang="en-US" sz="1500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n-US" sz="1500" b="0" i="0" u="none" strike="noStrike" cap="none" dirty="0" err="1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plt.</a:t>
            </a:r>
            <a:r>
              <a:rPr lang="en-US" sz="1500" b="0" i="0" u="none" strike="noStrike" cap="none" dirty="0" err="1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lang="en-US" sz="1500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500" b="0" i="0" u="none" strike="noStrike" cap="none" dirty="0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"Renewable Energy Capacity by State" </a:t>
            </a:r>
            <a:r>
              <a:rPr lang="en-US" sz="1500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</a:p>
          <a:p>
            <a:pPr marL="0" marR="0" lvl="0" indent="0" algn="l" rtl="0">
              <a:lnSpc>
                <a:spcPct val="154412"/>
              </a:lnSpc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500"/>
              <a:buFont typeface="Courier New"/>
              <a:buNone/>
            </a:pPr>
            <a:r>
              <a:rPr lang="en-US" sz="1500" b="0" i="0" u="none" strike="noStrike" cap="none" dirty="0" err="1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plt.</a:t>
            </a:r>
            <a:r>
              <a:rPr lang="en-US" sz="1500" b="0" i="0" u="none" strike="noStrike" cap="none" dirty="0" err="1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xlabel</a:t>
            </a:r>
            <a:r>
              <a:rPr lang="en-US" sz="1500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500" b="0" i="0" u="none" strike="noStrike" cap="none" dirty="0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"State" </a:t>
            </a:r>
            <a:r>
              <a:rPr lang="en-US" sz="1500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</a:p>
          <a:p>
            <a:pPr marL="0" marR="0" lvl="0" indent="0" algn="l" rtl="0">
              <a:lnSpc>
                <a:spcPct val="154412"/>
              </a:lnSpc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500"/>
              <a:buFont typeface="Courier New"/>
              <a:buNone/>
            </a:pPr>
            <a:r>
              <a:rPr lang="en-US" sz="1500" b="0" i="0" u="none" strike="noStrike" cap="none" dirty="0" err="1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plt.</a:t>
            </a:r>
            <a:r>
              <a:rPr lang="en-US" sz="1500" b="0" i="0" u="none" strike="noStrike" cap="none" dirty="0" err="1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ylabel</a:t>
            </a:r>
            <a:r>
              <a:rPr lang="en-US" sz="1500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500" b="0" i="0" u="none" strike="noStrike" cap="none" dirty="0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"Renewable Energy (MW)" </a:t>
            </a:r>
            <a:r>
              <a:rPr lang="en-US" sz="1500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</a:p>
          <a:p>
            <a:pPr marL="0" marR="0" lvl="0" indent="0" algn="l" rtl="0">
              <a:lnSpc>
                <a:spcPct val="154412"/>
              </a:lnSpc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500"/>
              <a:buFont typeface="Courier New"/>
              <a:buNone/>
            </a:pPr>
            <a:r>
              <a:rPr lang="en-US" sz="1500" b="0" i="0" u="none" strike="noStrike" cap="none" dirty="0" err="1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plt.</a:t>
            </a:r>
            <a:r>
              <a:rPr lang="en-US" sz="1500" b="0" i="0" u="none" strike="noStrike" cap="none" dirty="0" err="1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xticks</a:t>
            </a:r>
            <a:r>
              <a:rPr lang="en-US" sz="1500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(rotation=</a:t>
            </a:r>
            <a:r>
              <a:rPr lang="en-US" sz="1500" b="0" i="0" u="none" strike="noStrike" cap="none" dirty="0">
                <a:solidFill>
                  <a:srgbClr val="F0B060"/>
                </a:solidFill>
                <a:latin typeface="Courier New"/>
                <a:ea typeface="Courier New"/>
                <a:cs typeface="Courier New"/>
                <a:sym typeface="Courier New"/>
              </a:rPr>
              <a:t>45</a:t>
            </a:r>
            <a:r>
              <a:rPr lang="en-US" sz="1500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, ha=</a:t>
            </a:r>
            <a:r>
              <a:rPr lang="en-US" sz="1500" b="0" i="0" u="none" strike="noStrike" cap="none" dirty="0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"right" </a:t>
            </a:r>
            <a:r>
              <a:rPr lang="en-US" sz="1500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</a:p>
          <a:p>
            <a:pPr marL="0" marR="0" lvl="0" indent="0" algn="l" rtl="0">
              <a:lnSpc>
                <a:spcPct val="154412"/>
              </a:lnSpc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500"/>
              <a:buFont typeface="Courier New"/>
              <a:buNone/>
            </a:pPr>
            <a:r>
              <a:rPr lang="en-US" sz="1500" b="0" i="0" u="none" strike="noStrike" cap="none" dirty="0" err="1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plt.</a:t>
            </a:r>
            <a:r>
              <a:rPr lang="en-US" sz="1500" b="0" i="0" u="none" strike="noStrike" cap="none" dirty="0" err="1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tight_layout</a:t>
            </a:r>
            <a:r>
              <a:rPr lang="en-US" sz="1500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() </a:t>
            </a:r>
          </a:p>
          <a:p>
            <a:pPr marL="0" marR="0" lvl="0" indent="0" algn="l" rtl="0">
              <a:lnSpc>
                <a:spcPct val="154412"/>
              </a:lnSpc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500"/>
              <a:buFont typeface="Courier New"/>
              <a:buNone/>
            </a:pPr>
            <a:r>
              <a:rPr lang="en-US" sz="1500" b="0" i="0" u="none" strike="noStrike" cap="none" dirty="0" err="1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plt.</a:t>
            </a:r>
            <a:r>
              <a:rPr lang="en-US" sz="1500" b="0" i="0" u="none" strike="noStrike" cap="none" dirty="0" err="1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show</a:t>
            </a:r>
            <a:r>
              <a:rPr lang="en-US" sz="1500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9886057" y="2796480"/>
            <a:ext cx="3600847" cy="2109490"/>
          </a:xfrm>
          <a:prstGeom prst="roundRect">
            <a:avLst>
              <a:gd name="adj" fmla="val 7224"/>
            </a:avLst>
          </a:prstGeom>
          <a:solidFill>
            <a:srgbClr val="F4F7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9"/>
          <p:cNvSpPr/>
          <p:nvPr/>
        </p:nvSpPr>
        <p:spPr>
          <a:xfrm>
            <a:off x="10133707" y="3006030"/>
            <a:ext cx="3416102" cy="260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575"/>
              <a:buFont typeface="Courier New"/>
              <a:buNone/>
            </a:pPr>
            <a:r>
              <a:rPr lang="en-US" sz="1575" b="1" i="0" u="none" strike="noStrike" cap="none">
                <a:solidFill>
                  <a:srgbClr val="1F9D57"/>
                </a:solidFill>
                <a:latin typeface="Courier New"/>
                <a:ea typeface="Courier New"/>
                <a:cs typeface="Courier New"/>
                <a:sym typeface="Courier New"/>
              </a:rPr>
              <a:t>figure(figsize)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10133707" y="3266381"/>
            <a:ext cx="3198713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19118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Opens the canvas — width, height in inches.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13639305" y="2796480"/>
            <a:ext cx="3600946" cy="2109490"/>
          </a:xfrm>
          <a:prstGeom prst="roundRect">
            <a:avLst>
              <a:gd name="adj" fmla="val 7224"/>
            </a:avLst>
          </a:prstGeom>
          <a:solidFill>
            <a:srgbClr val="F4F7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9"/>
          <p:cNvSpPr/>
          <p:nvPr/>
        </p:nvSpPr>
        <p:spPr>
          <a:xfrm>
            <a:off x="13886955" y="3006030"/>
            <a:ext cx="3416211" cy="260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575"/>
              <a:buFont typeface="Courier New"/>
              <a:buNone/>
            </a:pPr>
            <a:r>
              <a:rPr lang="en-US" sz="1575" b="1" i="0" u="none" strike="noStrike" cap="none">
                <a:solidFill>
                  <a:srgbClr val="1F9D57"/>
                </a:solidFill>
                <a:latin typeface="Courier New"/>
                <a:ea typeface="Courier New"/>
                <a:cs typeface="Courier New"/>
                <a:sym typeface="Courier New"/>
              </a:rPr>
              <a:t>title · xlabel · ylabel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13886955" y="3266381"/>
            <a:ext cx="3416211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19118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An unlabelled chart is not finished.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9886057" y="5058370"/>
            <a:ext cx="3600847" cy="2109490"/>
          </a:xfrm>
          <a:prstGeom prst="roundRect">
            <a:avLst>
              <a:gd name="adj" fmla="val 7224"/>
            </a:avLst>
          </a:prstGeom>
          <a:solidFill>
            <a:srgbClr val="F4F7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9"/>
          <p:cNvSpPr/>
          <p:nvPr/>
        </p:nvSpPr>
        <p:spPr>
          <a:xfrm>
            <a:off x="10133707" y="5267920"/>
            <a:ext cx="3416102" cy="260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575"/>
              <a:buFont typeface="Courier New"/>
              <a:buNone/>
            </a:pPr>
            <a:r>
              <a:rPr lang="en-US" sz="1575" b="1" i="0" u="none" strike="noStrike" cap="none">
                <a:solidFill>
                  <a:srgbClr val="1F9D57"/>
                </a:solidFill>
                <a:latin typeface="Courier New"/>
                <a:ea typeface="Courier New"/>
                <a:cs typeface="Courier New"/>
                <a:sym typeface="Courier New"/>
              </a:rPr>
              <a:t>legend() · grid()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10133707" y="5528271"/>
            <a:ext cx="3198713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19118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Legend when there's more than one series.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13639305" y="5058370"/>
            <a:ext cx="3600946" cy="2109490"/>
          </a:xfrm>
          <a:prstGeom prst="roundRect">
            <a:avLst>
              <a:gd name="adj" fmla="val 7224"/>
            </a:avLst>
          </a:prstGeom>
          <a:solidFill>
            <a:srgbClr val="F4F7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9"/>
          <p:cNvSpPr/>
          <p:nvPr/>
        </p:nvSpPr>
        <p:spPr>
          <a:xfrm>
            <a:off x="13886955" y="5267920"/>
            <a:ext cx="3416211" cy="260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575"/>
              <a:buFont typeface="Courier New"/>
              <a:buNone/>
            </a:pPr>
            <a:r>
              <a:rPr lang="en-US" sz="1575" b="1" i="0" u="none" strike="noStrike" cap="none">
                <a:solidFill>
                  <a:srgbClr val="1F9D57"/>
                </a:solidFill>
                <a:latin typeface="Courier New"/>
                <a:ea typeface="Courier New"/>
                <a:cs typeface="Courier New"/>
                <a:sym typeface="Courier New"/>
              </a:rPr>
              <a:t>xticks(rotation=45)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13886955" y="5528271"/>
            <a:ext cx="3416211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19118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Rescues long state names.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9886057" y="7320260"/>
            <a:ext cx="3600847" cy="2109490"/>
          </a:xfrm>
          <a:prstGeom prst="roundRect">
            <a:avLst>
              <a:gd name="adj" fmla="val 7224"/>
            </a:avLst>
          </a:prstGeom>
          <a:solidFill>
            <a:srgbClr val="EAF3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9"/>
          <p:cNvSpPr/>
          <p:nvPr/>
        </p:nvSpPr>
        <p:spPr>
          <a:xfrm>
            <a:off x="10133707" y="7529810"/>
            <a:ext cx="3416102" cy="260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575"/>
              <a:buFont typeface="Courier New"/>
              <a:buNone/>
            </a:pPr>
            <a:r>
              <a:rPr lang="en-US" sz="1575" b="1" i="0" u="none" strike="noStrike" cap="none">
                <a:solidFill>
                  <a:srgbClr val="0C2E1E"/>
                </a:solidFill>
                <a:latin typeface="Courier New"/>
                <a:ea typeface="Courier New"/>
                <a:cs typeface="Courier New"/>
                <a:sym typeface="Courier New"/>
              </a:rPr>
              <a:t>tight_layout()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10133707" y="7790161"/>
            <a:ext cx="3416102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19118"/>
              </a:lnSpc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Stops labels being cut off.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13639305" y="7320260"/>
            <a:ext cx="3600946" cy="2109490"/>
          </a:xfrm>
          <a:prstGeom prst="roundRect">
            <a:avLst>
              <a:gd name="adj" fmla="val 7224"/>
            </a:avLst>
          </a:prstGeom>
          <a:solidFill>
            <a:srgbClr val="0C2E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9"/>
          <p:cNvSpPr/>
          <p:nvPr/>
        </p:nvSpPr>
        <p:spPr>
          <a:xfrm>
            <a:off x="13886955" y="7529810"/>
            <a:ext cx="3416211" cy="260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575"/>
              <a:buFont typeface="Courier New"/>
              <a:buNone/>
            </a:pPr>
            <a:r>
              <a:rPr lang="en-US" sz="1575" b="1" i="0" u="none" strike="noStrike" cap="non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savefig() then show()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13886955" y="7790161"/>
            <a:ext cx="3198816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191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Save first — show() clears the figure.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7" name="Google Shape;257;p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7750" y="9658350"/>
            <a:ext cx="40292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9"/>
          <p:cNvSpPr/>
          <p:nvPr/>
        </p:nvSpPr>
        <p:spPr>
          <a:xfrm>
            <a:off x="1574502" y="9674225"/>
            <a:ext cx="4108763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lang="en-US" sz="1425" b="0" i="0" u="none" strike="noStrike" cap="non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14308336" y="9674225"/>
            <a:ext cx="2541091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lang="en-US" sz="1425" b="0" i="0" u="none" strike="noStrike" cap="non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9"/>
          <p:cNvSpPr/>
          <p:nvPr/>
        </p:nvSpPr>
        <p:spPr>
          <a:xfrm>
            <a:off x="17001827" y="9674225"/>
            <a:ext cx="314623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lang="en-US" sz="1425" b="0" i="0" u="none" strike="noStrike" cap="non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0"/>
          <p:cNvSpPr/>
          <p:nvPr/>
        </p:nvSpPr>
        <p:spPr>
          <a:xfrm>
            <a:off x="1047750" y="914400"/>
            <a:ext cx="17811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MATPLOTLIB · THE FIVE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0"/>
          <p:cNvSpPr/>
          <p:nvPr/>
        </p:nvSpPr>
        <p:spPr>
          <a:xfrm>
            <a:off x="1047750" y="1390650"/>
            <a:ext cx="17811750" cy="643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92621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4500"/>
              <a:buFont typeface="Arial"/>
              <a:buNone/>
            </a:pPr>
            <a:r>
              <a:rPr lang="en-US" sz="4500" b="1" i="0" u="none" strike="noStrike" cap="non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Five charts, one line apart</a:t>
            </a:r>
            <a:endParaRPr sz="4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0"/>
          <p:cNvSpPr/>
          <p:nvPr/>
        </p:nvSpPr>
        <p:spPr>
          <a:xfrm>
            <a:off x="1047750" y="2110680"/>
            <a:ext cx="136207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21154"/>
              </a:lnSpc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2250"/>
              <a:buFont typeface="Arial"/>
              <a:buNone/>
            </a:pPr>
            <a:r>
              <a:rPr lang="en-US" sz="2250" b="0" i="0" u="none" strike="noStrike" cap="non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Straight from the notebook — each of these sits inside the same wrapper you just learned.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0"/>
          <p:cNvSpPr/>
          <p:nvPr/>
        </p:nvSpPr>
        <p:spPr>
          <a:xfrm>
            <a:off x="1047750" y="2796480"/>
            <a:ext cx="5270500" cy="3221335"/>
          </a:xfrm>
          <a:prstGeom prst="roundRect">
            <a:avLst>
              <a:gd name="adj" fmla="val 5322"/>
            </a:avLst>
          </a:prstGeom>
          <a:solidFill>
            <a:srgbClr val="F4F7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10"/>
          <p:cNvSpPr/>
          <p:nvPr/>
        </p:nvSpPr>
        <p:spPr>
          <a:xfrm>
            <a:off x="1333500" y="3044130"/>
            <a:ext cx="51689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Line — sequence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0"/>
          <p:cNvSpPr/>
          <p:nvPr/>
        </p:nvSpPr>
        <p:spPr>
          <a:xfrm>
            <a:off x="1333500" y="4604544"/>
            <a:ext cx="4699000" cy="1165622"/>
          </a:xfrm>
          <a:prstGeom prst="roundRect">
            <a:avLst>
              <a:gd name="adj" fmla="val 9806"/>
            </a:avLst>
          </a:prstGeom>
          <a:solidFill>
            <a:srgbClr val="0C2E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10"/>
          <p:cNvSpPr/>
          <p:nvPr/>
        </p:nvSpPr>
        <p:spPr>
          <a:xfrm>
            <a:off x="1543050" y="4775994"/>
            <a:ext cx="4420870" cy="860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E8F0E9"/>
              </a:buClr>
              <a:buSzPts val="1350"/>
              <a:buFont typeface="Courier New"/>
              <a:buNone/>
            </a:pPr>
            <a:r>
              <a:rPr lang="en-US" sz="1350" b="0" i="0" u="none" strike="noStrike" cap="non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plt.</a:t>
            </a:r>
            <a:r>
              <a:rPr lang="en-US" sz="1350" b="0" i="0" u="none" strike="noStrike" cap="none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plot</a:t>
            </a:r>
            <a:r>
              <a:rPr lang="en-US" sz="1350" b="0" i="0" u="none" strike="noStrike" cap="non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(states[</a:t>
            </a:r>
            <a:r>
              <a:rPr lang="en-US" sz="1350" b="0" i="0" u="none" strike="noStrike" cap="non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"State" </a:t>
            </a:r>
            <a:r>
              <a:rPr lang="en-US" sz="1350" b="0" i="0" u="none" strike="noStrike" cap="non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], states[</a:t>
            </a:r>
            <a:r>
              <a:rPr lang="en-US" sz="1350" b="0" i="0" u="none" strike="noStrike" cap="non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"RenewableEnergy" </a:t>
            </a:r>
            <a:r>
              <a:rPr lang="en-US" sz="1350" b="0" i="0" u="none" strike="noStrike" cap="non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], </a:t>
            </a:r>
            <a:endParaRPr sz="1350" b="0" i="0" u="none" strike="noStrike" cap="none">
              <a:solidFill>
                <a:srgbClr val="E8F0E9"/>
              </a:solidFill>
              <a:highlight>
                <a:srgbClr val="0C2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E8F0E9"/>
              </a:buClr>
              <a:buSzPts val="1350"/>
              <a:buFont typeface="Courier New"/>
              <a:buNone/>
            </a:pPr>
            <a:r>
              <a:rPr lang="en-US" sz="1350" b="0" i="0" u="none" strike="noStrike" cap="non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marker=</a:t>
            </a:r>
            <a:r>
              <a:rPr lang="en-US" sz="1350" b="0" i="0" u="none" strike="noStrike" cap="non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"o"</a:t>
            </a:r>
            <a:r>
              <a:rPr lang="en-US" sz="1350" b="0" i="0" u="none" strike="noStrike" cap="non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0"/>
          <p:cNvSpPr/>
          <p:nvPr/>
        </p:nvSpPr>
        <p:spPr>
          <a:xfrm>
            <a:off x="6508750" y="2796480"/>
            <a:ext cx="5270500" cy="3221335"/>
          </a:xfrm>
          <a:prstGeom prst="roundRect">
            <a:avLst>
              <a:gd name="adj" fmla="val 5322"/>
            </a:avLst>
          </a:prstGeom>
          <a:solidFill>
            <a:srgbClr val="F4F7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10"/>
          <p:cNvSpPr/>
          <p:nvPr/>
        </p:nvSpPr>
        <p:spPr>
          <a:xfrm>
            <a:off x="6794500" y="3044130"/>
            <a:ext cx="51689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Bar — compare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0"/>
          <p:cNvSpPr/>
          <p:nvPr/>
        </p:nvSpPr>
        <p:spPr>
          <a:xfrm>
            <a:off x="6794500" y="4604544"/>
            <a:ext cx="4699000" cy="1165622"/>
          </a:xfrm>
          <a:prstGeom prst="roundRect">
            <a:avLst>
              <a:gd name="adj" fmla="val 9806"/>
            </a:avLst>
          </a:prstGeom>
          <a:solidFill>
            <a:srgbClr val="0C2E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10"/>
          <p:cNvSpPr/>
          <p:nvPr/>
        </p:nvSpPr>
        <p:spPr>
          <a:xfrm>
            <a:off x="7004050" y="4775994"/>
            <a:ext cx="4420870" cy="860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E8F0E9"/>
              </a:buClr>
              <a:buSzPts val="1350"/>
              <a:buFont typeface="Courier New"/>
              <a:buNone/>
            </a:pPr>
            <a:r>
              <a:rPr lang="en-US" sz="1350" b="0" i="0" u="none" strike="noStrike" cap="non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plt.</a:t>
            </a:r>
            <a:r>
              <a:rPr lang="en-US" sz="1350" b="0" i="0" u="none" strike="noStrike" cap="none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bar</a:t>
            </a:r>
            <a:r>
              <a:rPr lang="en-US" sz="1350" b="0" i="0" u="none" strike="noStrike" cap="non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(states[</a:t>
            </a:r>
            <a:r>
              <a:rPr lang="en-US" sz="1350" b="0" i="0" u="none" strike="noStrike" cap="non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"State" </a:t>
            </a:r>
            <a:r>
              <a:rPr lang="en-US" sz="1350" b="0" i="0" u="none" strike="noStrike" cap="non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], states[</a:t>
            </a:r>
            <a:r>
              <a:rPr lang="en-US" sz="1350" b="0" i="0" u="none" strike="noStrike" cap="non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"LiteracyRate" </a:t>
            </a:r>
            <a:r>
              <a:rPr lang="en-US" sz="1350" b="0" i="0" u="none" strike="noStrike" cap="non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],</a:t>
            </a:r>
            <a:endParaRPr sz="1350" b="0" i="0" u="none" strike="noStrike" cap="none">
              <a:solidFill>
                <a:srgbClr val="E8F0E9"/>
              </a:solidFill>
              <a:highlight>
                <a:srgbClr val="0C2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E8F0E9"/>
              </a:buClr>
              <a:buSzPts val="1350"/>
              <a:buFont typeface="Courier New"/>
              <a:buNone/>
            </a:pPr>
            <a:r>
              <a:rPr lang="en-US" sz="1350" b="0" i="0" u="none" strike="noStrike" cap="non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color=</a:t>
            </a:r>
            <a:r>
              <a:rPr lang="en-US" sz="1350" b="0" i="0" u="none" strike="noStrike" cap="non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"teal"</a:t>
            </a:r>
            <a:r>
              <a:rPr lang="en-US" sz="1350" b="0" i="0" u="none" strike="noStrike" cap="non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0"/>
          <p:cNvSpPr/>
          <p:nvPr/>
        </p:nvSpPr>
        <p:spPr>
          <a:xfrm>
            <a:off x="11969751" y="2796480"/>
            <a:ext cx="5270500" cy="3221335"/>
          </a:xfrm>
          <a:prstGeom prst="roundRect">
            <a:avLst>
              <a:gd name="adj" fmla="val 5322"/>
            </a:avLst>
          </a:prstGeom>
          <a:solidFill>
            <a:srgbClr val="F4F7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10"/>
          <p:cNvSpPr/>
          <p:nvPr/>
        </p:nvSpPr>
        <p:spPr>
          <a:xfrm>
            <a:off x="12255501" y="3044130"/>
            <a:ext cx="51689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Scatter — relationship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0"/>
          <p:cNvSpPr/>
          <p:nvPr/>
        </p:nvSpPr>
        <p:spPr>
          <a:xfrm>
            <a:off x="12255501" y="4604544"/>
            <a:ext cx="4699000" cy="1165622"/>
          </a:xfrm>
          <a:prstGeom prst="roundRect">
            <a:avLst>
              <a:gd name="adj" fmla="val 9806"/>
            </a:avLst>
          </a:prstGeom>
          <a:solidFill>
            <a:srgbClr val="0C2E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10"/>
          <p:cNvSpPr/>
          <p:nvPr/>
        </p:nvSpPr>
        <p:spPr>
          <a:xfrm>
            <a:off x="12465051" y="4775994"/>
            <a:ext cx="4420870" cy="860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E8F0E9"/>
              </a:buClr>
              <a:buSzPts val="1350"/>
              <a:buFont typeface="Courier New"/>
              <a:buNone/>
            </a:pPr>
            <a:r>
              <a:rPr lang="en-US" sz="1350" b="0" i="0" u="none" strike="noStrike" cap="non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plt.</a:t>
            </a:r>
            <a:r>
              <a:rPr lang="en-US" sz="1350" b="0" i="0" u="none" strike="noStrike" cap="none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scatter</a:t>
            </a:r>
            <a:r>
              <a:rPr lang="en-US" sz="1350" b="0" i="0" u="none" strike="noStrike" cap="non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(states[</a:t>
            </a:r>
            <a:r>
              <a:rPr lang="en-US" sz="1350" b="0" i="0" u="none" strike="noStrike" cap="non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"LiteracyRate" </a:t>
            </a:r>
            <a:r>
              <a:rPr lang="en-US" sz="1350" b="0" i="0" u="none" strike="noStrike" cap="non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], states[</a:t>
            </a:r>
            <a:r>
              <a:rPr lang="en-US" sz="1350" b="0" i="0" u="none" strike="noStrike" cap="non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"ForestCover" </a:t>
            </a:r>
            <a:r>
              <a:rPr lang="en-US" sz="1350" b="0" i="0" u="none" strike="noStrike" cap="non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],</a:t>
            </a:r>
            <a:endParaRPr sz="1350" b="0" i="0" u="none" strike="noStrike" cap="none">
              <a:solidFill>
                <a:srgbClr val="E8F0E9"/>
              </a:solidFill>
              <a:highlight>
                <a:srgbClr val="0C2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E8F0E9"/>
              </a:buClr>
              <a:buSzPts val="1350"/>
              <a:buFont typeface="Courier New"/>
              <a:buNone/>
            </a:pPr>
            <a:r>
              <a:rPr lang="en-US" sz="1350" b="0" i="0" u="none" strike="noStrike" cap="non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color=</a:t>
            </a:r>
            <a:r>
              <a:rPr lang="en-US" sz="1350" b="0" i="0" u="none" strike="noStrike" cap="non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"darkgreen"</a:t>
            </a:r>
            <a:r>
              <a:rPr lang="en-US" sz="1350" b="0" i="0" u="none" strike="noStrike" cap="non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0"/>
          <p:cNvSpPr/>
          <p:nvPr/>
        </p:nvSpPr>
        <p:spPr>
          <a:xfrm>
            <a:off x="1047750" y="6208316"/>
            <a:ext cx="5270500" cy="3221434"/>
          </a:xfrm>
          <a:prstGeom prst="roundRect">
            <a:avLst>
              <a:gd name="adj" fmla="val 5322"/>
            </a:avLst>
          </a:prstGeom>
          <a:solidFill>
            <a:srgbClr val="F4F7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10"/>
          <p:cNvSpPr/>
          <p:nvPr/>
        </p:nvSpPr>
        <p:spPr>
          <a:xfrm>
            <a:off x="1333500" y="6455966"/>
            <a:ext cx="51689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Histogram — distribution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0"/>
          <p:cNvSpPr/>
          <p:nvPr/>
        </p:nvSpPr>
        <p:spPr>
          <a:xfrm>
            <a:off x="1333500" y="8016478"/>
            <a:ext cx="4699000" cy="1165622"/>
          </a:xfrm>
          <a:prstGeom prst="roundRect">
            <a:avLst>
              <a:gd name="adj" fmla="val 9806"/>
            </a:avLst>
          </a:prstGeom>
          <a:solidFill>
            <a:srgbClr val="0C2E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10"/>
          <p:cNvSpPr/>
          <p:nvPr/>
        </p:nvSpPr>
        <p:spPr>
          <a:xfrm>
            <a:off x="1543050" y="8187928"/>
            <a:ext cx="4420870" cy="860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E8F0E9"/>
              </a:buClr>
              <a:buSzPts val="1350"/>
              <a:buFont typeface="Courier New"/>
              <a:buNone/>
            </a:pPr>
            <a:r>
              <a:rPr lang="en-US" sz="1350" b="0" i="0" u="none" strike="noStrike" cap="non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plt.</a:t>
            </a:r>
            <a:r>
              <a:rPr lang="en-US" sz="1350" b="0" i="0" u="none" strike="noStrike" cap="none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hist</a:t>
            </a:r>
            <a:r>
              <a:rPr lang="en-US" sz="1350" b="0" i="0" u="none" strike="noStrike" cap="non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(states[</a:t>
            </a:r>
            <a:r>
              <a:rPr lang="en-US" sz="1350" b="0" i="0" u="none" strike="noStrike" cap="non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"Rainfall" </a:t>
            </a:r>
            <a:r>
              <a:rPr lang="en-US" sz="1350" b="0" i="0" u="none" strike="noStrike" cap="non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], bins=</a:t>
            </a:r>
            <a:r>
              <a:rPr lang="en-US" sz="1350" b="0" i="0" u="none" strike="noStrike" cap="none">
                <a:solidFill>
                  <a:srgbClr val="F0B060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lang="en-US" sz="1350" b="0" i="0" u="none" strike="noStrike" cap="non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, color=</a:t>
            </a:r>
            <a:r>
              <a:rPr lang="en-US" sz="1350" b="0" i="0" u="none" strike="noStrike" cap="non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"steelblue" </a:t>
            </a:r>
            <a:r>
              <a:rPr lang="en-US" sz="1350" b="0" i="0" u="none" strike="noStrike" cap="non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, edgecolor=</a:t>
            </a:r>
            <a:r>
              <a:rPr lang="en-US" sz="1350" b="0" i="0" u="none" strike="noStrike" cap="non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"white"</a:t>
            </a:r>
            <a:r>
              <a:rPr lang="en-US" sz="1350" b="0" i="0" u="none" strike="noStrike" cap="non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0"/>
          <p:cNvSpPr/>
          <p:nvPr/>
        </p:nvSpPr>
        <p:spPr>
          <a:xfrm>
            <a:off x="6508750" y="6208316"/>
            <a:ext cx="5270500" cy="3221434"/>
          </a:xfrm>
          <a:prstGeom prst="roundRect">
            <a:avLst>
              <a:gd name="adj" fmla="val 5322"/>
            </a:avLst>
          </a:prstGeom>
          <a:solidFill>
            <a:srgbClr val="F4F7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10"/>
          <p:cNvSpPr/>
          <p:nvPr/>
        </p:nvSpPr>
        <p:spPr>
          <a:xfrm>
            <a:off x="6794500" y="6455966"/>
            <a:ext cx="51689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Box — spread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0"/>
          <p:cNvSpPr/>
          <p:nvPr/>
        </p:nvSpPr>
        <p:spPr>
          <a:xfrm>
            <a:off x="6794500" y="8016478"/>
            <a:ext cx="4699000" cy="1165622"/>
          </a:xfrm>
          <a:prstGeom prst="roundRect">
            <a:avLst>
              <a:gd name="adj" fmla="val 9806"/>
            </a:avLst>
          </a:prstGeom>
          <a:solidFill>
            <a:srgbClr val="0C2E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10"/>
          <p:cNvSpPr/>
          <p:nvPr/>
        </p:nvSpPr>
        <p:spPr>
          <a:xfrm>
            <a:off x="7004050" y="8187928"/>
            <a:ext cx="4420870" cy="860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E8F0E9"/>
              </a:buClr>
              <a:buSzPts val="1350"/>
              <a:buFont typeface="Courier New"/>
              <a:buNone/>
            </a:pPr>
            <a:r>
              <a:rPr lang="en-US" sz="1350" b="0" i="0" u="none" strike="noStrike" cap="non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plt.</a:t>
            </a:r>
            <a:r>
              <a:rPr lang="en-US" sz="1350" b="0" i="0" u="none" strike="noStrike" cap="none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boxplot </a:t>
            </a:r>
            <a:r>
              <a:rPr lang="en-US" sz="1350" b="0" i="0" u="none" strike="noStrike" cap="non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 states[</a:t>
            </a:r>
            <a:r>
              <a:rPr lang="en-US" sz="1350" b="0" i="0" u="none" strike="noStrike" cap="non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"LiteracyRate" </a:t>
            </a:r>
            <a:r>
              <a:rPr lang="en-US" sz="1350" b="0" i="0" u="none" strike="noStrike" cap="non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], vert=</a:t>
            </a:r>
            <a:r>
              <a:rPr lang="en-US" sz="1350" b="0" i="0" u="none" strike="noStrike" cap="none">
                <a:solidFill>
                  <a:srgbClr val="F0B060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lang="en-US" sz="1350" b="0" i="0" u="none" strike="noStrike" cap="non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11969751" y="6208316"/>
            <a:ext cx="5270500" cy="3221434"/>
          </a:xfrm>
          <a:prstGeom prst="roundRect">
            <a:avLst>
              <a:gd name="adj" fmla="val 5322"/>
            </a:avLst>
          </a:prstGeom>
          <a:solidFill>
            <a:srgbClr val="EAF3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10"/>
          <p:cNvSpPr/>
          <p:nvPr/>
        </p:nvSpPr>
        <p:spPr>
          <a:xfrm>
            <a:off x="11969751" y="6208316"/>
            <a:ext cx="57150" cy="3221434"/>
          </a:xfrm>
          <a:prstGeom prst="rect">
            <a:avLst/>
          </a:prstGeom>
          <a:solidFill>
            <a:srgbClr val="1F9D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10"/>
          <p:cNvSpPr/>
          <p:nvPr/>
        </p:nvSpPr>
        <p:spPr>
          <a:xfrm>
            <a:off x="12312651" y="7137797"/>
            <a:ext cx="4781106" cy="700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24286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Same wrapper every time — only the middle line changes.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0"/>
          <p:cNvSpPr/>
          <p:nvPr/>
        </p:nvSpPr>
        <p:spPr>
          <a:xfrm>
            <a:off x="12312651" y="7933929"/>
            <a:ext cx="4781106" cy="604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19189"/>
              </a:lnSpc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1575"/>
              <a:buFont typeface="Courier New"/>
              <a:buNone/>
            </a:pPr>
            <a:r>
              <a:rPr lang="en-US" sz="1575" b="0" i="0" u="none" strike="noStrike" cap="none">
                <a:solidFill>
                  <a:srgbClr val="47564E"/>
                </a:solidFill>
                <a:latin typeface="Courier New"/>
                <a:ea typeface="Courier New"/>
                <a:cs typeface="Courier New"/>
                <a:sym typeface="Courier New"/>
              </a:rPr>
              <a:t>bins </a:t>
            </a:r>
            <a:r>
              <a:rPr lang="en-US" sz="1575" b="0" i="0" u="none" strike="noStrike" cap="non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is a judgement call: too few hides the shape, too many is noise.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3" name="Google Shape;293;p1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7750" y="9658350"/>
            <a:ext cx="40292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10"/>
          <p:cNvSpPr/>
          <p:nvPr/>
        </p:nvSpPr>
        <p:spPr>
          <a:xfrm>
            <a:off x="1574502" y="9674225"/>
            <a:ext cx="4108763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lang="en-US" sz="1425" b="0" i="0" u="none" strike="noStrike" cap="non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0"/>
          <p:cNvSpPr/>
          <p:nvPr/>
        </p:nvSpPr>
        <p:spPr>
          <a:xfrm>
            <a:off x="14366677" y="9674225"/>
            <a:ext cx="2541091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lang="en-US" sz="1425" b="0" i="0" u="none" strike="noStrike" cap="non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0"/>
          <p:cNvSpPr/>
          <p:nvPr/>
        </p:nvSpPr>
        <p:spPr>
          <a:xfrm>
            <a:off x="17060168" y="9674225"/>
            <a:ext cx="256282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lang="en-US" sz="1425" b="0" i="0" u="none" strike="noStrike" cap="non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1"/>
          <p:cNvSpPr/>
          <p:nvPr/>
        </p:nvSpPr>
        <p:spPr>
          <a:xfrm>
            <a:off x="1047750" y="914400"/>
            <a:ext cx="17811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TWO MORE JOBS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1"/>
          <p:cNvSpPr/>
          <p:nvPr/>
        </p:nvSpPr>
        <p:spPr>
          <a:xfrm>
            <a:off x="1047750" y="1390650"/>
            <a:ext cx="17811750" cy="643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92621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4500"/>
              <a:buFont typeface="Arial"/>
              <a:buNone/>
            </a:pPr>
            <a:r>
              <a:rPr lang="en-US" sz="4500" b="1" i="0" u="none" strike="noStrike" cap="non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Parts of a whole · two measures</a:t>
            </a:r>
            <a:endParaRPr sz="4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1"/>
          <p:cNvSpPr/>
          <p:nvPr/>
        </p:nvSpPr>
        <p:spPr>
          <a:xfrm>
            <a:off x="1047750" y="2110680"/>
            <a:ext cx="136207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21154"/>
              </a:lnSpc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2250"/>
              <a:buFont typeface="Arial"/>
              <a:buNone/>
            </a:pPr>
            <a:r>
              <a:rPr lang="en-US" sz="2250" b="0" i="0" u="none" strike="noStrike" cap="non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A pie needs a total — so </a:t>
            </a:r>
            <a:r>
              <a:rPr lang="en-US" sz="2250" b="0" i="0" u="none" strike="noStrike" cap="none">
                <a:solidFill>
                  <a:srgbClr val="47564E"/>
                </a:solidFill>
                <a:latin typeface="Courier New"/>
                <a:ea typeface="Courier New"/>
                <a:cs typeface="Courier New"/>
                <a:sym typeface="Courier New"/>
              </a:rPr>
              <a:t>groupby </a:t>
            </a:r>
            <a:r>
              <a:rPr lang="en-US" sz="2250" b="0" i="0" u="none" strike="noStrike" cap="non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comes first. Two measures need offset positions and a legend.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1"/>
          <p:cNvSpPr/>
          <p:nvPr/>
        </p:nvSpPr>
        <p:spPr>
          <a:xfrm>
            <a:off x="1047750" y="2796480"/>
            <a:ext cx="7924800" cy="5737920"/>
          </a:xfrm>
          <a:prstGeom prst="roundRect">
            <a:avLst>
              <a:gd name="adj" fmla="val 3652"/>
            </a:avLst>
          </a:prstGeom>
          <a:solidFill>
            <a:srgbClr val="F4F7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1"/>
          <p:cNvSpPr/>
          <p:nvPr/>
        </p:nvSpPr>
        <p:spPr>
          <a:xfrm>
            <a:off x="1409700" y="3101280"/>
            <a:ext cx="7920990" cy="3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950"/>
              <a:buFont typeface="Arial"/>
              <a:buNone/>
            </a:pPr>
            <a:r>
              <a:rPr lang="en-US" sz="1950" b="1" i="0" u="none" strike="noStrike" cap="non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Pie — share of hospitals by state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1"/>
          <p:cNvSpPr/>
          <p:nvPr/>
        </p:nvSpPr>
        <p:spPr>
          <a:xfrm>
            <a:off x="1409700" y="3456881"/>
            <a:ext cx="7920990" cy="337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21579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650"/>
              <a:buFont typeface="Arial"/>
              <a:buNone/>
            </a:pPr>
            <a:r>
              <a:rPr lang="en-US" sz="1650" b="0" i="0" u="none" strike="noStrike" cap="non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Session 6's </a:t>
            </a:r>
            <a:r>
              <a:rPr lang="en-US" sz="1650" b="0" i="0" u="none" strike="noStrike" cap="none">
                <a:solidFill>
                  <a:srgbClr val="5B6B62"/>
                </a:solidFill>
                <a:latin typeface="Courier New"/>
                <a:ea typeface="Courier New"/>
                <a:cs typeface="Courier New"/>
                <a:sym typeface="Courier New"/>
              </a:rPr>
              <a:t>groupby </a:t>
            </a:r>
            <a:r>
              <a:rPr lang="en-US" sz="1650" b="0" i="0" u="none" strike="noStrike" cap="non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builds the whole the pie divides.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1"/>
          <p:cNvSpPr/>
          <p:nvPr/>
        </p:nvSpPr>
        <p:spPr>
          <a:xfrm>
            <a:off x="1409700" y="5965031"/>
            <a:ext cx="7448550" cy="2264569"/>
          </a:xfrm>
          <a:prstGeom prst="roundRect">
            <a:avLst>
              <a:gd name="adj" fmla="val 5889"/>
            </a:avLst>
          </a:prstGeom>
          <a:solidFill>
            <a:srgbClr val="0C2E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11"/>
          <p:cNvSpPr/>
          <p:nvPr/>
        </p:nvSpPr>
        <p:spPr>
          <a:xfrm>
            <a:off x="1657350" y="6174581"/>
            <a:ext cx="7200900" cy="1883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46818"/>
              </a:lnSpc>
              <a:spcBef>
                <a:spcPts val="0"/>
              </a:spcBef>
              <a:spcAft>
                <a:spcPts val="0"/>
              </a:spcAft>
              <a:buClr>
                <a:srgbClr val="E8F0E9"/>
              </a:buClr>
              <a:buSzPts val="1425"/>
              <a:buFont typeface="Courier New"/>
              <a:buNone/>
            </a:pPr>
            <a:r>
              <a:rPr lang="en-US" sz="1425" b="0" i="0" u="none" strike="noStrike" cap="none" dirty="0" err="1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hospitals_by_state</a:t>
            </a: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1425" b="0" i="0" u="none" strike="noStrike" cap="none" dirty="0" err="1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health.</a:t>
            </a:r>
            <a:r>
              <a:rPr lang="en-US" sz="1425" b="0" i="0" u="none" strike="noStrike" cap="none" dirty="0" err="1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groupby</a:t>
            </a: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425" b="0" i="0" u="none" strike="noStrike" cap="none" dirty="0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"State" </a:t>
            </a: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)[ </a:t>
            </a:r>
            <a:r>
              <a:rPr lang="en-US" sz="1425" b="0" i="0" u="none" strike="noStrike" cap="none" dirty="0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"Hospitals"</a:t>
            </a: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].</a:t>
            </a:r>
            <a:r>
              <a:rPr lang="en-US" sz="1425" b="0" i="0" u="none" strike="noStrike" cap="none" dirty="0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sum </a:t>
            </a: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() </a:t>
            </a:r>
          </a:p>
          <a:p>
            <a:pPr marL="0" marR="0" lvl="0" indent="0" algn="l" rtl="0">
              <a:lnSpc>
                <a:spcPct val="146818"/>
              </a:lnSpc>
              <a:spcBef>
                <a:spcPts val="0"/>
              </a:spcBef>
              <a:spcAft>
                <a:spcPts val="0"/>
              </a:spcAft>
              <a:buClr>
                <a:srgbClr val="E8F0E9"/>
              </a:buClr>
              <a:buSzPts val="1425"/>
              <a:buFont typeface="Courier New"/>
              <a:buNone/>
            </a:pPr>
            <a:r>
              <a:rPr lang="en-US" sz="1425" b="0" i="0" u="none" strike="noStrike" cap="none" dirty="0" err="1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plt.</a:t>
            </a:r>
            <a:r>
              <a:rPr lang="en-US" sz="1425" b="0" i="0" u="none" strike="noStrike" cap="none" dirty="0" err="1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pie</a:t>
            </a:r>
            <a:r>
              <a:rPr lang="en-US" sz="1425" b="0" i="0" u="none" strike="noStrike" cap="none" dirty="0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425" b="0" i="0" u="none" strike="noStrike" cap="none" dirty="0" err="1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hospitals_by_state</a:t>
            </a: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, labels=</a:t>
            </a:r>
            <a:r>
              <a:rPr lang="en-US" sz="1425" b="0" i="0" u="none" strike="noStrike" cap="none" dirty="0" err="1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hospitals_by_state.index</a:t>
            </a: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425" b="0" i="0" u="none" strike="noStrike" cap="none" dirty="0" err="1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autopct</a:t>
            </a: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425" b="0" i="0" u="none" strike="noStrike" cap="none" dirty="0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"%1.0f%%"</a:t>
            </a: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25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1"/>
          <p:cNvSpPr/>
          <p:nvPr/>
        </p:nvSpPr>
        <p:spPr>
          <a:xfrm>
            <a:off x="9315450" y="2796480"/>
            <a:ext cx="7924800" cy="5737920"/>
          </a:xfrm>
          <a:prstGeom prst="roundRect">
            <a:avLst>
              <a:gd name="adj" fmla="val 3652"/>
            </a:avLst>
          </a:prstGeom>
          <a:solidFill>
            <a:srgbClr val="F4F7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11"/>
          <p:cNvSpPr/>
          <p:nvPr/>
        </p:nvSpPr>
        <p:spPr>
          <a:xfrm>
            <a:off x="9677400" y="3101280"/>
            <a:ext cx="7920990" cy="3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950"/>
              <a:buFont typeface="Arial"/>
              <a:buNone/>
            </a:pPr>
            <a:r>
              <a:rPr lang="en-US" sz="1950" b="1" i="0" u="none" strike="noStrike" cap="non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Grouped bar — hospitals vs PHCs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1"/>
          <p:cNvSpPr/>
          <p:nvPr/>
        </p:nvSpPr>
        <p:spPr>
          <a:xfrm>
            <a:off x="9677400" y="3456881"/>
            <a:ext cx="7920990" cy="331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21579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650"/>
              <a:buFont typeface="Arial"/>
              <a:buNone/>
            </a:pPr>
            <a:r>
              <a:rPr lang="en-US" sz="1650" b="0" i="0" u="none" strike="noStrike" cap="non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Offset the positions by half a bar width; label any scaling.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1"/>
          <p:cNvSpPr/>
          <p:nvPr/>
        </p:nvSpPr>
        <p:spPr>
          <a:xfrm>
            <a:off x="9677400" y="5965031"/>
            <a:ext cx="7200900" cy="2264569"/>
          </a:xfrm>
          <a:prstGeom prst="roundRect">
            <a:avLst>
              <a:gd name="adj" fmla="val 5889"/>
            </a:avLst>
          </a:prstGeom>
          <a:solidFill>
            <a:srgbClr val="0C2E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11"/>
          <p:cNvSpPr/>
          <p:nvPr/>
        </p:nvSpPr>
        <p:spPr>
          <a:xfrm>
            <a:off x="9925050" y="6174581"/>
            <a:ext cx="6921627" cy="1883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lnSpc>
                <a:spcPct val="146818"/>
              </a:lnSpc>
              <a:spcBef>
                <a:spcPts val="0"/>
              </a:spcBef>
              <a:spcAft>
                <a:spcPts val="0"/>
              </a:spcAft>
              <a:buClr>
                <a:srgbClr val="E8F0E9"/>
              </a:buClr>
              <a:buSzPts val="1425"/>
              <a:buFont typeface="Courier New"/>
              <a:buNone/>
            </a:pP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positions = </a:t>
            </a:r>
            <a:r>
              <a:rPr lang="en-US" sz="1425" b="0" i="0" u="none" strike="noStrike" cap="none" dirty="0" err="1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np.</a:t>
            </a:r>
            <a:r>
              <a:rPr lang="en-US" sz="1425" b="0" i="0" u="none" strike="noStrike" cap="none" dirty="0" err="1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arange</a:t>
            </a: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425" b="0" i="0" u="none" strike="noStrike" cap="none" dirty="0" err="1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len</a:t>
            </a:r>
            <a:r>
              <a:rPr lang="en-US" sz="1425" b="0" i="0" u="none" strike="noStrike" cap="none" dirty="0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(sample)) </a:t>
            </a:r>
            <a:r>
              <a:rPr lang="en-US" sz="1425" b="0" i="0" u="none" strike="noStrike" cap="none" dirty="0" err="1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plt.</a:t>
            </a:r>
            <a:r>
              <a:rPr lang="en-US" sz="1425" b="0" i="0" u="none" strike="noStrike" cap="none" dirty="0" err="1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bar</a:t>
            </a: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(positions - </a:t>
            </a:r>
            <a:r>
              <a:rPr lang="en-US" sz="1425" b="0" i="0" u="none" strike="noStrike" cap="none" dirty="0" err="1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bar_width</a:t>
            </a: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lang="en-US" sz="1425" b="0" i="0" u="none" strike="noStrike" cap="none" dirty="0">
                <a:solidFill>
                  <a:srgbClr val="F0B060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, sample[</a:t>
            </a:r>
            <a:r>
              <a:rPr lang="en-US" sz="1425" b="0" i="0" u="none" strike="noStrike" cap="none" dirty="0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"Hospitals" </a:t>
            </a: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], width=</a:t>
            </a:r>
            <a:r>
              <a:rPr lang="en-US" sz="1425" b="0" i="0" u="none" strike="noStrike" cap="none" dirty="0" err="1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bar_width</a:t>
            </a: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, label= </a:t>
            </a:r>
            <a:r>
              <a:rPr lang="en-US" sz="1425" b="0" i="0" u="none" strike="noStrike" cap="none" dirty="0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"Hospitals" </a:t>
            </a: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</a:p>
          <a:p>
            <a:pPr marL="0" marR="0" lvl="0" indent="0" algn="l" rtl="0">
              <a:lnSpc>
                <a:spcPct val="146818"/>
              </a:lnSpc>
              <a:spcBef>
                <a:spcPts val="0"/>
              </a:spcBef>
              <a:spcAft>
                <a:spcPts val="0"/>
              </a:spcAft>
              <a:buClr>
                <a:srgbClr val="E8F0E9"/>
              </a:buClr>
              <a:buSzPts val="1425"/>
              <a:buFont typeface="Courier New"/>
              <a:buNone/>
            </a:pPr>
            <a:r>
              <a:rPr lang="en-US" sz="1425" b="0" i="0" u="none" strike="noStrike" cap="none" dirty="0" err="1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plt.</a:t>
            </a:r>
            <a:r>
              <a:rPr lang="en-US" sz="1425" b="0" i="0" u="none" strike="noStrike" cap="none" dirty="0" err="1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bar</a:t>
            </a: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(positions + </a:t>
            </a:r>
            <a:r>
              <a:rPr lang="en-US" sz="1425" b="0" i="0" u="none" strike="noStrike" cap="none" dirty="0" err="1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bar_width</a:t>
            </a: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lang="en-US" sz="1425" b="0" i="0" u="none" strike="noStrike" cap="none" dirty="0">
                <a:solidFill>
                  <a:srgbClr val="F0B060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, sample[</a:t>
            </a:r>
            <a:r>
              <a:rPr lang="en-US" sz="1425" b="0" i="0" u="none" strike="noStrike" cap="none" dirty="0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"PHCs"</a:t>
            </a: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]/</a:t>
            </a:r>
            <a:r>
              <a:rPr lang="en-US" sz="1425" b="0" i="0" u="none" strike="noStrike" cap="none" dirty="0">
                <a:solidFill>
                  <a:srgbClr val="F0B060"/>
                </a:solidFill>
                <a:latin typeface="Courier New"/>
                <a:ea typeface="Courier New"/>
                <a:cs typeface="Courier New"/>
                <a:sym typeface="Courier New"/>
              </a:rPr>
              <a:t>3 </a:t>
            </a: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,width=</a:t>
            </a:r>
            <a:r>
              <a:rPr lang="en-US" sz="1425" b="0" i="0" u="none" strike="noStrike" cap="none" dirty="0" err="1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bar_width</a:t>
            </a: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, label= </a:t>
            </a:r>
            <a:r>
              <a:rPr lang="en-US" sz="1425" b="0" i="0" u="none" strike="noStrike" cap="none" dirty="0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"PHCs (scaled)" </a:t>
            </a: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</a:p>
          <a:p>
            <a:pPr marL="0" marR="0" lvl="0" indent="0" algn="l" rtl="0">
              <a:lnSpc>
                <a:spcPct val="146818"/>
              </a:lnSpc>
              <a:spcBef>
                <a:spcPts val="0"/>
              </a:spcBef>
              <a:spcAft>
                <a:spcPts val="0"/>
              </a:spcAft>
              <a:buClr>
                <a:srgbClr val="E8F0E9"/>
              </a:buClr>
              <a:buSzPts val="1425"/>
              <a:buFont typeface="Courier New"/>
              <a:buNone/>
            </a:pPr>
            <a:r>
              <a:rPr lang="en-US" sz="1425" b="0" i="0" u="none" strike="noStrike" cap="none" dirty="0" err="1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plt.</a:t>
            </a:r>
            <a:r>
              <a:rPr lang="en-US" sz="1425" b="0" i="0" u="none" strike="noStrike" cap="none" dirty="0" err="1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legend</a:t>
            </a: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1425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1"/>
          <p:cNvSpPr/>
          <p:nvPr/>
        </p:nvSpPr>
        <p:spPr>
          <a:xfrm>
            <a:off x="1047750" y="8763000"/>
            <a:ext cx="16192500" cy="666750"/>
          </a:xfrm>
          <a:prstGeom prst="roundRect">
            <a:avLst>
              <a:gd name="adj" fmla="val 22857"/>
            </a:avLst>
          </a:prstGeom>
          <a:solidFill>
            <a:srgbClr val="FBEF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11"/>
          <p:cNvSpPr/>
          <p:nvPr/>
        </p:nvSpPr>
        <p:spPr>
          <a:xfrm>
            <a:off x="1047750" y="8763000"/>
            <a:ext cx="57150" cy="666750"/>
          </a:xfrm>
          <a:prstGeom prst="rect">
            <a:avLst/>
          </a:prstGeom>
          <a:solidFill>
            <a:srgbClr val="CE4A3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11"/>
          <p:cNvSpPr/>
          <p:nvPr/>
        </p:nvSpPr>
        <p:spPr>
          <a:xfrm>
            <a:off x="1428750" y="8953500"/>
            <a:ext cx="159734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1725"/>
              <a:buFont typeface="Arial"/>
              <a:buNone/>
            </a:pPr>
            <a:r>
              <a:rPr lang="en-US" sz="1725" b="0" i="0" u="none" strike="noStrike" cap="none">
                <a:solidFill>
                  <a:srgbClr val="47564E"/>
                </a:solidFill>
                <a:highlight>
                  <a:srgbClr val="FBEFE6"/>
                </a:highlight>
                <a:latin typeface="Arial"/>
                <a:ea typeface="Arial"/>
                <a:cs typeface="Arial"/>
                <a:sym typeface="Arial"/>
              </a:rPr>
              <a:t>Scaling a series to fit one axis is allowed — </a:t>
            </a:r>
            <a:r>
              <a:rPr lang="en-US" sz="1725" b="1" i="0" u="none" strike="noStrike" cap="non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only if the label says so</a:t>
            </a:r>
            <a:r>
              <a:rPr lang="en-US" sz="1725" b="0" i="0" u="none" strike="noStrike" cap="none">
                <a:solidFill>
                  <a:srgbClr val="47564E"/>
                </a:solidFill>
                <a:highlight>
                  <a:srgbClr val="FBEFE6"/>
                </a:highlight>
                <a:latin typeface="Arial"/>
                <a:ea typeface="Arial"/>
                <a:cs typeface="Arial"/>
                <a:sym typeface="Arial"/>
              </a:rPr>
              <a:t>. Silent scaling is a misleading chart.</a:t>
            </a:r>
            <a:endParaRPr sz="17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8" name="Google Shape;318;p1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7750" y="9658350"/>
            <a:ext cx="40292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11"/>
          <p:cNvSpPr/>
          <p:nvPr/>
        </p:nvSpPr>
        <p:spPr>
          <a:xfrm>
            <a:off x="1574502" y="9674225"/>
            <a:ext cx="4108763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lang="en-US" sz="1425" b="0" i="0" u="none" strike="noStrike" cap="non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1"/>
          <p:cNvSpPr/>
          <p:nvPr/>
        </p:nvSpPr>
        <p:spPr>
          <a:xfrm>
            <a:off x="14435634" y="9674225"/>
            <a:ext cx="2541091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lang="en-US" sz="1425" b="0" i="0" u="none" strike="noStrike" cap="non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1"/>
          <p:cNvSpPr/>
          <p:nvPr/>
        </p:nvSpPr>
        <p:spPr>
          <a:xfrm>
            <a:off x="17129125" y="9674225"/>
            <a:ext cx="187325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lang="en-US" sz="1425" b="0" i="0" u="none" strike="noStrike" cap="non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2"/>
          <p:cNvSpPr/>
          <p:nvPr/>
        </p:nvSpPr>
        <p:spPr>
          <a:xfrm>
            <a:off x="14287500" y="-1524000"/>
            <a:ext cx="5334000" cy="5334000"/>
          </a:xfrm>
          <a:prstGeom prst="ellipse">
            <a:avLst/>
          </a:prstGeom>
          <a:solidFill>
            <a:srgbClr val="CE4A32">
              <a:alpha val="784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12"/>
          <p:cNvSpPr/>
          <p:nvPr/>
        </p:nvSpPr>
        <p:spPr>
          <a:xfrm>
            <a:off x="1047750" y="3096419"/>
            <a:ext cx="2436713" cy="533400"/>
          </a:xfrm>
          <a:prstGeom prst="roundRect">
            <a:avLst>
              <a:gd name="adj" fmla="val 50000"/>
            </a:avLst>
          </a:prstGeom>
          <a:solidFill>
            <a:srgbClr val="CE4A3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12"/>
          <p:cNvSpPr/>
          <p:nvPr/>
        </p:nvSpPr>
        <p:spPr>
          <a:xfrm>
            <a:off x="1295400" y="3296444"/>
            <a:ext cx="133350" cy="1333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12"/>
          <p:cNvSpPr/>
          <p:nvPr/>
        </p:nvSpPr>
        <p:spPr>
          <a:xfrm>
            <a:off x="1562100" y="3229769"/>
            <a:ext cx="1750913" cy="29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LIVE CODING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2"/>
          <p:cNvSpPr/>
          <p:nvPr/>
        </p:nvSpPr>
        <p:spPr>
          <a:xfrm>
            <a:off x="1047750" y="3972719"/>
            <a:ext cx="17811750" cy="931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88528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6900"/>
              <a:buFont typeface="Arial"/>
              <a:buNone/>
            </a:pPr>
            <a:r>
              <a:rPr lang="en-US" sz="6900" b="1" i="0" u="none" strike="noStrike" cap="non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Switch to the notebook</a:t>
            </a:r>
            <a:endParaRPr sz="6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2"/>
          <p:cNvSpPr/>
          <p:nvPr/>
        </p:nvSpPr>
        <p:spPr>
          <a:xfrm>
            <a:off x="1047750" y="5285581"/>
            <a:ext cx="8795147" cy="882650"/>
          </a:xfrm>
          <a:prstGeom prst="roundRect">
            <a:avLst>
              <a:gd name="adj" fmla="val 19424"/>
            </a:avLst>
          </a:prstGeom>
          <a:solidFill>
            <a:srgbClr val="FFFFFF"/>
          </a:solidFill>
          <a:ln w="9525" cap="flat" cmpd="sng">
            <a:solidFill>
              <a:srgbClr val="DCE6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12"/>
          <p:cNvSpPr/>
          <p:nvPr/>
        </p:nvSpPr>
        <p:spPr>
          <a:xfrm>
            <a:off x="1377950" y="5587207"/>
            <a:ext cx="2779157" cy="3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950"/>
              <a:buFont typeface="Courier New"/>
              <a:buNone/>
            </a:pPr>
            <a:r>
              <a:rPr lang="en-US" sz="1950" b="1" i="0" u="none" strike="noStrike" cap="none">
                <a:solidFill>
                  <a:srgbClr val="1F9D57"/>
                </a:solidFill>
                <a:latin typeface="Courier New"/>
                <a:ea typeface="Courier New"/>
                <a:cs typeface="Courier New"/>
                <a:sym typeface="Courier New"/>
              </a:rPr>
              <a:t>Notebook Sections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2"/>
          <p:cNvSpPr/>
          <p:nvPr/>
        </p:nvSpPr>
        <p:spPr>
          <a:xfrm>
            <a:off x="4094956" y="5564981"/>
            <a:ext cx="19050" cy="323850"/>
          </a:xfrm>
          <a:prstGeom prst="rect">
            <a:avLst/>
          </a:prstGeom>
          <a:solidFill>
            <a:srgbClr val="C9D6C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12"/>
          <p:cNvSpPr/>
          <p:nvPr/>
        </p:nvSpPr>
        <p:spPr>
          <a:xfrm>
            <a:off x="4304506" y="5539582"/>
            <a:ext cx="5729010" cy="412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250"/>
              <a:buFont typeface="Arial"/>
              <a:buNone/>
            </a:pPr>
            <a:r>
              <a:rPr lang="en-US" sz="2250" b="0" i="0" u="none" strike="noStrike" cap="non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1–3 · Datasets · Matplotlib · Chart Choice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2"/>
          <p:cNvSpPr/>
          <p:nvPr/>
        </p:nvSpPr>
        <p:spPr>
          <a:xfrm>
            <a:off x="1047750" y="6492082"/>
            <a:ext cx="11282363" cy="7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Build both CSVs → line, bar, scatter, histogram, box → pie by groupby → grouped bar. Predict every chart before you run it.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7" name="Google Shape;337;p1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7750" y="9658350"/>
            <a:ext cx="40292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12"/>
          <p:cNvSpPr/>
          <p:nvPr/>
        </p:nvSpPr>
        <p:spPr>
          <a:xfrm>
            <a:off x="1574502" y="9674225"/>
            <a:ext cx="4108763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lang="en-US" sz="1425" b="0" i="0" u="none" strike="noStrike" cap="non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2"/>
          <p:cNvSpPr/>
          <p:nvPr/>
        </p:nvSpPr>
        <p:spPr>
          <a:xfrm>
            <a:off x="14387315" y="9674225"/>
            <a:ext cx="2541091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lang="en-US" sz="1425" b="0" i="0" u="none" strike="noStrike" cap="non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2"/>
          <p:cNvSpPr/>
          <p:nvPr/>
        </p:nvSpPr>
        <p:spPr>
          <a:xfrm>
            <a:off x="17080806" y="9674225"/>
            <a:ext cx="235645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lang="en-US" sz="1425" b="0" i="0" u="none" strike="noStrike" cap="non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4"/>
        </a:solidFill>
        <a:effectLst/>
      </p:bgPr>
    </p:bg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3"/>
          <p:cNvSpPr/>
          <p:nvPr/>
        </p:nvSpPr>
        <p:spPr>
          <a:xfrm>
            <a:off x="12673807" y="3048000"/>
            <a:ext cx="5127863" cy="42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86957"/>
              </a:lnSpc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33000"/>
              <a:buFont typeface="Arial"/>
              <a:buNone/>
            </a:pPr>
            <a:r>
              <a:rPr lang="en-US" sz="33000" b="1" i="0" u="none" strike="noStrike" cap="non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3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3"/>
          <p:cNvSpPr/>
          <p:nvPr/>
        </p:nvSpPr>
        <p:spPr>
          <a:xfrm>
            <a:off x="1047750" y="4035822"/>
            <a:ext cx="17811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E4A32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CE4A32"/>
                </a:solidFill>
                <a:latin typeface="Arial"/>
                <a:ea typeface="Arial"/>
                <a:cs typeface="Arial"/>
                <a:sym typeface="Arial"/>
              </a:rPr>
              <a:t>CHAPTER 02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3"/>
          <p:cNvSpPr/>
          <p:nvPr/>
        </p:nvSpPr>
        <p:spPr>
          <a:xfrm>
            <a:off x="1047750" y="4569222"/>
            <a:ext cx="13096875" cy="970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88482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7200"/>
              <a:buFont typeface="Arial"/>
              <a:buNone/>
            </a:pPr>
            <a:r>
              <a:rPr lang="en-US" sz="7200" b="1" i="0" u="none" strike="noStrike" cap="non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Seaborn &amp; Plotly</a:t>
            </a:r>
            <a:endParaRPr sz="7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3"/>
          <p:cNvSpPr/>
          <p:nvPr/>
        </p:nvSpPr>
        <p:spPr>
          <a:xfrm>
            <a:off x="1047750" y="5825728"/>
            <a:ext cx="10058400" cy="463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2550"/>
              <a:buFont typeface="Arial"/>
              <a:buNone/>
            </a:pPr>
            <a:r>
              <a:rPr lang="en-US" sz="2550" b="0" i="0" u="none" strike="noStrike" cap="non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Prettier by default. Interactive on demand.</a:t>
            </a:r>
            <a:endParaRPr sz="2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0" name="Google Shape;350;p1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7750" y="9658350"/>
            <a:ext cx="40292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13"/>
          <p:cNvSpPr/>
          <p:nvPr/>
        </p:nvSpPr>
        <p:spPr>
          <a:xfrm>
            <a:off x="1574502" y="9674225"/>
            <a:ext cx="4108763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lang="en-US" sz="1425" b="0" i="0" u="none" strike="noStrike" cap="non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3"/>
          <p:cNvSpPr/>
          <p:nvPr/>
        </p:nvSpPr>
        <p:spPr>
          <a:xfrm>
            <a:off x="14384536" y="9674225"/>
            <a:ext cx="2541091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lang="en-US" sz="1425" b="0" i="0" u="none" strike="noStrike" cap="non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3"/>
          <p:cNvSpPr/>
          <p:nvPr/>
        </p:nvSpPr>
        <p:spPr>
          <a:xfrm>
            <a:off x="17078027" y="9674225"/>
            <a:ext cx="238423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lang="en-US" sz="1425" b="0" i="0" u="none" strike="noStrike" cap="non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4"/>
          <p:cNvSpPr/>
          <p:nvPr/>
        </p:nvSpPr>
        <p:spPr>
          <a:xfrm>
            <a:off x="1047750" y="914400"/>
            <a:ext cx="17811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SEABORN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4"/>
          <p:cNvSpPr/>
          <p:nvPr/>
        </p:nvSpPr>
        <p:spPr>
          <a:xfrm>
            <a:off x="1047750" y="1390650"/>
            <a:ext cx="17811750" cy="643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92621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4500"/>
              <a:buFont typeface="Arial"/>
              <a:buNone/>
            </a:pPr>
            <a:r>
              <a:rPr lang="en-US" sz="4500" b="1" i="0" u="none" strike="noStrike" cap="non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One line, better defaults</a:t>
            </a:r>
            <a:endParaRPr sz="4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4"/>
          <p:cNvSpPr/>
          <p:nvPr/>
        </p:nvSpPr>
        <p:spPr>
          <a:xfrm>
            <a:off x="1047750" y="2110680"/>
            <a:ext cx="136207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21154"/>
              </a:lnSpc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2250"/>
              <a:buFont typeface="Arial"/>
              <a:buNone/>
            </a:pPr>
            <a:r>
              <a:rPr lang="en-US" sz="2250" b="0" i="0" u="none" strike="noStrike" cap="non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Give it the DataFrame and the column names — Seaborn handles the rest, on top of Matplotlib.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4"/>
          <p:cNvSpPr/>
          <p:nvPr/>
        </p:nvSpPr>
        <p:spPr>
          <a:xfrm>
            <a:off x="1047750" y="2796480"/>
            <a:ext cx="8282186" cy="2033191"/>
          </a:xfrm>
          <a:prstGeom prst="roundRect">
            <a:avLst>
              <a:gd name="adj" fmla="val 8433"/>
            </a:avLst>
          </a:prstGeom>
          <a:solidFill>
            <a:srgbClr val="0C2E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14"/>
          <p:cNvSpPr/>
          <p:nvPr/>
        </p:nvSpPr>
        <p:spPr>
          <a:xfrm>
            <a:off x="1371600" y="3044130"/>
            <a:ext cx="7882952" cy="157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46818"/>
              </a:lnSpc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425"/>
              <a:buFont typeface="Courier New"/>
              <a:buNone/>
            </a:pPr>
            <a:r>
              <a:rPr lang="en-US" sz="1425" b="0" i="0" u="none" strike="noStrike" cap="none" dirty="0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seaborn </a:t>
            </a:r>
            <a:r>
              <a:rPr lang="en-US" sz="1425" b="0" i="0" u="none" strike="noStrike" cap="none" dirty="0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as </a:t>
            </a:r>
            <a:r>
              <a:rPr lang="en-US" sz="1425" b="0" i="0" u="none" strike="noStrike" cap="none" dirty="0" err="1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sns</a:t>
            </a: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</a:p>
          <a:p>
            <a:pPr marL="0" marR="0" lvl="0" indent="0" algn="l" rtl="0">
              <a:lnSpc>
                <a:spcPct val="146818"/>
              </a:lnSpc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425"/>
              <a:buFont typeface="Courier New"/>
              <a:buNone/>
            </a:pP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ordered = </a:t>
            </a:r>
            <a:r>
              <a:rPr lang="en-US" sz="1425" b="0" i="0" u="none" strike="noStrike" cap="none" dirty="0" err="1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states.</a:t>
            </a:r>
            <a:r>
              <a:rPr lang="en-US" sz="1425" b="0" i="0" u="none" strike="noStrike" cap="none" dirty="0" err="1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sort_values</a:t>
            </a: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425" b="0" i="0" u="none" strike="noStrike" cap="none" dirty="0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25" b="0" i="0" u="none" strike="noStrike" cap="none" dirty="0" err="1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ForestCover</a:t>
            </a:r>
            <a:r>
              <a:rPr lang="en-US" sz="1425" b="0" i="0" u="none" strike="noStrike" cap="none" dirty="0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, ascending=</a:t>
            </a:r>
            <a:r>
              <a:rPr lang="en-US" sz="1425" b="0" i="0" u="none" strike="noStrike" cap="none" dirty="0">
                <a:solidFill>
                  <a:srgbClr val="F0B060"/>
                </a:solidFill>
                <a:latin typeface="Courier New"/>
                <a:ea typeface="Courier New"/>
                <a:cs typeface="Courier New"/>
                <a:sym typeface="Courier New"/>
              </a:rPr>
              <a:t>False </a:t>
            </a: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n-US" sz="1425" b="0" i="0" u="none" strike="noStrike" cap="none" dirty="0" err="1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sns.</a:t>
            </a:r>
            <a:r>
              <a:rPr lang="en-US" sz="1425" b="0" i="0" u="none" strike="noStrike" cap="none" dirty="0" err="1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barplot</a:t>
            </a: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(data=ordered, x=</a:t>
            </a:r>
            <a:r>
              <a:rPr lang="en-US" sz="1425" b="0" i="0" u="none" strike="noStrike" cap="none" dirty="0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"State"</a:t>
            </a: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, y=</a:t>
            </a:r>
            <a:r>
              <a:rPr lang="en-US" sz="1425" b="0" i="0" u="none" strike="noStrike" cap="none" dirty="0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25" b="0" i="0" u="none" strike="noStrike" cap="none" dirty="0" err="1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ForestCover</a:t>
            </a:r>
            <a:r>
              <a:rPr lang="en-US" sz="1425" b="0" i="0" u="none" strike="noStrike" cap="none" dirty="0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 </a:t>
            </a: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, color= </a:t>
            </a:r>
            <a:r>
              <a:rPr lang="en-US" sz="1425" b="0" i="0" u="none" strike="noStrike" cap="none" dirty="0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25" b="0" i="0" u="none" strike="noStrike" cap="none" dirty="0" err="1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seagreen</a:t>
            </a:r>
            <a:r>
              <a:rPr lang="en-US" sz="1425" b="0" i="0" u="none" strike="noStrike" cap="none" dirty="0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25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4"/>
          <p:cNvSpPr/>
          <p:nvPr/>
        </p:nvSpPr>
        <p:spPr>
          <a:xfrm>
            <a:off x="1047750" y="5020171"/>
            <a:ext cx="8282186" cy="1725613"/>
          </a:xfrm>
          <a:prstGeom prst="roundRect">
            <a:avLst>
              <a:gd name="adj" fmla="val 9936"/>
            </a:avLst>
          </a:prstGeom>
          <a:solidFill>
            <a:srgbClr val="0C2E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14"/>
          <p:cNvSpPr/>
          <p:nvPr/>
        </p:nvSpPr>
        <p:spPr>
          <a:xfrm>
            <a:off x="1371600" y="5267821"/>
            <a:ext cx="7882952" cy="1268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46818"/>
              </a:lnSpc>
              <a:spcBef>
                <a:spcPts val="0"/>
              </a:spcBef>
              <a:spcAft>
                <a:spcPts val="0"/>
              </a:spcAft>
              <a:buClr>
                <a:srgbClr val="E8F0E9"/>
              </a:buClr>
              <a:buSzPts val="1425"/>
              <a:buFont typeface="Courier New"/>
              <a:buNone/>
            </a:pP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correlation = health[[</a:t>
            </a:r>
            <a:r>
              <a:rPr lang="en-US" sz="1425" b="0" i="0" u="none" strike="noStrike" cap="none" dirty="0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"Hospitals"</a:t>
            </a: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425" b="0" i="0" u="none" strike="noStrike" cap="none" dirty="0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"PHCs"</a:t>
            </a: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425" b="0" i="0" u="none" strike="noStrike" cap="none" dirty="0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"Doctors"</a:t>
            </a: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425" b="0" i="0" u="none" strike="noStrike" cap="none" dirty="0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"Population"</a:t>
            </a: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425" b="0" i="0" u="none" strike="noStrike" cap="none" dirty="0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25" b="0" i="0" u="none" strike="noStrike" cap="none" dirty="0" err="1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LiteracyRate</a:t>
            </a:r>
            <a:r>
              <a:rPr lang="en-US" sz="1425" b="0" i="0" u="none" strike="noStrike" cap="none" dirty="0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]].</a:t>
            </a:r>
            <a:r>
              <a:rPr lang="en-US" sz="1425" b="0" i="0" u="none" strike="noStrike" cap="none" dirty="0" err="1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corr</a:t>
            </a:r>
            <a:r>
              <a:rPr lang="en-US" sz="1425" b="0" i="0" u="none" strike="noStrike" cap="none" dirty="0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() </a:t>
            </a:r>
          </a:p>
          <a:p>
            <a:pPr marL="0" marR="0" lvl="0" indent="0" algn="l" rtl="0">
              <a:lnSpc>
                <a:spcPct val="146818"/>
              </a:lnSpc>
              <a:spcBef>
                <a:spcPts val="0"/>
              </a:spcBef>
              <a:spcAft>
                <a:spcPts val="0"/>
              </a:spcAft>
              <a:buClr>
                <a:srgbClr val="E8F0E9"/>
              </a:buClr>
              <a:buSzPts val="1425"/>
              <a:buFont typeface="Courier New"/>
              <a:buNone/>
            </a:pPr>
            <a:r>
              <a:rPr lang="en-US" sz="1425" b="0" i="0" u="none" strike="noStrike" cap="none" dirty="0" err="1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sns.</a:t>
            </a:r>
            <a:r>
              <a:rPr lang="en-US" sz="1425" b="0" i="0" u="none" strike="noStrike" cap="none" dirty="0" err="1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heatmap</a:t>
            </a: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(correlation, </a:t>
            </a:r>
            <a:r>
              <a:rPr lang="en-US" sz="1425" b="0" i="0" u="none" strike="noStrike" cap="none" dirty="0" err="1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annot</a:t>
            </a: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425" b="0" i="0" u="none" strike="noStrike" cap="none" dirty="0">
                <a:solidFill>
                  <a:srgbClr val="F0B060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425" b="0" i="0" u="none" strike="noStrike" cap="none" dirty="0" err="1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cmap</a:t>
            </a: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425" b="0" i="0" u="none" strike="noStrike" cap="none" dirty="0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"Blues"</a:t>
            </a: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425" b="0" i="0" u="none" strike="noStrike" cap="none" dirty="0" err="1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fmt</a:t>
            </a: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425" b="0" i="0" u="none" strike="noStrike" cap="none" dirty="0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".2f"</a:t>
            </a: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25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4"/>
          <p:cNvSpPr/>
          <p:nvPr/>
        </p:nvSpPr>
        <p:spPr>
          <a:xfrm>
            <a:off x="9710936" y="2796480"/>
            <a:ext cx="7529314" cy="974824"/>
          </a:xfrm>
          <a:prstGeom prst="roundRect">
            <a:avLst>
              <a:gd name="adj" fmla="val 15634"/>
            </a:avLst>
          </a:prstGeom>
          <a:solidFill>
            <a:srgbClr val="F4F7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14"/>
          <p:cNvSpPr/>
          <p:nvPr/>
        </p:nvSpPr>
        <p:spPr>
          <a:xfrm>
            <a:off x="9996686" y="3006030"/>
            <a:ext cx="7653596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725"/>
              <a:buFont typeface="Arial"/>
              <a:buNone/>
            </a:pPr>
            <a:r>
              <a:rPr lang="en-US" sz="1725" b="1" i="0" u="none" strike="noStrike" cap="non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Cleaner defaults</a:t>
            </a:r>
            <a:endParaRPr sz="17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4"/>
          <p:cNvSpPr/>
          <p:nvPr/>
        </p:nvSpPr>
        <p:spPr>
          <a:xfrm>
            <a:off x="9996686" y="3291780"/>
            <a:ext cx="7653596" cy="3080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14932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575"/>
              <a:buFont typeface="Arial"/>
              <a:buNone/>
            </a:pPr>
            <a:r>
              <a:rPr lang="en-US" sz="1575" b="0" i="0" u="none" strike="noStrike" cap="non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Themes and colour palettes chosen for you.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4"/>
          <p:cNvSpPr/>
          <p:nvPr/>
        </p:nvSpPr>
        <p:spPr>
          <a:xfrm>
            <a:off x="9710936" y="3923705"/>
            <a:ext cx="7529314" cy="981174"/>
          </a:xfrm>
          <a:prstGeom prst="roundRect">
            <a:avLst>
              <a:gd name="adj" fmla="val 15532"/>
            </a:avLst>
          </a:prstGeom>
          <a:solidFill>
            <a:srgbClr val="F4F7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14"/>
          <p:cNvSpPr/>
          <p:nvPr/>
        </p:nvSpPr>
        <p:spPr>
          <a:xfrm>
            <a:off x="9996686" y="4133255"/>
            <a:ext cx="7653596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725"/>
              <a:buFont typeface="Arial"/>
              <a:buNone/>
            </a:pPr>
            <a:r>
              <a:rPr lang="en-US" sz="1725" b="1" i="0" u="none" strike="noStrike" cap="non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DataFrame-native</a:t>
            </a:r>
            <a:endParaRPr sz="17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4"/>
          <p:cNvSpPr/>
          <p:nvPr/>
        </p:nvSpPr>
        <p:spPr>
          <a:xfrm>
            <a:off x="9996686" y="4419005"/>
            <a:ext cx="7653596" cy="314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14932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575"/>
              <a:buFont typeface="Courier New"/>
              <a:buNone/>
            </a:pPr>
            <a:r>
              <a:rPr lang="en-US" sz="1575" b="0" i="0" u="none" strike="noStrike" cap="none">
                <a:solidFill>
                  <a:srgbClr val="5B6B62"/>
                </a:solidFill>
                <a:latin typeface="Courier New"/>
                <a:ea typeface="Courier New"/>
                <a:cs typeface="Courier New"/>
                <a:sym typeface="Courier New"/>
              </a:rPr>
              <a:t>data= </a:t>
            </a:r>
            <a:r>
              <a:rPr lang="en-US" sz="1575" b="0" i="0" u="none" strike="noStrike" cap="non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plus column names — no slicing.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4"/>
          <p:cNvSpPr/>
          <p:nvPr/>
        </p:nvSpPr>
        <p:spPr>
          <a:xfrm>
            <a:off x="9710936" y="5057279"/>
            <a:ext cx="7529314" cy="974824"/>
          </a:xfrm>
          <a:prstGeom prst="roundRect">
            <a:avLst>
              <a:gd name="adj" fmla="val 15634"/>
            </a:avLst>
          </a:prstGeom>
          <a:solidFill>
            <a:srgbClr val="F4F7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14"/>
          <p:cNvSpPr/>
          <p:nvPr/>
        </p:nvSpPr>
        <p:spPr>
          <a:xfrm>
            <a:off x="9996686" y="5266829"/>
            <a:ext cx="7653596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725"/>
              <a:buFont typeface="Arial"/>
              <a:buNone/>
            </a:pPr>
            <a:r>
              <a:rPr lang="en-US" sz="1725" b="1" i="0" u="none" strike="noStrike" cap="non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Statistical charts</a:t>
            </a:r>
            <a:endParaRPr sz="17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4"/>
          <p:cNvSpPr/>
          <p:nvPr/>
        </p:nvSpPr>
        <p:spPr>
          <a:xfrm>
            <a:off x="9996686" y="5552579"/>
            <a:ext cx="7653596" cy="3080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14932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575"/>
              <a:buFont typeface="Arial"/>
              <a:buNone/>
            </a:pPr>
            <a:r>
              <a:rPr lang="en-US" sz="1575" b="0" i="0" u="none" strike="noStrike" cap="non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Distribution, categorical and relationship plots.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4"/>
          <p:cNvSpPr/>
          <p:nvPr/>
        </p:nvSpPr>
        <p:spPr>
          <a:xfrm>
            <a:off x="9710936" y="6184503"/>
            <a:ext cx="7529314" cy="974824"/>
          </a:xfrm>
          <a:prstGeom prst="roundRect">
            <a:avLst>
              <a:gd name="adj" fmla="val 15634"/>
            </a:avLst>
          </a:prstGeom>
          <a:solidFill>
            <a:srgbClr val="0C2E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14"/>
          <p:cNvSpPr/>
          <p:nvPr/>
        </p:nvSpPr>
        <p:spPr>
          <a:xfrm>
            <a:off x="9996686" y="6394053"/>
            <a:ext cx="7653596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725"/>
              <a:buFont typeface="Arial"/>
              <a:buNone/>
            </a:pPr>
            <a:r>
              <a:rPr lang="en-US" sz="1725" b="1" i="0" u="none" strike="noStrike" cap="none">
                <a:solidFill>
                  <a:srgbClr val="7FD6A0"/>
                </a:solidFill>
                <a:latin typeface="Arial"/>
                <a:ea typeface="Arial"/>
                <a:cs typeface="Arial"/>
                <a:sym typeface="Arial"/>
              </a:rPr>
              <a:t>Correlation heatmap</a:t>
            </a:r>
            <a:endParaRPr sz="17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4"/>
          <p:cNvSpPr/>
          <p:nvPr/>
        </p:nvSpPr>
        <p:spPr>
          <a:xfrm>
            <a:off x="9996686" y="6679803"/>
            <a:ext cx="7653596" cy="3080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1493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</a:pPr>
            <a:r>
              <a:rPr lang="en-US" sz="1575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Closer to 1 = stronger link. Still not causation.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4"/>
          <p:cNvSpPr/>
          <p:nvPr/>
        </p:nvSpPr>
        <p:spPr>
          <a:xfrm>
            <a:off x="9710936" y="7311728"/>
            <a:ext cx="7529314" cy="705445"/>
          </a:xfrm>
          <a:prstGeom prst="roundRect">
            <a:avLst>
              <a:gd name="adj" fmla="val 21603"/>
            </a:avLst>
          </a:prstGeom>
          <a:solidFill>
            <a:srgbClr val="EAF3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14"/>
          <p:cNvSpPr/>
          <p:nvPr/>
        </p:nvSpPr>
        <p:spPr>
          <a:xfrm>
            <a:off x="9996686" y="7521278"/>
            <a:ext cx="7653596" cy="324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19189"/>
              </a:lnSpc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1575"/>
              <a:buFont typeface="Arial"/>
              <a:buNone/>
            </a:pPr>
            <a:r>
              <a:rPr lang="en-US" sz="1575" b="0" i="0" u="none" strike="noStrike" cap="non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Seaborn draws; </a:t>
            </a:r>
            <a:r>
              <a:rPr lang="en-US" sz="1575" b="0" i="0" u="none" strike="noStrike" cap="none">
                <a:solidFill>
                  <a:srgbClr val="47564E"/>
                </a:solidFill>
                <a:latin typeface="Courier New"/>
                <a:ea typeface="Courier New"/>
                <a:cs typeface="Courier New"/>
                <a:sym typeface="Courier New"/>
              </a:rPr>
              <a:t>plt </a:t>
            </a:r>
            <a:r>
              <a:rPr lang="en-US" sz="1575" b="0" i="0" u="none" strike="noStrike" cap="non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still owns the title, ticks and </a:t>
            </a:r>
            <a:r>
              <a:rPr lang="en-US" sz="1575" b="0" i="0" u="none" strike="noStrike" cap="none">
                <a:solidFill>
                  <a:srgbClr val="47564E"/>
                </a:solidFill>
                <a:latin typeface="Courier New"/>
                <a:ea typeface="Courier New"/>
                <a:cs typeface="Courier New"/>
                <a:sym typeface="Courier New"/>
              </a:rPr>
              <a:t>show()</a:t>
            </a:r>
            <a:r>
              <a:rPr lang="en-US" sz="1575" b="0" i="0" u="none" strike="noStrike" cap="non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0" name="Google Shape;380;p1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7750" y="9658350"/>
            <a:ext cx="40292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14"/>
          <p:cNvSpPr/>
          <p:nvPr/>
        </p:nvSpPr>
        <p:spPr>
          <a:xfrm>
            <a:off x="1574502" y="9674225"/>
            <a:ext cx="4108763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lang="en-US" sz="1425" b="0" i="0" u="none" strike="noStrike" cap="non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4"/>
          <p:cNvSpPr/>
          <p:nvPr/>
        </p:nvSpPr>
        <p:spPr>
          <a:xfrm>
            <a:off x="14381461" y="9674225"/>
            <a:ext cx="2541091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lang="en-US" sz="1425" b="0" i="0" u="none" strike="noStrike" cap="non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4"/>
          <p:cNvSpPr/>
          <p:nvPr/>
        </p:nvSpPr>
        <p:spPr>
          <a:xfrm>
            <a:off x="17074952" y="9674225"/>
            <a:ext cx="241498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lang="en-US" sz="1425" b="0" i="0" u="none" strike="noStrike" cap="non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5"/>
          <p:cNvSpPr/>
          <p:nvPr/>
        </p:nvSpPr>
        <p:spPr>
          <a:xfrm>
            <a:off x="14287500" y="-1524000"/>
            <a:ext cx="5334000" cy="5334000"/>
          </a:xfrm>
          <a:prstGeom prst="ellipse">
            <a:avLst/>
          </a:prstGeom>
          <a:solidFill>
            <a:srgbClr val="CE4A32">
              <a:alpha val="784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15"/>
          <p:cNvSpPr/>
          <p:nvPr/>
        </p:nvSpPr>
        <p:spPr>
          <a:xfrm>
            <a:off x="1047750" y="3096419"/>
            <a:ext cx="2436713" cy="533400"/>
          </a:xfrm>
          <a:prstGeom prst="roundRect">
            <a:avLst>
              <a:gd name="adj" fmla="val 50000"/>
            </a:avLst>
          </a:prstGeom>
          <a:solidFill>
            <a:srgbClr val="CE4A3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15"/>
          <p:cNvSpPr/>
          <p:nvPr/>
        </p:nvSpPr>
        <p:spPr>
          <a:xfrm>
            <a:off x="1295400" y="3296444"/>
            <a:ext cx="133350" cy="1333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15"/>
          <p:cNvSpPr/>
          <p:nvPr/>
        </p:nvSpPr>
        <p:spPr>
          <a:xfrm>
            <a:off x="1562100" y="3229769"/>
            <a:ext cx="1750913" cy="29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LIVE CODING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5"/>
          <p:cNvSpPr/>
          <p:nvPr/>
        </p:nvSpPr>
        <p:spPr>
          <a:xfrm>
            <a:off x="1047750" y="3972719"/>
            <a:ext cx="17811750" cy="931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88528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6900"/>
              <a:buFont typeface="Arial"/>
              <a:buNone/>
            </a:pPr>
            <a:r>
              <a:rPr lang="en-US" sz="6900" b="1" i="0" u="none" strike="noStrike" cap="non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Switch to the notebook</a:t>
            </a:r>
            <a:endParaRPr sz="6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5"/>
          <p:cNvSpPr/>
          <p:nvPr/>
        </p:nvSpPr>
        <p:spPr>
          <a:xfrm>
            <a:off x="1047750" y="5285581"/>
            <a:ext cx="5790406" cy="882650"/>
          </a:xfrm>
          <a:prstGeom prst="roundRect">
            <a:avLst>
              <a:gd name="adj" fmla="val 19424"/>
            </a:avLst>
          </a:prstGeom>
          <a:solidFill>
            <a:srgbClr val="FFFFFF"/>
          </a:solidFill>
          <a:ln w="9525" cap="flat" cmpd="sng">
            <a:solidFill>
              <a:srgbClr val="DCE6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15"/>
          <p:cNvSpPr/>
          <p:nvPr/>
        </p:nvSpPr>
        <p:spPr>
          <a:xfrm>
            <a:off x="1377950" y="5587207"/>
            <a:ext cx="2615664" cy="3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950"/>
              <a:buFont typeface="Courier New"/>
              <a:buNone/>
            </a:pPr>
            <a:r>
              <a:rPr lang="en-US" sz="1950" b="1" i="0" u="none" strike="noStrike" cap="none">
                <a:solidFill>
                  <a:srgbClr val="1F9D57"/>
                </a:solidFill>
                <a:latin typeface="Courier New"/>
                <a:ea typeface="Courier New"/>
                <a:cs typeface="Courier New"/>
                <a:sym typeface="Courier New"/>
              </a:rPr>
              <a:t>Notebook Section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5"/>
          <p:cNvSpPr/>
          <p:nvPr/>
        </p:nvSpPr>
        <p:spPr>
          <a:xfrm>
            <a:off x="3946327" y="5564981"/>
            <a:ext cx="19050" cy="323850"/>
          </a:xfrm>
          <a:prstGeom prst="rect">
            <a:avLst/>
          </a:prstGeom>
          <a:solidFill>
            <a:srgbClr val="C9D6C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15"/>
          <p:cNvSpPr/>
          <p:nvPr/>
        </p:nvSpPr>
        <p:spPr>
          <a:xfrm>
            <a:off x="4155877" y="5539582"/>
            <a:ext cx="2587288" cy="412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250"/>
              <a:buFont typeface="Arial"/>
              <a:buNone/>
            </a:pPr>
            <a:r>
              <a:rPr lang="en-US" sz="2250" b="0" i="0" u="none" strike="noStrike" cap="non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4 · Seaborn Basics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5"/>
          <p:cNvSpPr/>
          <p:nvPr/>
        </p:nvSpPr>
        <p:spPr>
          <a:xfrm>
            <a:off x="1047750" y="6492082"/>
            <a:ext cx="10791825" cy="7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Sorted barplot of forest cover → correlation heatmap of the healthcare indicators → read two cells aloud.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9" name="Google Shape;399;p1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7750" y="9658350"/>
            <a:ext cx="40292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15"/>
          <p:cNvSpPr/>
          <p:nvPr/>
        </p:nvSpPr>
        <p:spPr>
          <a:xfrm>
            <a:off x="1574502" y="9674225"/>
            <a:ext cx="4108763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lang="en-US" sz="1425" b="0" i="0" u="none" strike="noStrike" cap="non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5"/>
          <p:cNvSpPr/>
          <p:nvPr/>
        </p:nvSpPr>
        <p:spPr>
          <a:xfrm>
            <a:off x="14380568" y="9674225"/>
            <a:ext cx="2541091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lang="en-US" sz="1425" b="0" i="0" u="none" strike="noStrike" cap="non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5"/>
          <p:cNvSpPr/>
          <p:nvPr/>
        </p:nvSpPr>
        <p:spPr>
          <a:xfrm>
            <a:off x="17074059" y="9674225"/>
            <a:ext cx="242391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lang="en-US" sz="1425" b="0" i="0" u="none" strike="noStrike" cap="non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6"/>
          <p:cNvSpPr/>
          <p:nvPr/>
        </p:nvSpPr>
        <p:spPr>
          <a:xfrm>
            <a:off x="1047750" y="914400"/>
            <a:ext cx="17811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PLOTLY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6"/>
          <p:cNvSpPr/>
          <p:nvPr/>
        </p:nvSpPr>
        <p:spPr>
          <a:xfrm>
            <a:off x="1047750" y="1390650"/>
            <a:ext cx="17811750" cy="643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92621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4500"/>
              <a:buFont typeface="Arial"/>
              <a:buNone/>
            </a:pPr>
            <a:r>
              <a:rPr lang="en-US" sz="4500" b="1" i="0" u="none" strike="noStrike" cap="non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Charts you can hover</a:t>
            </a:r>
            <a:endParaRPr sz="4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6"/>
          <p:cNvSpPr/>
          <p:nvPr/>
        </p:nvSpPr>
        <p:spPr>
          <a:xfrm>
            <a:off x="1047750" y="2110680"/>
            <a:ext cx="136207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21154"/>
              </a:lnSpc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2250"/>
              <a:buFont typeface="Arial"/>
              <a:buNone/>
            </a:pPr>
            <a:r>
              <a:rPr lang="en-US" sz="2250" b="0" i="0" u="none" strike="noStrike" cap="non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Same inputs as Seaborn — the output is interactive instead of a picture.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6"/>
          <p:cNvSpPr/>
          <p:nvPr/>
        </p:nvSpPr>
        <p:spPr>
          <a:xfrm>
            <a:off x="1047750" y="2796480"/>
            <a:ext cx="8282186" cy="2033191"/>
          </a:xfrm>
          <a:prstGeom prst="roundRect">
            <a:avLst>
              <a:gd name="adj" fmla="val 8433"/>
            </a:avLst>
          </a:prstGeom>
          <a:solidFill>
            <a:srgbClr val="0C2E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16"/>
          <p:cNvSpPr/>
          <p:nvPr/>
        </p:nvSpPr>
        <p:spPr>
          <a:xfrm>
            <a:off x="1371600" y="3044130"/>
            <a:ext cx="7882952" cy="157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46818"/>
              </a:lnSpc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425"/>
              <a:buFont typeface="Courier New"/>
              <a:buNone/>
            </a:pPr>
            <a:r>
              <a:rPr lang="en-US" sz="1425" b="0" i="0" u="none" strike="noStrike" cap="none" dirty="0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lang="en-US" sz="1425" b="0" i="0" u="none" strike="noStrike" cap="none" dirty="0" err="1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plotly.express</a:t>
            </a: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25" b="0" i="0" u="none" strike="noStrike" cap="none" dirty="0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as </a:t>
            </a:r>
            <a:r>
              <a:rPr lang="en-US" sz="1425" b="0" i="0" u="none" strike="noStrike" cap="none" dirty="0" err="1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px</a:t>
            </a: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</a:p>
          <a:p>
            <a:pPr marL="0" marR="0" lvl="0" indent="0" algn="l" rtl="0">
              <a:lnSpc>
                <a:spcPct val="146818"/>
              </a:lnSpc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425"/>
              <a:buFont typeface="Courier New"/>
              <a:buNone/>
            </a:pP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fig = </a:t>
            </a:r>
            <a:r>
              <a:rPr lang="en-US" sz="1425" b="0" i="0" u="none" strike="noStrike" cap="none" dirty="0" err="1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px.</a:t>
            </a:r>
            <a:r>
              <a:rPr lang="en-US" sz="1425" b="0" i="0" u="none" strike="noStrike" cap="none" dirty="0" err="1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bar</a:t>
            </a: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(states, x=</a:t>
            </a:r>
            <a:r>
              <a:rPr lang="en-US" sz="1425" b="0" i="0" u="none" strike="noStrike" cap="none" dirty="0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"State"</a:t>
            </a: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, y=</a:t>
            </a:r>
            <a:r>
              <a:rPr lang="en-US" sz="1425" b="0" i="0" u="none" strike="noStrike" cap="none" dirty="0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25" b="0" i="0" u="none" strike="noStrike" cap="none" dirty="0" err="1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RenewableEnergy</a:t>
            </a:r>
            <a:r>
              <a:rPr lang="en-US" sz="1425" b="0" i="0" u="none" strike="noStrike" cap="none" dirty="0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 </a:t>
            </a: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, color=</a:t>
            </a:r>
            <a:r>
              <a:rPr lang="en-US" sz="1425" b="0" i="0" u="none" strike="noStrike" cap="none" dirty="0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25" b="0" i="0" u="none" strike="noStrike" cap="none" dirty="0" err="1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RenewableEnergy</a:t>
            </a:r>
            <a:r>
              <a:rPr lang="en-US" sz="1425" b="0" i="0" u="none" strike="noStrike" cap="none" dirty="0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425" b="0" i="0" u="none" strike="noStrike" cap="none" dirty="0" err="1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color_continuous_scale</a:t>
            </a: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425" b="0" i="0" u="none" strike="noStrike" cap="none" dirty="0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25" b="0" i="0" u="none" strike="noStrike" cap="none" dirty="0" err="1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Viridis</a:t>
            </a:r>
            <a:r>
              <a:rPr lang="en-US" sz="1425" b="0" i="0" u="none" strike="noStrike" cap="none" dirty="0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 </a:t>
            </a: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</a:p>
          <a:p>
            <a:pPr marL="0" marR="0" lvl="0" indent="0" algn="l" rtl="0">
              <a:lnSpc>
                <a:spcPct val="146818"/>
              </a:lnSpc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425"/>
              <a:buFont typeface="Courier New"/>
              <a:buNone/>
            </a:pPr>
            <a:r>
              <a:rPr lang="en-US" sz="1425" b="0" i="0" u="none" strike="noStrike" cap="none" dirty="0" err="1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fig.</a:t>
            </a:r>
            <a:r>
              <a:rPr lang="en-US" sz="1425" b="0" i="0" u="none" strike="noStrike" cap="none" dirty="0" err="1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show</a:t>
            </a: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1425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6"/>
          <p:cNvSpPr/>
          <p:nvPr/>
        </p:nvSpPr>
        <p:spPr>
          <a:xfrm>
            <a:off x="1047750" y="5020171"/>
            <a:ext cx="8282186" cy="1418034"/>
          </a:xfrm>
          <a:prstGeom prst="roundRect">
            <a:avLst>
              <a:gd name="adj" fmla="val 12091"/>
            </a:avLst>
          </a:prstGeom>
          <a:solidFill>
            <a:srgbClr val="0C2E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16"/>
          <p:cNvSpPr/>
          <p:nvPr/>
        </p:nvSpPr>
        <p:spPr>
          <a:xfrm>
            <a:off x="1371600" y="5267821"/>
            <a:ext cx="7882952" cy="960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77500" lnSpcReduction="20000"/>
          </a:bodyPr>
          <a:lstStyle/>
          <a:p>
            <a:pPr marL="0" marR="0" lvl="0" indent="0" algn="l" rtl="0">
              <a:lnSpc>
                <a:spcPct val="146818"/>
              </a:lnSpc>
              <a:spcBef>
                <a:spcPts val="0"/>
              </a:spcBef>
              <a:spcAft>
                <a:spcPts val="0"/>
              </a:spcAft>
              <a:buClr>
                <a:srgbClr val="E8F0E9"/>
              </a:buClr>
              <a:buSzPts val="1425"/>
              <a:buFont typeface="Courier New"/>
              <a:buNone/>
            </a:pP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fig = </a:t>
            </a:r>
            <a:r>
              <a:rPr lang="en-US" sz="1425" b="0" i="0" u="none" strike="noStrike" cap="none" dirty="0" err="1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px.</a:t>
            </a:r>
            <a:r>
              <a:rPr lang="en-US" sz="1425" b="0" i="0" u="none" strike="noStrike" cap="none" dirty="0" err="1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scatter</a:t>
            </a: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(health, x=</a:t>
            </a:r>
            <a:r>
              <a:rPr lang="en-US" sz="1425" b="0" i="0" u="none" strike="noStrike" cap="none" dirty="0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"Population"</a:t>
            </a: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, y=</a:t>
            </a:r>
            <a:r>
              <a:rPr lang="en-US" sz="1425" b="0" i="0" u="none" strike="noStrike" cap="none" dirty="0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"Doctors" </a:t>
            </a: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, size=</a:t>
            </a:r>
            <a:r>
              <a:rPr lang="en-US" sz="1425" b="0" i="0" u="none" strike="noStrike" cap="none" dirty="0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"Hospitals"</a:t>
            </a: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, color=</a:t>
            </a:r>
            <a:r>
              <a:rPr lang="en-US" sz="1425" b="0" i="0" u="none" strike="noStrike" cap="none" dirty="0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"State"</a:t>
            </a: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425" b="0" i="0" u="none" strike="noStrike" cap="none" dirty="0" err="1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hover_name</a:t>
            </a: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425" b="0" i="0" u="none" strike="noStrike" cap="none" dirty="0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"District" </a:t>
            </a: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</a:p>
          <a:p>
            <a:pPr marL="0" marR="0" lvl="0" indent="0" algn="l" rtl="0">
              <a:lnSpc>
                <a:spcPct val="146818"/>
              </a:lnSpc>
              <a:spcBef>
                <a:spcPts val="0"/>
              </a:spcBef>
              <a:spcAft>
                <a:spcPts val="0"/>
              </a:spcAft>
              <a:buClr>
                <a:srgbClr val="E8F0E9"/>
              </a:buClr>
              <a:buSzPts val="1425"/>
              <a:buFont typeface="Courier New"/>
              <a:buNone/>
            </a:pPr>
            <a:r>
              <a:rPr lang="en-US" sz="1425" b="0" i="0" u="none" strike="noStrike" cap="none" dirty="0" err="1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fig.</a:t>
            </a:r>
            <a:r>
              <a:rPr lang="en-US" sz="1425" b="0" i="0" u="none" strike="noStrike" cap="none" dirty="0" err="1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show</a:t>
            </a: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() </a:t>
            </a:r>
            <a:endParaRPr sz="1425" b="0" i="0" u="none" strike="noStrike" cap="none" dirty="0">
              <a:solidFill>
                <a:srgbClr val="E8F0E9"/>
              </a:solidFill>
              <a:highlight>
                <a:srgbClr val="0C2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46818"/>
              </a:lnSpc>
              <a:spcBef>
                <a:spcPts val="0"/>
              </a:spcBef>
              <a:spcAft>
                <a:spcPts val="0"/>
              </a:spcAft>
              <a:buClr>
                <a:srgbClr val="E8F0E9"/>
              </a:buClr>
              <a:buSzPts val="1425"/>
              <a:buFont typeface="Courier New"/>
              <a:buNone/>
            </a:pPr>
            <a:r>
              <a:rPr lang="en-US" sz="1425" b="0" i="0" u="none" strike="noStrike" cap="none" dirty="0">
                <a:solidFill>
                  <a:srgbClr val="9AA79F"/>
                </a:solidFill>
                <a:latin typeface="Courier New"/>
                <a:ea typeface="Courier New"/>
                <a:cs typeface="Courier New"/>
                <a:sym typeface="Courier New"/>
              </a:rPr>
              <a:t># five variables in one chart</a:t>
            </a:r>
            <a:endParaRPr sz="1425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6"/>
          <p:cNvSpPr/>
          <p:nvPr/>
        </p:nvSpPr>
        <p:spPr>
          <a:xfrm>
            <a:off x="9710936" y="2796480"/>
            <a:ext cx="3688457" cy="2195215"/>
          </a:xfrm>
          <a:prstGeom prst="roundRect">
            <a:avLst>
              <a:gd name="adj" fmla="val 6942"/>
            </a:avLst>
          </a:prstGeom>
          <a:solidFill>
            <a:srgbClr val="F4F7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16"/>
          <p:cNvSpPr/>
          <p:nvPr/>
        </p:nvSpPr>
        <p:spPr>
          <a:xfrm>
            <a:off x="9958586" y="3006030"/>
            <a:ext cx="3512473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725"/>
              <a:buFont typeface="Arial"/>
              <a:buNone/>
            </a:pPr>
            <a:r>
              <a:rPr lang="en-US" sz="1725" b="1" i="0" u="none" strike="noStrike" cap="non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Hover</a:t>
            </a:r>
            <a:endParaRPr sz="17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6"/>
          <p:cNvSpPr/>
          <p:nvPr/>
        </p:nvSpPr>
        <p:spPr>
          <a:xfrm>
            <a:off x="9958586" y="3291780"/>
            <a:ext cx="3288952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19118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Exact values without a label on every bar.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6"/>
          <p:cNvSpPr/>
          <p:nvPr/>
        </p:nvSpPr>
        <p:spPr>
          <a:xfrm>
            <a:off x="13551794" y="2796480"/>
            <a:ext cx="3688457" cy="2195215"/>
          </a:xfrm>
          <a:prstGeom prst="roundRect">
            <a:avLst>
              <a:gd name="adj" fmla="val 6942"/>
            </a:avLst>
          </a:prstGeom>
          <a:solidFill>
            <a:srgbClr val="F4F7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16"/>
          <p:cNvSpPr/>
          <p:nvPr/>
        </p:nvSpPr>
        <p:spPr>
          <a:xfrm>
            <a:off x="13799444" y="3006030"/>
            <a:ext cx="3512473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725"/>
              <a:buFont typeface="Arial"/>
              <a:buNone/>
            </a:pPr>
            <a:r>
              <a:rPr lang="en-US" sz="1725" b="1" i="0" u="none" strike="noStrike" cap="non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Zoom &amp; pan</a:t>
            </a:r>
            <a:endParaRPr sz="17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6"/>
          <p:cNvSpPr/>
          <p:nvPr/>
        </p:nvSpPr>
        <p:spPr>
          <a:xfrm>
            <a:off x="13799444" y="3291780"/>
            <a:ext cx="3288952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19118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Drag into a crowded region, double-click to reset.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6"/>
          <p:cNvSpPr/>
          <p:nvPr/>
        </p:nvSpPr>
        <p:spPr>
          <a:xfrm>
            <a:off x="9710936" y="5144095"/>
            <a:ext cx="3688457" cy="1938040"/>
          </a:xfrm>
          <a:prstGeom prst="roundRect">
            <a:avLst>
              <a:gd name="adj" fmla="val 7864"/>
            </a:avLst>
          </a:prstGeom>
          <a:solidFill>
            <a:srgbClr val="F4F7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16"/>
          <p:cNvSpPr/>
          <p:nvPr/>
        </p:nvSpPr>
        <p:spPr>
          <a:xfrm>
            <a:off x="9958586" y="5353645"/>
            <a:ext cx="3512473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725"/>
              <a:buFont typeface="Arial"/>
              <a:buNone/>
            </a:pPr>
            <a:r>
              <a:rPr lang="en-US" sz="1725" b="1" i="0" u="none" strike="noStrike" cap="non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Filter by legend</a:t>
            </a:r>
            <a:endParaRPr sz="17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6"/>
          <p:cNvSpPr/>
          <p:nvPr/>
        </p:nvSpPr>
        <p:spPr>
          <a:xfrm>
            <a:off x="9958586" y="5639395"/>
            <a:ext cx="3512473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19118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Click a state to hide or isolate it.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6"/>
          <p:cNvSpPr/>
          <p:nvPr/>
        </p:nvSpPr>
        <p:spPr>
          <a:xfrm>
            <a:off x="13551794" y="5144095"/>
            <a:ext cx="3688457" cy="1938040"/>
          </a:xfrm>
          <a:prstGeom prst="roundRect">
            <a:avLst>
              <a:gd name="adj" fmla="val 7864"/>
            </a:avLst>
          </a:prstGeom>
          <a:solidFill>
            <a:srgbClr val="F4F7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16"/>
          <p:cNvSpPr/>
          <p:nvPr/>
        </p:nvSpPr>
        <p:spPr>
          <a:xfrm>
            <a:off x="13799444" y="5353645"/>
            <a:ext cx="3512473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725"/>
              <a:buFont typeface="Arial"/>
              <a:buNone/>
            </a:pPr>
            <a:r>
              <a:rPr lang="en-US" sz="1725" b="1" i="0" u="none" strike="noStrike" cap="non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Export</a:t>
            </a:r>
            <a:endParaRPr sz="17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6"/>
          <p:cNvSpPr/>
          <p:nvPr/>
        </p:nvSpPr>
        <p:spPr>
          <a:xfrm>
            <a:off x="13799444" y="5639395"/>
            <a:ext cx="3512473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19118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PNG straight from the chart toolbar.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6"/>
          <p:cNvSpPr/>
          <p:nvPr/>
        </p:nvSpPr>
        <p:spPr>
          <a:xfrm>
            <a:off x="9710936" y="7234535"/>
            <a:ext cx="7529314" cy="2195215"/>
          </a:xfrm>
          <a:prstGeom prst="roundRect">
            <a:avLst>
              <a:gd name="adj" fmla="val 6942"/>
            </a:avLst>
          </a:prstGeom>
          <a:solidFill>
            <a:srgbClr val="0C2E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16"/>
          <p:cNvSpPr/>
          <p:nvPr/>
        </p:nvSpPr>
        <p:spPr>
          <a:xfrm>
            <a:off x="9958586" y="7444085"/>
            <a:ext cx="7737416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725"/>
              <a:buFont typeface="Arial"/>
              <a:buNone/>
            </a:pPr>
            <a:r>
              <a:rPr lang="en-US" sz="1725" b="1" i="0" u="none" strike="noStrike" cap="none">
                <a:solidFill>
                  <a:srgbClr val="7FD6A0"/>
                </a:solidFill>
                <a:latin typeface="Arial"/>
                <a:ea typeface="Arial"/>
                <a:cs typeface="Arial"/>
                <a:sym typeface="Arial"/>
              </a:rPr>
              <a:t>Business dashboards</a:t>
            </a:r>
            <a:endParaRPr sz="17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6"/>
          <p:cNvSpPr/>
          <p:nvPr/>
        </p:nvSpPr>
        <p:spPr>
          <a:xfrm>
            <a:off x="9958586" y="7729835"/>
            <a:ext cx="724503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191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Colour, size and hover let one chart carry five variables — the dashboard pattern in a single call.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0" name="Google Shape;430;p1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7750" y="9658350"/>
            <a:ext cx="40292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16"/>
          <p:cNvSpPr/>
          <p:nvPr/>
        </p:nvSpPr>
        <p:spPr>
          <a:xfrm>
            <a:off x="1574502" y="9674225"/>
            <a:ext cx="4108763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lang="en-US" sz="1425" b="0" i="0" u="none" strike="noStrike" cap="non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6"/>
          <p:cNvSpPr/>
          <p:nvPr/>
        </p:nvSpPr>
        <p:spPr>
          <a:xfrm>
            <a:off x="14377293" y="9674225"/>
            <a:ext cx="2541091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lang="en-US" sz="1425" b="0" i="0" u="none" strike="noStrike" cap="non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6"/>
          <p:cNvSpPr/>
          <p:nvPr/>
        </p:nvSpPr>
        <p:spPr>
          <a:xfrm>
            <a:off x="17070785" y="9674225"/>
            <a:ext cx="245666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lang="en-US" sz="1425" b="0" i="0" u="none" strike="noStrike" cap="non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7"/>
          <p:cNvSpPr/>
          <p:nvPr/>
        </p:nvSpPr>
        <p:spPr>
          <a:xfrm>
            <a:off x="14287500" y="-1524000"/>
            <a:ext cx="5334000" cy="5334000"/>
          </a:xfrm>
          <a:prstGeom prst="ellipse">
            <a:avLst/>
          </a:prstGeom>
          <a:solidFill>
            <a:srgbClr val="CE4A32">
              <a:alpha val="784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p17"/>
          <p:cNvSpPr/>
          <p:nvPr/>
        </p:nvSpPr>
        <p:spPr>
          <a:xfrm>
            <a:off x="1047750" y="3096419"/>
            <a:ext cx="2436713" cy="533400"/>
          </a:xfrm>
          <a:prstGeom prst="roundRect">
            <a:avLst>
              <a:gd name="adj" fmla="val 50000"/>
            </a:avLst>
          </a:prstGeom>
          <a:solidFill>
            <a:srgbClr val="CE4A3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" name="Google Shape;441;p17"/>
          <p:cNvSpPr/>
          <p:nvPr/>
        </p:nvSpPr>
        <p:spPr>
          <a:xfrm>
            <a:off x="1295400" y="3296444"/>
            <a:ext cx="133350" cy="1333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17"/>
          <p:cNvSpPr/>
          <p:nvPr/>
        </p:nvSpPr>
        <p:spPr>
          <a:xfrm>
            <a:off x="1562100" y="3229769"/>
            <a:ext cx="1750913" cy="29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LIVE CODING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7"/>
          <p:cNvSpPr/>
          <p:nvPr/>
        </p:nvSpPr>
        <p:spPr>
          <a:xfrm>
            <a:off x="1047750" y="3972719"/>
            <a:ext cx="17811750" cy="931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88528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6900"/>
              <a:buFont typeface="Arial"/>
              <a:buNone/>
            </a:pPr>
            <a:r>
              <a:rPr lang="en-US" sz="6900" b="1" i="0" u="none" strike="noStrike" cap="non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Switch to the notebook</a:t>
            </a:r>
            <a:endParaRPr sz="6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7"/>
          <p:cNvSpPr/>
          <p:nvPr/>
        </p:nvSpPr>
        <p:spPr>
          <a:xfrm>
            <a:off x="1047750" y="5285581"/>
            <a:ext cx="5415161" cy="882650"/>
          </a:xfrm>
          <a:prstGeom prst="roundRect">
            <a:avLst>
              <a:gd name="adj" fmla="val 19424"/>
            </a:avLst>
          </a:prstGeom>
          <a:solidFill>
            <a:srgbClr val="FFFFFF"/>
          </a:solidFill>
          <a:ln w="9525" cap="flat" cmpd="sng">
            <a:solidFill>
              <a:srgbClr val="DCE6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" name="Google Shape;445;p17"/>
          <p:cNvSpPr/>
          <p:nvPr/>
        </p:nvSpPr>
        <p:spPr>
          <a:xfrm>
            <a:off x="1377950" y="5587207"/>
            <a:ext cx="2615664" cy="3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950"/>
              <a:buFont typeface="Courier New"/>
              <a:buNone/>
            </a:pPr>
            <a:r>
              <a:rPr lang="en-US" sz="1950" b="1" i="0" u="none" strike="noStrike" cap="none">
                <a:solidFill>
                  <a:srgbClr val="1F9D57"/>
                </a:solidFill>
                <a:latin typeface="Courier New"/>
                <a:ea typeface="Courier New"/>
                <a:cs typeface="Courier New"/>
                <a:sym typeface="Courier New"/>
              </a:rPr>
              <a:t>Notebook Section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7"/>
          <p:cNvSpPr/>
          <p:nvPr/>
        </p:nvSpPr>
        <p:spPr>
          <a:xfrm>
            <a:off x="3946327" y="5564981"/>
            <a:ext cx="19050" cy="323850"/>
          </a:xfrm>
          <a:prstGeom prst="rect">
            <a:avLst/>
          </a:prstGeom>
          <a:solidFill>
            <a:srgbClr val="C9D6C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17"/>
          <p:cNvSpPr/>
          <p:nvPr/>
        </p:nvSpPr>
        <p:spPr>
          <a:xfrm>
            <a:off x="4155877" y="5539582"/>
            <a:ext cx="2174518" cy="412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250"/>
              <a:buFont typeface="Arial"/>
              <a:buNone/>
            </a:pPr>
            <a:r>
              <a:rPr lang="en-US" sz="2250" b="0" i="0" u="none" strike="noStrike" cap="non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5 · Plotly Basics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7"/>
          <p:cNvSpPr/>
          <p:nvPr/>
        </p:nvSpPr>
        <p:spPr>
          <a:xfrm>
            <a:off x="1047750" y="6492082"/>
            <a:ext cx="10791825" cy="7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Interactive bar → hover the leaders → interactive scatter → isolate one state from the legend.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9" name="Google Shape;449;p1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7750" y="9658350"/>
            <a:ext cx="40292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17"/>
          <p:cNvSpPr/>
          <p:nvPr/>
        </p:nvSpPr>
        <p:spPr>
          <a:xfrm>
            <a:off x="1574502" y="9674225"/>
            <a:ext cx="4108763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lang="en-US" sz="1425" b="0" i="0" u="none" strike="noStrike" cap="non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7"/>
          <p:cNvSpPr/>
          <p:nvPr/>
        </p:nvSpPr>
        <p:spPr>
          <a:xfrm>
            <a:off x="14394557" y="9674225"/>
            <a:ext cx="2541091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lang="en-US" sz="1425" b="0" i="0" u="none" strike="noStrike" cap="non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7"/>
          <p:cNvSpPr/>
          <p:nvPr/>
        </p:nvSpPr>
        <p:spPr>
          <a:xfrm>
            <a:off x="17088049" y="9674225"/>
            <a:ext cx="228402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lang="en-US" sz="1425" b="0" i="0" u="none" strike="noStrike" cap="non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4"/>
        </a:solidFill>
        <a:effectLst/>
      </p:bgPr>
    </p:bg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18"/>
          <p:cNvSpPr/>
          <p:nvPr/>
        </p:nvSpPr>
        <p:spPr>
          <a:xfrm>
            <a:off x="12673807" y="3048000"/>
            <a:ext cx="5127863" cy="42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86957"/>
              </a:lnSpc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33000"/>
              <a:buFont typeface="Arial"/>
              <a:buNone/>
            </a:pPr>
            <a:r>
              <a:rPr lang="en-US" sz="33000" b="1" i="0" u="none" strike="noStrike" cap="non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3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8"/>
          <p:cNvSpPr/>
          <p:nvPr/>
        </p:nvSpPr>
        <p:spPr>
          <a:xfrm>
            <a:off x="1047750" y="4035822"/>
            <a:ext cx="17811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E4A32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CE4A32"/>
                </a:solidFill>
                <a:latin typeface="Arial"/>
                <a:ea typeface="Arial"/>
                <a:cs typeface="Arial"/>
                <a:sym typeface="Arial"/>
              </a:rPr>
              <a:t>CHAPTER 03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8"/>
          <p:cNvSpPr/>
          <p:nvPr/>
        </p:nvSpPr>
        <p:spPr>
          <a:xfrm>
            <a:off x="1047750" y="4569222"/>
            <a:ext cx="13096875" cy="970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88482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7200"/>
              <a:buFont typeface="Arial"/>
              <a:buNone/>
            </a:pPr>
            <a:r>
              <a:rPr lang="en-US" sz="7200" b="1" i="0" u="none" strike="noStrike" cap="non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Data Storytelling</a:t>
            </a:r>
            <a:endParaRPr sz="7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8"/>
          <p:cNvSpPr/>
          <p:nvPr/>
        </p:nvSpPr>
        <p:spPr>
          <a:xfrm>
            <a:off x="1047750" y="5825728"/>
            <a:ext cx="10058400" cy="463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2550"/>
              <a:buFont typeface="Arial"/>
              <a:buNone/>
            </a:pPr>
            <a:r>
              <a:rPr lang="en-US" sz="2550" b="0" i="0" u="none" strike="noStrike" cap="non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A chart shows a number. A story changes a decision.</a:t>
            </a:r>
            <a:endParaRPr sz="2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2" name="Google Shape;462;p1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7750" y="9658350"/>
            <a:ext cx="40292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18"/>
          <p:cNvSpPr/>
          <p:nvPr/>
        </p:nvSpPr>
        <p:spPr>
          <a:xfrm>
            <a:off x="1574502" y="9674225"/>
            <a:ext cx="4108763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lang="en-US" sz="1425" b="0" i="0" u="none" strike="noStrike" cap="non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8"/>
          <p:cNvSpPr/>
          <p:nvPr/>
        </p:nvSpPr>
        <p:spPr>
          <a:xfrm>
            <a:off x="14380964" y="9674225"/>
            <a:ext cx="2541091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lang="en-US" sz="1425" b="0" i="0" u="none" strike="noStrike" cap="non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8"/>
          <p:cNvSpPr/>
          <p:nvPr/>
        </p:nvSpPr>
        <p:spPr>
          <a:xfrm>
            <a:off x="17074455" y="9674225"/>
            <a:ext cx="241995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lang="en-US" sz="1425" b="0" i="0" u="none" strike="noStrike" cap="non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19"/>
          <p:cNvSpPr/>
          <p:nvPr/>
        </p:nvSpPr>
        <p:spPr>
          <a:xfrm>
            <a:off x="1047750" y="914400"/>
            <a:ext cx="17811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STORYTELLING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9"/>
          <p:cNvSpPr/>
          <p:nvPr/>
        </p:nvSpPr>
        <p:spPr>
          <a:xfrm>
            <a:off x="1047750" y="1390650"/>
            <a:ext cx="17811750" cy="643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92621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4500"/>
              <a:buFont typeface="Arial"/>
              <a:buNone/>
            </a:pPr>
            <a:r>
              <a:rPr lang="en-US" sz="4500" b="1" i="0" u="none" strike="noStrike" cap="non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From chart to insight</a:t>
            </a:r>
            <a:endParaRPr sz="4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9"/>
          <p:cNvSpPr/>
          <p:nvPr/>
        </p:nvSpPr>
        <p:spPr>
          <a:xfrm>
            <a:off x="1047750" y="2110680"/>
            <a:ext cx="136207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21154"/>
              </a:lnSpc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2250"/>
              <a:buFont typeface="Arial"/>
              <a:buNone/>
            </a:pPr>
            <a:r>
              <a:rPr lang="en-US" sz="2250" b="0" i="0" u="none" strike="noStrike" cap="non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Four habits that turn a correct chart into a chart that </a:t>
            </a:r>
            <a:r>
              <a:rPr lang="en-US" sz="2250" b="1" i="0" u="none" strike="noStrike" cap="non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lands</a:t>
            </a:r>
            <a:r>
              <a:rPr lang="en-US" sz="2250" b="0" i="0" u="none" strike="noStrike" cap="non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9"/>
          <p:cNvSpPr/>
          <p:nvPr/>
        </p:nvSpPr>
        <p:spPr>
          <a:xfrm>
            <a:off x="1047750" y="2815530"/>
            <a:ext cx="7991475" cy="2735560"/>
          </a:xfrm>
          <a:prstGeom prst="roundRect">
            <a:avLst>
              <a:gd name="adj" fmla="val 6964"/>
            </a:avLst>
          </a:prstGeom>
          <a:solidFill>
            <a:srgbClr val="F4F7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19"/>
          <p:cNvSpPr/>
          <p:nvPr/>
        </p:nvSpPr>
        <p:spPr>
          <a:xfrm>
            <a:off x="1390650" y="3679131"/>
            <a:ext cx="8036243" cy="311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75"/>
              <a:buFont typeface="Arial"/>
              <a:buNone/>
            </a:pPr>
            <a:r>
              <a:rPr lang="en-US" sz="1875" b="1" i="0" u="none" strike="noStrike" cap="non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Title the finding</a:t>
            </a:r>
            <a:endParaRPr sz="18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9"/>
          <p:cNvSpPr/>
          <p:nvPr/>
        </p:nvSpPr>
        <p:spPr>
          <a:xfrm>
            <a:off x="1390650" y="4047431"/>
            <a:ext cx="7524845" cy="678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"Renewable leaders are the drier states" — not "RenewableEnergy by State".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9"/>
          <p:cNvSpPr/>
          <p:nvPr/>
        </p:nvSpPr>
        <p:spPr>
          <a:xfrm>
            <a:off x="9248775" y="2815530"/>
            <a:ext cx="7991475" cy="2735560"/>
          </a:xfrm>
          <a:prstGeom prst="roundRect">
            <a:avLst>
              <a:gd name="adj" fmla="val 6964"/>
            </a:avLst>
          </a:prstGeom>
          <a:solidFill>
            <a:srgbClr val="F4F7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p19"/>
          <p:cNvSpPr/>
          <p:nvPr/>
        </p:nvSpPr>
        <p:spPr>
          <a:xfrm>
            <a:off x="9591675" y="3839170"/>
            <a:ext cx="8036243" cy="311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75"/>
              <a:buFont typeface="Arial"/>
              <a:buNone/>
            </a:pPr>
            <a:r>
              <a:rPr lang="en-US" sz="1875" b="1" i="0" u="none" strike="noStrike" cap="non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Annotate one point</a:t>
            </a:r>
            <a:endParaRPr sz="18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9"/>
          <p:cNvSpPr/>
          <p:nvPr/>
        </p:nvSpPr>
        <p:spPr>
          <a:xfrm>
            <a:off x="9591675" y="4207471"/>
            <a:ext cx="8036243" cy="358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Mark the outlier that matters; leave the rest quiet.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9"/>
          <p:cNvSpPr/>
          <p:nvPr/>
        </p:nvSpPr>
        <p:spPr>
          <a:xfrm>
            <a:off x="1047750" y="5760641"/>
            <a:ext cx="7991475" cy="2735659"/>
          </a:xfrm>
          <a:prstGeom prst="roundRect">
            <a:avLst>
              <a:gd name="adj" fmla="val 6964"/>
            </a:avLst>
          </a:prstGeom>
          <a:solidFill>
            <a:srgbClr val="F4F7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1" name="Google Shape;481;p19"/>
          <p:cNvSpPr/>
          <p:nvPr/>
        </p:nvSpPr>
        <p:spPr>
          <a:xfrm>
            <a:off x="1390650" y="6784281"/>
            <a:ext cx="8036243" cy="311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75"/>
              <a:buFont typeface="Arial"/>
              <a:buNone/>
            </a:pPr>
            <a:r>
              <a:rPr lang="en-US" sz="1875" b="1" i="0" u="none" strike="noStrike" cap="non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Colour = emphasis</a:t>
            </a:r>
            <a:endParaRPr sz="18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9"/>
          <p:cNvSpPr/>
          <p:nvPr/>
        </p:nvSpPr>
        <p:spPr>
          <a:xfrm>
            <a:off x="1390650" y="7152581"/>
            <a:ext cx="8036243" cy="358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One accent for the point, grey for context. Never a rainbow.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9"/>
          <p:cNvSpPr/>
          <p:nvPr/>
        </p:nvSpPr>
        <p:spPr>
          <a:xfrm>
            <a:off x="9248775" y="5760641"/>
            <a:ext cx="7991475" cy="2735659"/>
          </a:xfrm>
          <a:prstGeom prst="roundRect">
            <a:avLst>
              <a:gd name="adj" fmla="val 6964"/>
            </a:avLst>
          </a:prstGeom>
          <a:solidFill>
            <a:srgbClr val="F4F7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19"/>
          <p:cNvSpPr/>
          <p:nvPr/>
        </p:nvSpPr>
        <p:spPr>
          <a:xfrm>
            <a:off x="9591675" y="6624340"/>
            <a:ext cx="8036243" cy="311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75"/>
              <a:buFont typeface="Arial"/>
              <a:buNone/>
            </a:pPr>
            <a:r>
              <a:rPr lang="en-US" sz="1875" b="1" i="0" u="none" strike="noStrike" cap="non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Sort the bars</a:t>
            </a:r>
            <a:endParaRPr sz="18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9"/>
          <p:cNvSpPr/>
          <p:nvPr/>
        </p:nvSpPr>
        <p:spPr>
          <a:xfrm>
            <a:off x="9591675" y="6992640"/>
            <a:ext cx="7524845" cy="678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A sorted bar chart is read in one second; an unsorted one is homework.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9"/>
          <p:cNvSpPr/>
          <p:nvPr/>
        </p:nvSpPr>
        <p:spPr>
          <a:xfrm>
            <a:off x="1047750" y="8724900"/>
            <a:ext cx="16192500" cy="704850"/>
          </a:xfrm>
          <a:prstGeom prst="roundRect">
            <a:avLst>
              <a:gd name="adj" fmla="val 21622"/>
            </a:avLst>
          </a:prstGeom>
          <a:solidFill>
            <a:srgbClr val="FBEF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p19"/>
          <p:cNvSpPr/>
          <p:nvPr/>
        </p:nvSpPr>
        <p:spPr>
          <a:xfrm>
            <a:off x="1047750" y="8724900"/>
            <a:ext cx="57150" cy="704850"/>
          </a:xfrm>
          <a:prstGeom prst="rect">
            <a:avLst/>
          </a:prstGeom>
          <a:solidFill>
            <a:srgbClr val="CE4A3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8" name="Google Shape;488;p19"/>
          <p:cNvSpPr/>
          <p:nvPr/>
        </p:nvSpPr>
        <p:spPr>
          <a:xfrm>
            <a:off x="1428750" y="8934450"/>
            <a:ext cx="159734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E4A32"/>
              </a:buClr>
              <a:buSzPts val="1725"/>
              <a:buFont typeface="Arial"/>
              <a:buNone/>
            </a:pPr>
            <a:r>
              <a:rPr lang="en-US" sz="1725" b="1" i="0" u="none" strike="noStrike" cap="none">
                <a:solidFill>
                  <a:srgbClr val="CE4A32"/>
                </a:solidFill>
                <a:latin typeface="Arial"/>
                <a:ea typeface="Arial"/>
                <a:cs typeface="Arial"/>
                <a:sym typeface="Arial"/>
              </a:rPr>
              <a:t>Never mislead: </a:t>
            </a:r>
            <a:r>
              <a:rPr lang="en-US" sz="1725" b="0" i="0" u="none" strike="noStrike" cap="none">
                <a:solidFill>
                  <a:srgbClr val="47564E"/>
                </a:solidFill>
                <a:highlight>
                  <a:srgbClr val="FBEFE6"/>
                </a:highlight>
                <a:latin typeface="Arial"/>
                <a:ea typeface="Arial"/>
                <a:cs typeface="Arial"/>
                <a:sym typeface="Arial"/>
              </a:rPr>
              <a:t>no truncated y-axis to exaggerate a gap · no 3D · no unlabelled second axis · no cherry-picked year.</a:t>
            </a:r>
            <a:endParaRPr sz="17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9" name="Google Shape;489;p1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7750" y="9658350"/>
            <a:ext cx="40292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19"/>
          <p:cNvSpPr/>
          <p:nvPr/>
        </p:nvSpPr>
        <p:spPr>
          <a:xfrm>
            <a:off x="1574502" y="9674225"/>
            <a:ext cx="4108763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lang="en-US" sz="1425" b="0" i="0" u="none" strike="noStrike" cap="non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9"/>
          <p:cNvSpPr/>
          <p:nvPr/>
        </p:nvSpPr>
        <p:spPr>
          <a:xfrm>
            <a:off x="14377293" y="9674225"/>
            <a:ext cx="2541091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lang="en-US" sz="1425" b="0" i="0" u="none" strike="noStrike" cap="non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9"/>
          <p:cNvSpPr/>
          <p:nvPr/>
        </p:nvSpPr>
        <p:spPr>
          <a:xfrm>
            <a:off x="17070785" y="9674225"/>
            <a:ext cx="245666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lang="en-US" sz="1425" b="0" i="0" u="none" strike="noStrike" cap="non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20"/>
          <p:cNvSpPr/>
          <p:nvPr/>
        </p:nvSpPr>
        <p:spPr>
          <a:xfrm>
            <a:off x="1047750" y="914400"/>
            <a:ext cx="17811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WORKED STORY · NOTEBOOK SECTION 6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0"/>
          <p:cNvSpPr/>
          <p:nvPr/>
        </p:nvSpPr>
        <p:spPr>
          <a:xfrm>
            <a:off x="1047750" y="1390650"/>
            <a:ext cx="17811750" cy="643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92621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4500"/>
              <a:buFont typeface="Arial"/>
              <a:buNone/>
            </a:pPr>
            <a:r>
              <a:rPr lang="en-US" sz="4500" b="1" i="0" u="none" strike="noStrike" cap="non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Three panels, one message</a:t>
            </a:r>
            <a:endParaRPr sz="4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0"/>
          <p:cNvSpPr/>
          <p:nvPr/>
        </p:nvSpPr>
        <p:spPr>
          <a:xfrm>
            <a:off x="1047750" y="2110680"/>
            <a:ext cx="136207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21154"/>
              </a:lnSpc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2250"/>
              <a:buFont typeface="Arial"/>
              <a:buNone/>
            </a:pPr>
            <a:r>
              <a:rPr lang="en-US" sz="2250" b="0" i="0" u="none" strike="noStrike" cap="non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Wet states are forested — but the renewable-energy leaders are the </a:t>
            </a:r>
            <a:r>
              <a:rPr lang="en-US" sz="2250" b="1" i="0" u="none" strike="noStrike" cap="non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dry </a:t>
            </a:r>
            <a:r>
              <a:rPr lang="en-US" sz="2250" b="0" i="0" u="none" strike="noStrike" cap="non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ones.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0"/>
          <p:cNvSpPr/>
          <p:nvPr/>
        </p:nvSpPr>
        <p:spPr>
          <a:xfrm>
            <a:off x="1047750" y="2796480"/>
            <a:ext cx="5245100" cy="5731570"/>
          </a:xfrm>
          <a:prstGeom prst="roundRect">
            <a:avLst>
              <a:gd name="adj" fmla="val 3632"/>
            </a:avLst>
          </a:prstGeom>
          <a:solidFill>
            <a:srgbClr val="F4F7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20"/>
          <p:cNvSpPr/>
          <p:nvPr/>
        </p:nvSpPr>
        <p:spPr>
          <a:xfrm>
            <a:off x="1352550" y="3063180"/>
            <a:ext cx="509905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650"/>
              <a:buFont typeface="Arial"/>
              <a:buNone/>
            </a:pPr>
            <a:r>
              <a:rPr lang="en-US" sz="1650" b="1" i="0" u="none" strike="noStrike" cap="non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Panel 1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0"/>
          <p:cNvSpPr/>
          <p:nvPr/>
        </p:nvSpPr>
        <p:spPr>
          <a:xfrm>
            <a:off x="1352550" y="3380681"/>
            <a:ext cx="5099050" cy="347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13372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875"/>
              <a:buFont typeface="Arial"/>
              <a:buNone/>
            </a:pPr>
            <a:r>
              <a:rPr lang="en-US" sz="1875" b="1" i="0" u="none" strike="noStrike" cap="non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More rain, more forest</a:t>
            </a:r>
            <a:endParaRPr sz="18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0"/>
          <p:cNvSpPr/>
          <p:nvPr/>
        </p:nvSpPr>
        <p:spPr>
          <a:xfrm>
            <a:off x="1352550" y="3785493"/>
            <a:ext cx="5099050" cy="31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19189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575"/>
              <a:buFont typeface="Arial"/>
              <a:buNone/>
            </a:pPr>
            <a:r>
              <a:rPr lang="en-US" sz="1575" b="0" i="0" u="none" strike="noStrike" cap="non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Scatter — rainfall against forest cover.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20"/>
          <p:cNvSpPr/>
          <p:nvPr/>
        </p:nvSpPr>
        <p:spPr>
          <a:xfrm>
            <a:off x="1352550" y="7438430"/>
            <a:ext cx="4635500" cy="822920"/>
          </a:xfrm>
          <a:prstGeom prst="roundRect">
            <a:avLst>
              <a:gd name="adj" fmla="val 13890"/>
            </a:avLst>
          </a:prstGeom>
          <a:solidFill>
            <a:srgbClr val="0C2E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p20"/>
          <p:cNvSpPr/>
          <p:nvPr/>
        </p:nvSpPr>
        <p:spPr>
          <a:xfrm>
            <a:off x="1543050" y="7590830"/>
            <a:ext cx="4393565" cy="556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40690"/>
              </a:lnSpc>
              <a:spcBef>
                <a:spcPts val="0"/>
              </a:spcBef>
              <a:spcAft>
                <a:spcPts val="0"/>
              </a:spcAft>
              <a:buClr>
                <a:srgbClr val="E8F0E9"/>
              </a:buClr>
              <a:buSzPts val="1275"/>
              <a:buFont typeface="Courier New"/>
              <a:buNone/>
            </a:pPr>
            <a:r>
              <a:rPr lang="en-US" sz="1275" b="0" i="0" u="none" strike="noStrike" cap="non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axes[</a:t>
            </a:r>
            <a:r>
              <a:rPr lang="en-US" sz="1275" b="0" i="0" u="none" strike="noStrike" cap="none">
                <a:solidFill>
                  <a:srgbClr val="F0B060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 sz="1275" b="0" i="0" u="none" strike="noStrike" cap="non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].</a:t>
            </a:r>
            <a:r>
              <a:rPr lang="en-US" sz="1275" b="0" i="0" u="none" strike="noStrike" cap="none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scatter</a:t>
            </a:r>
            <a:r>
              <a:rPr lang="en-US" sz="1275" b="0" i="0" u="none" strike="noStrike" cap="non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(states[</a:t>
            </a:r>
            <a:r>
              <a:rPr lang="en-US" sz="1275" b="0" i="0" u="none" strike="noStrike" cap="non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"Rainfall" </a:t>
            </a:r>
            <a:r>
              <a:rPr lang="en-US" sz="1275" b="0" i="0" u="none" strike="noStrike" cap="non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], states[ </a:t>
            </a:r>
            <a:r>
              <a:rPr lang="en-US" sz="1275" b="0" i="0" u="none" strike="noStrike" cap="non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"ForestCover"</a:t>
            </a:r>
            <a:r>
              <a:rPr lang="en-US" sz="1275" b="0" i="0" u="none" strike="noStrike" cap="non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])</a:t>
            </a:r>
            <a:endParaRPr sz="12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20"/>
          <p:cNvSpPr/>
          <p:nvPr/>
        </p:nvSpPr>
        <p:spPr>
          <a:xfrm>
            <a:off x="6521450" y="2796480"/>
            <a:ext cx="5245100" cy="5731570"/>
          </a:xfrm>
          <a:prstGeom prst="roundRect">
            <a:avLst>
              <a:gd name="adj" fmla="val 3632"/>
            </a:avLst>
          </a:prstGeom>
          <a:solidFill>
            <a:srgbClr val="F4F7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8" name="Google Shape;508;p20"/>
          <p:cNvSpPr/>
          <p:nvPr/>
        </p:nvSpPr>
        <p:spPr>
          <a:xfrm>
            <a:off x="6826250" y="3063180"/>
            <a:ext cx="509905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650"/>
              <a:buFont typeface="Arial"/>
              <a:buNone/>
            </a:pPr>
            <a:r>
              <a:rPr lang="en-US" sz="1650" b="1" i="0" u="none" strike="noStrike" cap="non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Panel 2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0"/>
          <p:cNvSpPr/>
          <p:nvPr/>
        </p:nvSpPr>
        <p:spPr>
          <a:xfrm>
            <a:off x="6826250" y="3380681"/>
            <a:ext cx="5099050" cy="347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13372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875"/>
              <a:buFont typeface="Arial"/>
              <a:buNone/>
            </a:pPr>
            <a:r>
              <a:rPr lang="en-US" sz="1875" b="1" i="0" u="none" strike="noStrike" cap="non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Top 5 renewable states</a:t>
            </a:r>
            <a:endParaRPr sz="18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20"/>
          <p:cNvSpPr/>
          <p:nvPr/>
        </p:nvSpPr>
        <p:spPr>
          <a:xfrm>
            <a:off x="6826250" y="3785493"/>
            <a:ext cx="5099050" cy="31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19189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575"/>
              <a:buFont typeface="Arial"/>
              <a:buNone/>
            </a:pPr>
            <a:r>
              <a:rPr lang="en-US" sz="1575" b="0" i="0" u="none" strike="noStrike" cap="non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Gujarat, Tamil Nadu and Rajasthan lead.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0"/>
          <p:cNvSpPr/>
          <p:nvPr/>
        </p:nvSpPr>
        <p:spPr>
          <a:xfrm>
            <a:off x="6826250" y="7179370"/>
            <a:ext cx="4635500" cy="1081980"/>
          </a:xfrm>
          <a:prstGeom prst="roundRect">
            <a:avLst>
              <a:gd name="adj" fmla="val 10564"/>
            </a:avLst>
          </a:prstGeom>
          <a:solidFill>
            <a:srgbClr val="0C2E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2" name="Google Shape;512;p20"/>
          <p:cNvSpPr/>
          <p:nvPr/>
        </p:nvSpPr>
        <p:spPr>
          <a:xfrm>
            <a:off x="7016750" y="7331770"/>
            <a:ext cx="4393565" cy="815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40690"/>
              </a:lnSpc>
              <a:spcBef>
                <a:spcPts val="0"/>
              </a:spcBef>
              <a:spcAft>
                <a:spcPts val="0"/>
              </a:spcAft>
              <a:buClr>
                <a:srgbClr val="E8F0E9"/>
              </a:buClr>
              <a:buSzPts val="1275"/>
              <a:buFont typeface="Courier New"/>
              <a:buNone/>
            </a:pPr>
            <a:r>
              <a:rPr lang="en-US" sz="1275" b="0" i="0" u="none" strike="noStrike" cap="non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top_energy = states. </a:t>
            </a:r>
            <a:r>
              <a:rPr lang="en-US" sz="1275" b="0" i="0" u="none" strike="noStrike" cap="none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sort_values</a:t>
            </a:r>
            <a:r>
              <a:rPr lang="en-US" sz="1275" b="0" i="0" u="none" strike="noStrike" cap="non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275" b="0" i="0" u="none" strike="noStrike" cap="non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"RenewableEnergy" </a:t>
            </a:r>
            <a:r>
              <a:rPr lang="en-US" sz="1275" b="0" i="0" u="none" strike="noStrike" cap="non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, ascending= </a:t>
            </a:r>
            <a:r>
              <a:rPr lang="en-US" sz="1275" b="0" i="0" u="none" strike="noStrike" cap="none">
                <a:solidFill>
                  <a:srgbClr val="F0B060"/>
                </a:solidFill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r>
              <a:rPr lang="en-US" sz="1275" b="0" i="0" u="none" strike="noStrike" cap="non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).</a:t>
            </a:r>
            <a:r>
              <a:rPr lang="en-US" sz="1275" b="0" i="0" u="none" strike="noStrike" cap="none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lang="en-US" sz="1275" b="0" i="0" u="none" strike="noStrike" cap="non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275" b="0" i="0" u="none" strike="noStrike" cap="none">
                <a:solidFill>
                  <a:srgbClr val="F0B060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en-US" sz="1275" b="0" i="0" u="none" strike="noStrike" cap="none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2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20"/>
          <p:cNvSpPr/>
          <p:nvPr/>
        </p:nvSpPr>
        <p:spPr>
          <a:xfrm>
            <a:off x="11995150" y="2796480"/>
            <a:ext cx="5245100" cy="5731570"/>
          </a:xfrm>
          <a:prstGeom prst="roundRect">
            <a:avLst>
              <a:gd name="adj" fmla="val 3632"/>
            </a:avLst>
          </a:prstGeom>
          <a:solidFill>
            <a:srgbClr val="0C2E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20"/>
          <p:cNvSpPr/>
          <p:nvPr/>
        </p:nvSpPr>
        <p:spPr>
          <a:xfrm>
            <a:off x="12299950" y="3063180"/>
            <a:ext cx="509905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650"/>
              <a:buFont typeface="Arial"/>
              <a:buNone/>
            </a:pPr>
            <a:r>
              <a:rPr lang="en-US" sz="1650" b="1" i="0" u="none" strike="noStrike" cap="none">
                <a:solidFill>
                  <a:srgbClr val="7FD6A0"/>
                </a:solidFill>
                <a:latin typeface="Arial"/>
                <a:ea typeface="Arial"/>
                <a:cs typeface="Arial"/>
                <a:sym typeface="Arial"/>
              </a:rPr>
              <a:t>Panel 3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0"/>
          <p:cNvSpPr/>
          <p:nvPr/>
        </p:nvSpPr>
        <p:spPr>
          <a:xfrm>
            <a:off x="12299950" y="3380681"/>
            <a:ext cx="5099050" cy="347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133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lang="en-US" sz="1875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…are mostly drier states</a:t>
            </a:r>
            <a:endParaRPr sz="18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20"/>
          <p:cNvSpPr/>
          <p:nvPr/>
        </p:nvSpPr>
        <p:spPr>
          <a:xfrm>
            <a:off x="12299950" y="3785493"/>
            <a:ext cx="5099050" cy="31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1918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</a:pPr>
            <a:r>
              <a:rPr lang="en-US" sz="1575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 the energy story is sun and wind, not water.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0"/>
          <p:cNvSpPr/>
          <p:nvPr/>
        </p:nvSpPr>
        <p:spPr>
          <a:xfrm>
            <a:off x="12299950" y="7438430"/>
            <a:ext cx="4635500" cy="822920"/>
          </a:xfrm>
          <a:prstGeom prst="roundRect">
            <a:avLst>
              <a:gd name="adj" fmla="val 13890"/>
            </a:avLst>
          </a:prstGeom>
          <a:solidFill>
            <a:srgbClr val="0825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p20"/>
          <p:cNvSpPr/>
          <p:nvPr/>
        </p:nvSpPr>
        <p:spPr>
          <a:xfrm>
            <a:off x="12490450" y="7590830"/>
            <a:ext cx="4393565" cy="556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40690"/>
              </a:lnSpc>
              <a:spcBef>
                <a:spcPts val="0"/>
              </a:spcBef>
              <a:spcAft>
                <a:spcPts val="0"/>
              </a:spcAft>
              <a:buClr>
                <a:srgbClr val="E8F0E9"/>
              </a:buClr>
              <a:buSzPts val="1275"/>
              <a:buFont typeface="Courier New"/>
              <a:buNone/>
            </a:pPr>
            <a:r>
              <a:rPr lang="en-US" sz="1275" b="0" i="0" u="none" strike="noStrike" cap="none">
                <a:solidFill>
                  <a:srgbClr val="E8F0E9"/>
                </a:solidFill>
                <a:highlight>
                  <a:srgbClr val="08251A"/>
                </a:highlight>
                <a:latin typeface="Courier New"/>
                <a:ea typeface="Courier New"/>
                <a:cs typeface="Courier New"/>
                <a:sym typeface="Courier New"/>
              </a:rPr>
              <a:t>axes[</a:t>
            </a:r>
            <a:r>
              <a:rPr lang="en-US" sz="1275" b="0" i="0" u="none" strike="noStrike" cap="none">
                <a:solidFill>
                  <a:srgbClr val="F0B060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-US" sz="1275" b="0" i="0" u="none" strike="noStrike" cap="none">
                <a:solidFill>
                  <a:srgbClr val="E8F0E9"/>
                </a:solidFill>
                <a:highlight>
                  <a:srgbClr val="08251A"/>
                </a:highlight>
                <a:latin typeface="Courier New"/>
                <a:ea typeface="Courier New"/>
                <a:cs typeface="Courier New"/>
                <a:sym typeface="Courier New"/>
              </a:rPr>
              <a:t>].</a:t>
            </a:r>
            <a:r>
              <a:rPr lang="en-US" sz="1275" b="0" i="0" u="none" strike="noStrike" cap="none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bar</a:t>
            </a:r>
            <a:r>
              <a:rPr lang="en-US" sz="1275" b="0" i="0" u="none" strike="noStrike" cap="none">
                <a:solidFill>
                  <a:srgbClr val="E8F0E9"/>
                </a:solidFill>
                <a:highlight>
                  <a:srgbClr val="08251A"/>
                </a:highlight>
                <a:latin typeface="Courier New"/>
                <a:ea typeface="Courier New"/>
                <a:cs typeface="Courier New"/>
                <a:sym typeface="Courier New"/>
              </a:rPr>
              <a:t>(top_energy[</a:t>
            </a:r>
            <a:r>
              <a:rPr lang="en-US" sz="1275" b="0" i="0" u="none" strike="noStrike" cap="non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"State" </a:t>
            </a:r>
            <a:r>
              <a:rPr lang="en-US" sz="1275" b="0" i="0" u="none" strike="noStrike" cap="none">
                <a:solidFill>
                  <a:srgbClr val="E8F0E9"/>
                </a:solidFill>
                <a:highlight>
                  <a:srgbClr val="08251A"/>
                </a:highlight>
                <a:latin typeface="Courier New"/>
                <a:ea typeface="Courier New"/>
                <a:cs typeface="Courier New"/>
                <a:sym typeface="Courier New"/>
              </a:rPr>
              <a:t>], top_energy[ </a:t>
            </a:r>
            <a:r>
              <a:rPr lang="en-US" sz="1275" b="0" i="0" u="none" strike="noStrike" cap="non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"Rainfall"</a:t>
            </a:r>
            <a:r>
              <a:rPr lang="en-US" sz="1275" b="0" i="0" u="none" strike="noStrike" cap="none">
                <a:solidFill>
                  <a:srgbClr val="E8F0E9"/>
                </a:solidFill>
                <a:highlight>
                  <a:srgbClr val="08251A"/>
                </a:highlight>
                <a:latin typeface="Courier New"/>
                <a:ea typeface="Courier New"/>
                <a:cs typeface="Courier New"/>
                <a:sym typeface="Courier New"/>
              </a:rPr>
              <a:t>])</a:t>
            </a:r>
            <a:endParaRPr sz="12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0"/>
          <p:cNvSpPr/>
          <p:nvPr/>
        </p:nvSpPr>
        <p:spPr>
          <a:xfrm>
            <a:off x="1047750" y="8756650"/>
            <a:ext cx="16192500" cy="673100"/>
          </a:xfrm>
          <a:prstGeom prst="roundRect">
            <a:avLst>
              <a:gd name="adj" fmla="val 22642"/>
            </a:avLst>
          </a:prstGeom>
          <a:solidFill>
            <a:srgbClr val="EAF3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p20"/>
          <p:cNvSpPr/>
          <p:nvPr/>
        </p:nvSpPr>
        <p:spPr>
          <a:xfrm>
            <a:off x="1371600" y="8947150"/>
            <a:ext cx="16030575" cy="3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1725"/>
              <a:buFont typeface="Arial"/>
              <a:buNone/>
            </a:pPr>
            <a:r>
              <a:rPr lang="en-US" sz="1725" b="0" i="0" u="none" strike="noStrike" cap="none">
                <a:solidFill>
                  <a:srgbClr val="47564E"/>
                </a:solidFill>
                <a:highlight>
                  <a:srgbClr val="EAF3EE"/>
                </a:highlight>
                <a:latin typeface="Arial"/>
                <a:ea typeface="Arial"/>
                <a:cs typeface="Arial"/>
                <a:sym typeface="Arial"/>
              </a:rPr>
              <a:t>With </a:t>
            </a:r>
            <a:r>
              <a:rPr lang="en-US" sz="1725" b="0" i="0" u="none" strike="noStrike" cap="none">
                <a:solidFill>
                  <a:srgbClr val="47564E"/>
                </a:solidFill>
                <a:latin typeface="Courier New"/>
                <a:ea typeface="Courier New"/>
                <a:cs typeface="Courier New"/>
                <a:sym typeface="Courier New"/>
              </a:rPr>
              <a:t>plt.subplots(1, 3) </a:t>
            </a:r>
            <a:r>
              <a:rPr lang="en-US" sz="1725" b="0" i="0" u="none" strike="noStrike" cap="none">
                <a:solidFill>
                  <a:srgbClr val="47564E"/>
                </a:solidFill>
                <a:highlight>
                  <a:srgbClr val="EAF3EE"/>
                </a:highlight>
                <a:latin typeface="Arial"/>
                <a:ea typeface="Arial"/>
                <a:cs typeface="Arial"/>
                <a:sym typeface="Arial"/>
              </a:rPr>
              <a:t>each panel is </a:t>
            </a:r>
            <a:r>
              <a:rPr lang="en-US" sz="1725" b="0" i="0" u="none" strike="noStrike" cap="none">
                <a:solidFill>
                  <a:srgbClr val="47564E"/>
                </a:solidFill>
                <a:latin typeface="Courier New"/>
                <a:ea typeface="Courier New"/>
                <a:cs typeface="Courier New"/>
                <a:sym typeface="Courier New"/>
              </a:rPr>
              <a:t>axes[i] </a:t>
            </a:r>
            <a:r>
              <a:rPr lang="en-US" sz="1725" b="0" i="0" u="none" strike="noStrike" cap="none">
                <a:solidFill>
                  <a:srgbClr val="47564E"/>
                </a:solidFill>
                <a:highlight>
                  <a:srgbClr val="EAF3EE"/>
                </a:highlight>
                <a:latin typeface="Arial"/>
                <a:ea typeface="Arial"/>
                <a:cs typeface="Arial"/>
                <a:sym typeface="Arial"/>
              </a:rPr>
              <a:t>— and each panel title states its own finding.</a:t>
            </a:r>
            <a:endParaRPr sz="17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1" name="Google Shape;521;p2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7750" y="9658350"/>
            <a:ext cx="40292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20"/>
          <p:cNvSpPr/>
          <p:nvPr/>
        </p:nvSpPr>
        <p:spPr>
          <a:xfrm>
            <a:off x="1574502" y="9674225"/>
            <a:ext cx="4108763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lang="en-US" sz="1425" b="0" i="0" u="none" strike="noStrike" cap="non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0"/>
          <p:cNvSpPr/>
          <p:nvPr/>
        </p:nvSpPr>
        <p:spPr>
          <a:xfrm>
            <a:off x="14320143" y="9674225"/>
            <a:ext cx="2541091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lang="en-US" sz="1425" b="0" i="0" u="none" strike="noStrike" cap="non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0"/>
          <p:cNvSpPr/>
          <p:nvPr/>
        </p:nvSpPr>
        <p:spPr>
          <a:xfrm>
            <a:off x="17013635" y="9674225"/>
            <a:ext cx="302816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lang="en-US" sz="1425" b="0" i="0" u="none" strike="noStrike" cap="non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4"/>
        </a:solidFill>
        <a:effectLst/>
      </p:bgPr>
    </p:bg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21"/>
          <p:cNvSpPr/>
          <p:nvPr/>
        </p:nvSpPr>
        <p:spPr>
          <a:xfrm>
            <a:off x="12673807" y="3048000"/>
            <a:ext cx="5127863" cy="42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86957"/>
              </a:lnSpc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33000"/>
              <a:buFont typeface="Arial"/>
              <a:buNone/>
            </a:pPr>
            <a:r>
              <a:rPr lang="en-US" sz="33000" b="1" i="0" u="none" strike="noStrike" cap="non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3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21"/>
          <p:cNvSpPr/>
          <p:nvPr/>
        </p:nvSpPr>
        <p:spPr>
          <a:xfrm>
            <a:off x="1047750" y="4035822"/>
            <a:ext cx="17811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E4A32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CE4A32"/>
                </a:solidFill>
                <a:latin typeface="Arial"/>
                <a:ea typeface="Arial"/>
                <a:cs typeface="Arial"/>
                <a:sym typeface="Arial"/>
              </a:rPr>
              <a:t>CHAPTER 04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21"/>
          <p:cNvSpPr/>
          <p:nvPr/>
        </p:nvSpPr>
        <p:spPr>
          <a:xfrm>
            <a:off x="1047750" y="4569222"/>
            <a:ext cx="13096875" cy="970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88482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7200"/>
              <a:buFont typeface="Arial"/>
              <a:buNone/>
            </a:pPr>
            <a:r>
              <a:rPr lang="en-US" sz="7200" b="1" i="0" u="none" strike="noStrike" cap="non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Data Acquisition</a:t>
            </a:r>
            <a:endParaRPr sz="7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21"/>
          <p:cNvSpPr/>
          <p:nvPr/>
        </p:nvSpPr>
        <p:spPr>
          <a:xfrm>
            <a:off x="1047750" y="5825728"/>
            <a:ext cx="10058400" cy="463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2550"/>
              <a:buFont typeface="Arial"/>
              <a:buNone/>
            </a:pPr>
            <a:r>
              <a:rPr lang="en-US" sz="2550" b="0" i="0" u="none" strike="noStrike" cap="non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Stop waiting for a CSV. Go and get the data.</a:t>
            </a:r>
            <a:endParaRPr sz="2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4" name="Google Shape;534;p2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7750" y="9658350"/>
            <a:ext cx="40292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p21"/>
          <p:cNvSpPr/>
          <p:nvPr/>
        </p:nvSpPr>
        <p:spPr>
          <a:xfrm>
            <a:off x="1574502" y="9674225"/>
            <a:ext cx="4108763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lang="en-US" sz="1425" b="0" i="0" u="none" strike="noStrike" cap="non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21"/>
          <p:cNvSpPr/>
          <p:nvPr/>
        </p:nvSpPr>
        <p:spPr>
          <a:xfrm>
            <a:off x="14387315" y="9674225"/>
            <a:ext cx="2541091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lang="en-US" sz="1425" b="0" i="0" u="none" strike="noStrike" cap="non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21"/>
          <p:cNvSpPr/>
          <p:nvPr/>
        </p:nvSpPr>
        <p:spPr>
          <a:xfrm>
            <a:off x="17080806" y="9674225"/>
            <a:ext cx="235645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lang="en-US" sz="1425" b="0" i="0" u="none" strike="noStrike" cap="non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22"/>
          <p:cNvSpPr/>
          <p:nvPr/>
        </p:nvSpPr>
        <p:spPr>
          <a:xfrm>
            <a:off x="1047750" y="914400"/>
            <a:ext cx="17811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REST APIS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22"/>
          <p:cNvSpPr/>
          <p:nvPr/>
        </p:nvSpPr>
        <p:spPr>
          <a:xfrm>
            <a:off x="1047750" y="1390650"/>
            <a:ext cx="17811750" cy="643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92621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4500"/>
              <a:buFont typeface="Arial"/>
              <a:buNone/>
            </a:pPr>
            <a:r>
              <a:rPr lang="en-US" sz="4500" b="1" i="0" u="none" strike="noStrike" cap="non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Ask a server, get JSON back</a:t>
            </a:r>
            <a:endParaRPr sz="4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22"/>
          <p:cNvSpPr/>
          <p:nvPr/>
        </p:nvSpPr>
        <p:spPr>
          <a:xfrm>
            <a:off x="1047750" y="2110680"/>
            <a:ext cx="136207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21154"/>
              </a:lnSpc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2250"/>
              <a:buFont typeface="Arial"/>
              <a:buNone/>
            </a:pPr>
            <a:r>
              <a:rPr lang="en-US" sz="2250" b="0" i="0" u="none" strike="noStrike" cap="non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A URL with parameters goes out; a status code and a JSON body come back.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22"/>
          <p:cNvSpPr/>
          <p:nvPr/>
        </p:nvSpPr>
        <p:spPr>
          <a:xfrm>
            <a:off x="1047750" y="2796480"/>
            <a:ext cx="3490913" cy="1012924"/>
          </a:xfrm>
          <a:prstGeom prst="roundRect">
            <a:avLst>
              <a:gd name="adj" fmla="val 16926"/>
            </a:avLst>
          </a:prstGeom>
          <a:solidFill>
            <a:srgbClr val="EAF3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22"/>
          <p:cNvSpPr/>
          <p:nvPr/>
        </p:nvSpPr>
        <p:spPr>
          <a:xfrm>
            <a:off x="1314450" y="3025080"/>
            <a:ext cx="3253264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725"/>
              <a:buFont typeface="Arial"/>
              <a:buNone/>
            </a:pPr>
            <a:r>
              <a:rPr lang="en-US" sz="1725" b="1" i="0" u="none" strike="noStrike" cap="non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GET request</a:t>
            </a:r>
            <a:endParaRPr sz="17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22"/>
          <p:cNvSpPr/>
          <p:nvPr/>
        </p:nvSpPr>
        <p:spPr>
          <a:xfrm>
            <a:off x="1314450" y="3310830"/>
            <a:ext cx="3253264" cy="3080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14932"/>
              </a:lnSpc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1575"/>
              <a:buFont typeface="Arial"/>
              <a:buNone/>
            </a:pPr>
            <a:r>
              <a:rPr lang="en-US" sz="1575" b="0" i="0" u="none" strike="noStrike" cap="non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A URL plus parameters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22"/>
          <p:cNvSpPr/>
          <p:nvPr/>
        </p:nvSpPr>
        <p:spPr>
          <a:xfrm>
            <a:off x="4748213" y="3090168"/>
            <a:ext cx="400050" cy="463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2550"/>
              <a:buFont typeface="Arial"/>
              <a:buNone/>
            </a:pPr>
            <a:r>
              <a:rPr lang="en-US" sz="2550" b="0" i="0" u="none" strike="noStrike" cap="non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2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22"/>
          <p:cNvSpPr/>
          <p:nvPr/>
        </p:nvSpPr>
        <p:spPr>
          <a:xfrm>
            <a:off x="5281613" y="2796480"/>
            <a:ext cx="3490913" cy="1012924"/>
          </a:xfrm>
          <a:prstGeom prst="roundRect">
            <a:avLst>
              <a:gd name="adj" fmla="val 16926"/>
            </a:avLst>
          </a:prstGeom>
          <a:solidFill>
            <a:srgbClr val="EAF3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1" name="Google Shape;551;p22"/>
          <p:cNvSpPr/>
          <p:nvPr/>
        </p:nvSpPr>
        <p:spPr>
          <a:xfrm>
            <a:off x="5548313" y="3025080"/>
            <a:ext cx="3253264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725"/>
              <a:buFont typeface="Arial"/>
              <a:buNone/>
            </a:pPr>
            <a:r>
              <a:rPr lang="en-US" sz="1725" b="1" i="0" u="none" strike="noStrike" cap="non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Server</a:t>
            </a:r>
            <a:endParaRPr sz="17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22"/>
          <p:cNvSpPr/>
          <p:nvPr/>
        </p:nvSpPr>
        <p:spPr>
          <a:xfrm>
            <a:off x="5548313" y="3310830"/>
            <a:ext cx="3253264" cy="3080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14932"/>
              </a:lnSpc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1575"/>
              <a:buFont typeface="Arial"/>
              <a:buNone/>
            </a:pPr>
            <a:r>
              <a:rPr lang="en-US" sz="1575" b="0" i="0" u="none" strike="noStrike" cap="non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Open-Meteo — free, no key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22"/>
          <p:cNvSpPr/>
          <p:nvPr/>
        </p:nvSpPr>
        <p:spPr>
          <a:xfrm>
            <a:off x="8982075" y="3090168"/>
            <a:ext cx="400050" cy="463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2550"/>
              <a:buFont typeface="Arial"/>
              <a:buNone/>
            </a:pPr>
            <a:r>
              <a:rPr lang="en-US" sz="2550" b="0" i="0" u="none" strike="noStrike" cap="non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2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22"/>
          <p:cNvSpPr/>
          <p:nvPr/>
        </p:nvSpPr>
        <p:spPr>
          <a:xfrm>
            <a:off x="9515475" y="2796480"/>
            <a:ext cx="3490913" cy="1012924"/>
          </a:xfrm>
          <a:prstGeom prst="roundRect">
            <a:avLst>
              <a:gd name="adj" fmla="val 16926"/>
            </a:avLst>
          </a:prstGeom>
          <a:solidFill>
            <a:srgbClr val="EAF3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5" name="Google Shape;555;p22"/>
          <p:cNvSpPr/>
          <p:nvPr/>
        </p:nvSpPr>
        <p:spPr>
          <a:xfrm>
            <a:off x="9782175" y="3025080"/>
            <a:ext cx="3253264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725"/>
              <a:buFont typeface="Arial"/>
              <a:buNone/>
            </a:pPr>
            <a:r>
              <a:rPr lang="en-US" sz="1725" b="1" i="0" u="none" strike="noStrike" cap="non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Response</a:t>
            </a:r>
            <a:endParaRPr sz="17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22"/>
          <p:cNvSpPr/>
          <p:nvPr/>
        </p:nvSpPr>
        <p:spPr>
          <a:xfrm>
            <a:off x="9782175" y="3310830"/>
            <a:ext cx="3253264" cy="3080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14932"/>
              </a:lnSpc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1575"/>
              <a:buFont typeface="Arial"/>
              <a:buNone/>
            </a:pPr>
            <a:r>
              <a:rPr lang="en-US" sz="1575" b="0" i="0" u="none" strike="noStrike" cap="non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Status code + JSON body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22"/>
          <p:cNvSpPr/>
          <p:nvPr/>
        </p:nvSpPr>
        <p:spPr>
          <a:xfrm>
            <a:off x="13215938" y="3090168"/>
            <a:ext cx="400050" cy="463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2550"/>
              <a:buFont typeface="Arial"/>
              <a:buNone/>
            </a:pPr>
            <a:r>
              <a:rPr lang="en-US" sz="2550" b="0" i="0" u="none" strike="noStrike" cap="non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2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22"/>
          <p:cNvSpPr/>
          <p:nvPr/>
        </p:nvSpPr>
        <p:spPr>
          <a:xfrm>
            <a:off x="13749338" y="2796480"/>
            <a:ext cx="3490913" cy="1012924"/>
          </a:xfrm>
          <a:prstGeom prst="roundRect">
            <a:avLst>
              <a:gd name="adj" fmla="val 16926"/>
            </a:avLst>
          </a:prstGeom>
          <a:solidFill>
            <a:srgbClr val="0C2E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9" name="Google Shape;559;p22"/>
          <p:cNvSpPr/>
          <p:nvPr/>
        </p:nvSpPr>
        <p:spPr>
          <a:xfrm>
            <a:off x="14016038" y="3025080"/>
            <a:ext cx="3253264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725"/>
              <a:buFont typeface="Arial"/>
              <a:buNone/>
            </a:pPr>
            <a:r>
              <a:rPr lang="en-US" sz="1725" b="1" i="0" u="none" strike="noStrike" cap="none">
                <a:solidFill>
                  <a:srgbClr val="7FD6A0"/>
                </a:solidFill>
                <a:latin typeface="Arial"/>
                <a:ea typeface="Arial"/>
                <a:cs typeface="Arial"/>
                <a:sym typeface="Arial"/>
              </a:rPr>
              <a:t>DataFrame</a:t>
            </a:r>
            <a:endParaRPr sz="17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2"/>
          <p:cNvSpPr/>
          <p:nvPr/>
        </p:nvSpPr>
        <p:spPr>
          <a:xfrm>
            <a:off x="14016038" y="3310830"/>
            <a:ext cx="3253264" cy="3080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1493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</a:pPr>
            <a:r>
              <a:rPr lang="en-US" sz="1575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Rows you can chart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22"/>
          <p:cNvSpPr/>
          <p:nvPr/>
        </p:nvSpPr>
        <p:spPr>
          <a:xfrm>
            <a:off x="1047750" y="4057055"/>
            <a:ext cx="8805267" cy="5372695"/>
          </a:xfrm>
          <a:prstGeom prst="roundRect">
            <a:avLst>
              <a:gd name="adj" fmla="val 3191"/>
            </a:avLst>
          </a:prstGeom>
          <a:solidFill>
            <a:srgbClr val="0C2E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2" name="Google Shape;562;p22"/>
          <p:cNvSpPr/>
          <p:nvPr/>
        </p:nvSpPr>
        <p:spPr>
          <a:xfrm>
            <a:off x="1371600" y="4323755"/>
            <a:ext cx="8421725" cy="4877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Clr>
                <a:srgbClr val="E8F0E9"/>
              </a:buClr>
              <a:buSzPts val="1350"/>
              <a:buFont typeface="Courier New"/>
              <a:buNone/>
            </a:pPr>
            <a:r>
              <a:rPr lang="en-US" sz="1350" b="0" i="0" u="none" strike="noStrike" cap="none" dirty="0" err="1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url</a:t>
            </a:r>
            <a:r>
              <a:rPr lang="en-US" sz="1350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 = ( </a:t>
            </a:r>
            <a:r>
              <a:rPr lang="en-US" sz="1350" b="0" i="0" u="none" strike="noStrike" cap="none" dirty="0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"https://api.open-meteo.com/v1/forecast" </a:t>
            </a:r>
            <a:r>
              <a:rPr lang="en-US" sz="1350" b="0" i="0" u="none" strike="noStrike" cap="none" dirty="0" err="1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f"?latitude</a:t>
            </a:r>
            <a:r>
              <a:rPr lang="en-US" sz="1350" b="0" i="0" u="none" strike="noStrike" cap="none" dirty="0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={</a:t>
            </a:r>
            <a:r>
              <a:rPr lang="en-US" sz="1350" b="0" i="0" u="none" strike="noStrike" cap="none" dirty="0" err="1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lat</a:t>
            </a:r>
            <a:r>
              <a:rPr lang="en-US" sz="1350" b="0" i="0" u="none" strike="noStrike" cap="none" dirty="0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}&amp;longitude={</a:t>
            </a:r>
            <a:r>
              <a:rPr lang="en-US" sz="1350" b="0" i="0" u="none" strike="noStrike" cap="none" dirty="0" err="1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lon</a:t>
            </a:r>
            <a:r>
              <a:rPr lang="en-US" sz="1350" b="0" i="0" u="none" strike="noStrike" cap="none" dirty="0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}" "&amp;daily=temperature_2m_max" "&amp;</a:t>
            </a:r>
            <a:r>
              <a:rPr lang="en-US" sz="1350" b="0" i="0" u="none" strike="noStrike" cap="none" dirty="0" err="1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timezone</a:t>
            </a:r>
            <a:r>
              <a:rPr lang="en-US" sz="1350" b="0" i="0" u="none" strike="noStrike" cap="none" dirty="0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=Asia%2FKolkata&amp;forecast_days=7" </a:t>
            </a:r>
            <a:r>
              <a:rPr lang="en-US" sz="1350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</a:p>
          <a:p>
            <a:pPr marL="0" marR="0" lvl="0" indent="0" algn="l" rtl="0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Clr>
                <a:srgbClr val="E8F0E9"/>
              </a:buClr>
              <a:buSzPts val="1350"/>
              <a:buFont typeface="Courier New"/>
              <a:buNone/>
            </a:pPr>
            <a:r>
              <a:rPr lang="en-US" sz="1350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response = </a:t>
            </a:r>
            <a:r>
              <a:rPr lang="en-US" sz="1350" b="0" i="0" u="none" strike="noStrike" cap="none" dirty="0" err="1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requests.</a:t>
            </a:r>
            <a:r>
              <a:rPr lang="en-US" sz="1350" b="0" i="0" u="none" strike="noStrike" cap="none" dirty="0" err="1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r>
              <a:rPr lang="en-US" sz="1350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350" b="0" i="0" u="none" strike="noStrike" cap="none" dirty="0" err="1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url</a:t>
            </a:r>
            <a:r>
              <a:rPr lang="en-US" sz="1350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, timeout=</a:t>
            </a:r>
            <a:r>
              <a:rPr lang="en-US" sz="1350" b="0" i="0" u="none" strike="noStrike" cap="none" dirty="0">
                <a:solidFill>
                  <a:srgbClr val="F0B060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lang="en-US" sz="1350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</a:p>
          <a:p>
            <a:pPr marL="0" marR="0" lvl="0" indent="0" algn="l" rtl="0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Clr>
                <a:srgbClr val="E8F0E9"/>
              </a:buClr>
              <a:buSzPts val="1350"/>
              <a:buFont typeface="Courier New"/>
              <a:buNone/>
            </a:pPr>
            <a:r>
              <a:rPr lang="en-US" sz="1350" b="0" i="0" u="none" strike="noStrike" cap="none" dirty="0">
                <a:solidFill>
                  <a:srgbClr val="9AA79F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1350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(city, </a:t>
            </a:r>
            <a:r>
              <a:rPr lang="en-US" sz="1350" b="0" i="0" u="none" strike="noStrike" cap="none" dirty="0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"-&gt; status code:"</a:t>
            </a:r>
            <a:r>
              <a:rPr lang="en-US" sz="1350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350" b="0" i="0" u="none" strike="noStrike" cap="none" dirty="0" err="1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response.status_code</a:t>
            </a:r>
            <a:r>
              <a:rPr lang="en-US" sz="1350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3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22"/>
          <p:cNvSpPr/>
          <p:nvPr/>
        </p:nvSpPr>
        <p:spPr>
          <a:xfrm>
            <a:off x="10195917" y="4057055"/>
            <a:ext cx="3455491" cy="1712516"/>
          </a:xfrm>
          <a:prstGeom prst="roundRect">
            <a:avLst>
              <a:gd name="adj" fmla="val 8899"/>
            </a:avLst>
          </a:prstGeom>
          <a:solidFill>
            <a:srgbClr val="EAF3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4" name="Google Shape;564;p22"/>
          <p:cNvSpPr/>
          <p:nvPr/>
        </p:nvSpPr>
        <p:spPr>
          <a:xfrm>
            <a:off x="10424517" y="4247555"/>
            <a:ext cx="3298121" cy="29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Courier New"/>
              <a:buNone/>
            </a:pPr>
            <a:r>
              <a:rPr lang="en-US" sz="1800" b="1" i="0" u="none" strike="noStrike" cap="none">
                <a:solidFill>
                  <a:srgbClr val="1F9D57"/>
                </a:solidFill>
                <a:latin typeface="Courier New"/>
                <a:ea typeface="Courier New"/>
                <a:cs typeface="Courier New"/>
                <a:sym typeface="Courier New"/>
              </a:rPr>
              <a:t>200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22"/>
          <p:cNvSpPr/>
          <p:nvPr/>
        </p:nvSpPr>
        <p:spPr>
          <a:xfrm>
            <a:off x="10424517" y="4507905"/>
            <a:ext cx="3298121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14706"/>
              </a:lnSpc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Success — safe to parse.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22"/>
          <p:cNvSpPr/>
          <p:nvPr/>
        </p:nvSpPr>
        <p:spPr>
          <a:xfrm>
            <a:off x="13784759" y="4057055"/>
            <a:ext cx="3455491" cy="1712516"/>
          </a:xfrm>
          <a:prstGeom prst="roundRect">
            <a:avLst>
              <a:gd name="adj" fmla="val 8899"/>
            </a:avLst>
          </a:prstGeom>
          <a:solidFill>
            <a:srgbClr val="F4F7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7" name="Google Shape;567;p22"/>
          <p:cNvSpPr/>
          <p:nvPr/>
        </p:nvSpPr>
        <p:spPr>
          <a:xfrm>
            <a:off x="14013359" y="4247555"/>
            <a:ext cx="3298121" cy="29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E4A32"/>
              </a:buClr>
              <a:buSzPts val="1800"/>
              <a:buFont typeface="Courier New"/>
              <a:buNone/>
            </a:pPr>
            <a:r>
              <a:rPr lang="en-US" sz="1800" b="1" i="0" u="none" strike="noStrike" cap="none">
                <a:solidFill>
                  <a:srgbClr val="CE4A32"/>
                </a:solidFill>
                <a:latin typeface="Courier New"/>
                <a:ea typeface="Courier New"/>
                <a:cs typeface="Courier New"/>
                <a:sym typeface="Courier New"/>
              </a:rPr>
              <a:t>404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22"/>
          <p:cNvSpPr/>
          <p:nvPr/>
        </p:nvSpPr>
        <p:spPr>
          <a:xfrm>
            <a:off x="14013359" y="4507905"/>
            <a:ext cx="3298121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14706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Wrong URL or endpoint.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2"/>
          <p:cNvSpPr/>
          <p:nvPr/>
        </p:nvSpPr>
        <p:spPr>
          <a:xfrm>
            <a:off x="10195917" y="5902921"/>
            <a:ext cx="3455491" cy="1712615"/>
          </a:xfrm>
          <a:prstGeom prst="roundRect">
            <a:avLst>
              <a:gd name="adj" fmla="val 8899"/>
            </a:avLst>
          </a:prstGeom>
          <a:solidFill>
            <a:srgbClr val="F4F7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0" name="Google Shape;570;p22"/>
          <p:cNvSpPr/>
          <p:nvPr/>
        </p:nvSpPr>
        <p:spPr>
          <a:xfrm>
            <a:off x="10424517" y="6093421"/>
            <a:ext cx="3298121" cy="29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E4A32"/>
              </a:buClr>
              <a:buSzPts val="1800"/>
              <a:buFont typeface="Courier New"/>
              <a:buNone/>
            </a:pPr>
            <a:r>
              <a:rPr lang="en-US" sz="1800" b="1" i="0" u="none" strike="noStrike" cap="none">
                <a:solidFill>
                  <a:srgbClr val="CE4A32"/>
                </a:solidFill>
                <a:latin typeface="Courier New"/>
                <a:ea typeface="Courier New"/>
                <a:cs typeface="Courier New"/>
                <a:sym typeface="Courier New"/>
              </a:rPr>
              <a:t>429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22"/>
          <p:cNvSpPr/>
          <p:nvPr/>
        </p:nvSpPr>
        <p:spPr>
          <a:xfrm>
            <a:off x="10424517" y="6353770"/>
            <a:ext cx="3298121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14706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Too many requests — slow down.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22"/>
          <p:cNvSpPr/>
          <p:nvPr/>
        </p:nvSpPr>
        <p:spPr>
          <a:xfrm>
            <a:off x="13784759" y="5902921"/>
            <a:ext cx="3455491" cy="1712615"/>
          </a:xfrm>
          <a:prstGeom prst="roundRect">
            <a:avLst>
              <a:gd name="adj" fmla="val 8899"/>
            </a:avLst>
          </a:prstGeom>
          <a:solidFill>
            <a:srgbClr val="F4F7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3" name="Google Shape;573;p22"/>
          <p:cNvSpPr/>
          <p:nvPr/>
        </p:nvSpPr>
        <p:spPr>
          <a:xfrm>
            <a:off x="14013359" y="6093421"/>
            <a:ext cx="3298121" cy="29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E4A32"/>
              </a:buClr>
              <a:buSzPts val="1800"/>
              <a:buFont typeface="Courier New"/>
              <a:buNone/>
            </a:pPr>
            <a:r>
              <a:rPr lang="en-US" sz="1800" b="1" i="0" u="none" strike="noStrike" cap="none">
                <a:solidFill>
                  <a:srgbClr val="CE4A32"/>
                </a:solidFill>
                <a:latin typeface="Courier New"/>
                <a:ea typeface="Courier New"/>
                <a:cs typeface="Courier New"/>
                <a:sym typeface="Courier New"/>
              </a:rPr>
              <a:t>500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22"/>
          <p:cNvSpPr/>
          <p:nvPr/>
        </p:nvSpPr>
        <p:spPr>
          <a:xfrm>
            <a:off x="14013359" y="6353770"/>
            <a:ext cx="3298121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14706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Their server broke, not your code.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22"/>
          <p:cNvSpPr/>
          <p:nvPr/>
        </p:nvSpPr>
        <p:spPr>
          <a:xfrm>
            <a:off x="10195917" y="7748885"/>
            <a:ext cx="7044333" cy="1680865"/>
          </a:xfrm>
          <a:prstGeom prst="roundRect">
            <a:avLst>
              <a:gd name="adj" fmla="val 9067"/>
            </a:avLst>
          </a:prstGeom>
          <a:solidFill>
            <a:srgbClr val="FBEF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6" name="Google Shape;576;p22"/>
          <p:cNvSpPr/>
          <p:nvPr/>
        </p:nvSpPr>
        <p:spPr>
          <a:xfrm>
            <a:off x="10195917" y="7748885"/>
            <a:ext cx="57150" cy="1680865"/>
          </a:xfrm>
          <a:prstGeom prst="rect">
            <a:avLst/>
          </a:prstGeom>
          <a:solidFill>
            <a:srgbClr val="CE4A3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7" name="Google Shape;577;p22"/>
          <p:cNvSpPr/>
          <p:nvPr/>
        </p:nvSpPr>
        <p:spPr>
          <a:xfrm>
            <a:off x="10481667" y="7920335"/>
            <a:ext cx="6725882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19118"/>
              </a:lnSpc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Check the code before the data. </a:t>
            </a:r>
            <a:r>
              <a:rPr lang="en-US" sz="1500" b="0" i="0" u="none" strike="noStrike" cap="non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No authentication today — Open-Meteo needs no key.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8" name="Google Shape;578;p2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7750" y="9658350"/>
            <a:ext cx="40292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9" name="Google Shape;579;p22"/>
          <p:cNvSpPr/>
          <p:nvPr/>
        </p:nvSpPr>
        <p:spPr>
          <a:xfrm>
            <a:off x="1574502" y="9674225"/>
            <a:ext cx="4108763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lang="en-US" sz="1425" b="0" i="0" u="none" strike="noStrike" cap="non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22"/>
          <p:cNvSpPr/>
          <p:nvPr/>
        </p:nvSpPr>
        <p:spPr>
          <a:xfrm>
            <a:off x="14338995" y="9674225"/>
            <a:ext cx="2541091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lang="en-US" sz="1425" b="0" i="0" u="none" strike="noStrike" cap="non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22"/>
          <p:cNvSpPr/>
          <p:nvPr/>
        </p:nvSpPr>
        <p:spPr>
          <a:xfrm>
            <a:off x="17032486" y="9674225"/>
            <a:ext cx="283964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lang="en-US" sz="1425" b="0" i="0" u="none" strike="noStrike" cap="non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23"/>
          <p:cNvSpPr/>
          <p:nvPr/>
        </p:nvSpPr>
        <p:spPr>
          <a:xfrm>
            <a:off x="1047750" y="914400"/>
            <a:ext cx="17811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REQUEST → JSON → DATAFRAME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23"/>
          <p:cNvSpPr/>
          <p:nvPr/>
        </p:nvSpPr>
        <p:spPr>
          <a:xfrm>
            <a:off x="1047750" y="1390650"/>
            <a:ext cx="17811750" cy="643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92621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4500"/>
              <a:buFont typeface="Arial"/>
              <a:buNone/>
            </a:pPr>
            <a:r>
              <a:rPr lang="en-US" sz="4500" b="1" i="0" u="none" strike="noStrike" cap="non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Five steps, four capitals</a:t>
            </a:r>
            <a:endParaRPr sz="4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23"/>
          <p:cNvSpPr/>
          <p:nvPr/>
        </p:nvSpPr>
        <p:spPr>
          <a:xfrm>
            <a:off x="1047750" y="2110680"/>
            <a:ext cx="136207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21154"/>
              </a:lnSpc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2250"/>
              <a:buFont typeface="Arial"/>
              <a:buNone/>
            </a:pPr>
            <a:r>
              <a:rPr lang="en-US" sz="2250" b="0" i="0" u="none" strike="noStrike" cap="non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A 7-day maximum-temperature forecast for Delhi, Mumbai, Chennai and Kolkata — then a CSV.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23"/>
          <p:cNvSpPr/>
          <p:nvPr/>
        </p:nvSpPr>
        <p:spPr>
          <a:xfrm>
            <a:off x="1047750" y="2796480"/>
            <a:ext cx="8467427" cy="6633270"/>
          </a:xfrm>
          <a:prstGeom prst="roundRect">
            <a:avLst>
              <a:gd name="adj" fmla="val 2585"/>
            </a:avLst>
          </a:prstGeom>
          <a:solidFill>
            <a:srgbClr val="0C2E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1" name="Google Shape;591;p23"/>
          <p:cNvSpPr/>
          <p:nvPr/>
        </p:nvSpPr>
        <p:spPr>
          <a:xfrm>
            <a:off x="1390650" y="3082230"/>
            <a:ext cx="8035650" cy="6099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53000"/>
              </a:lnSpc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350"/>
              <a:buFont typeface="Courier New"/>
              <a:buNone/>
            </a:pPr>
            <a:r>
              <a:rPr lang="en-US" sz="1350" b="0" i="0" u="none" strike="noStrike" cap="none" dirty="0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lang="en-US" sz="1350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requests </a:t>
            </a:r>
            <a:r>
              <a:rPr lang="en-US" sz="1350" b="0" i="0" u="none" strike="noStrike" cap="none" dirty="0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for </a:t>
            </a:r>
            <a:r>
              <a:rPr lang="en-US" sz="1350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city, (</a:t>
            </a:r>
            <a:r>
              <a:rPr lang="en-US" sz="1350" b="0" i="0" u="none" strike="noStrike" cap="none" dirty="0" err="1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lat</a:t>
            </a:r>
            <a:r>
              <a:rPr lang="en-US" sz="1350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350" b="0" i="0" u="none" strike="noStrike" cap="none" dirty="0" err="1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lon</a:t>
            </a:r>
            <a:r>
              <a:rPr lang="en-US" sz="1350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n-US" sz="1350" b="0" i="0" u="none" strike="noStrike" cap="none" dirty="0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in </a:t>
            </a:r>
            <a:r>
              <a:rPr lang="en-US" sz="1350" b="0" i="0" u="none" strike="noStrike" cap="none" dirty="0" err="1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capitals.</a:t>
            </a:r>
            <a:r>
              <a:rPr lang="en-US" sz="1350" b="0" i="0" u="none" strike="noStrike" cap="none" dirty="0" err="1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items</a:t>
            </a:r>
            <a:r>
              <a:rPr lang="en-US" sz="1350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(): </a:t>
            </a:r>
          </a:p>
          <a:p>
            <a:pPr marL="0" marR="0" lvl="0" indent="0" algn="l" rtl="0">
              <a:lnSpc>
                <a:spcPct val="153000"/>
              </a:lnSpc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350"/>
              <a:buFont typeface="Courier New"/>
              <a:buNone/>
            </a:pPr>
            <a:r>
              <a:rPr lang="en-US" sz="1350" b="0" i="0" u="none" strike="noStrike" cap="none" dirty="0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try </a:t>
            </a:r>
            <a:r>
              <a:rPr lang="en-US" sz="1350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: response = </a:t>
            </a:r>
            <a:r>
              <a:rPr lang="en-US" sz="1350" b="0" i="0" u="none" strike="noStrike" cap="none" dirty="0" err="1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requests.</a:t>
            </a:r>
            <a:r>
              <a:rPr lang="en-US" sz="1350" b="0" i="0" u="none" strike="noStrike" cap="none" dirty="0" err="1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r>
              <a:rPr lang="en-US" sz="1350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350" b="0" i="0" u="none" strike="noStrike" cap="none" dirty="0" err="1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url</a:t>
            </a:r>
            <a:r>
              <a:rPr lang="en-US" sz="1350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, timeout=</a:t>
            </a:r>
            <a:r>
              <a:rPr lang="en-US" sz="1350" b="0" i="0" u="none" strike="noStrike" cap="none" dirty="0">
                <a:solidFill>
                  <a:srgbClr val="F0B060"/>
                </a:solidFill>
                <a:latin typeface="Courier New"/>
                <a:ea typeface="Courier New"/>
                <a:cs typeface="Courier New"/>
                <a:sym typeface="Courier New"/>
              </a:rPr>
              <a:t>10 </a:t>
            </a:r>
            <a:r>
              <a:rPr lang="en-US" sz="1350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</a:p>
          <a:p>
            <a:pPr lvl="4">
              <a:lnSpc>
                <a:spcPct val="153000"/>
              </a:lnSpc>
              <a:buClr>
                <a:srgbClr val="7FD6A0"/>
              </a:buClr>
              <a:buSzPts val="1350"/>
            </a:pPr>
            <a:r>
              <a:rPr lang="en-US" sz="1350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data = </a:t>
            </a:r>
            <a:r>
              <a:rPr lang="en-US" sz="1350" b="0" i="0" u="none" strike="noStrike" cap="none" dirty="0" err="1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response.</a:t>
            </a:r>
            <a:r>
              <a:rPr lang="en-US" sz="1350" b="0" i="0" u="none" strike="noStrike" cap="none" dirty="0" err="1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json</a:t>
            </a:r>
            <a:r>
              <a:rPr lang="en-US" sz="1350" b="0" i="0" u="none" strike="noStrike" cap="none" dirty="0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350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() </a:t>
            </a:r>
          </a:p>
          <a:p>
            <a:pPr lvl="4">
              <a:lnSpc>
                <a:spcPct val="153000"/>
              </a:lnSpc>
              <a:buClr>
                <a:srgbClr val="7FD6A0"/>
              </a:buClr>
              <a:buSzPts val="1350"/>
            </a:pPr>
            <a:r>
              <a:rPr lang="en-US" sz="1350" b="0" i="0" u="none" strike="noStrike" cap="none" dirty="0" err="1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max_temps</a:t>
            </a:r>
            <a:r>
              <a:rPr lang="en-US" sz="1350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 = data[</a:t>
            </a:r>
            <a:r>
              <a:rPr lang="en-US" sz="1350" b="0" i="0" u="none" strike="noStrike" cap="none" dirty="0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"daily"</a:t>
            </a:r>
            <a:r>
              <a:rPr lang="en-US" sz="1350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][</a:t>
            </a:r>
            <a:r>
              <a:rPr lang="en-US" sz="1350" b="0" i="0" u="none" strike="noStrike" cap="none" dirty="0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"temperature_2m_max"</a:t>
            </a:r>
            <a:r>
              <a:rPr lang="en-US" sz="1350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] </a:t>
            </a:r>
          </a:p>
          <a:p>
            <a:pPr marL="0" marR="0" lvl="0" indent="0" algn="l" rtl="0">
              <a:lnSpc>
                <a:spcPct val="153000"/>
              </a:lnSpc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350"/>
              <a:buFont typeface="Courier New"/>
              <a:buNone/>
            </a:pPr>
            <a:r>
              <a:rPr lang="en-US" sz="1350" b="0" i="0" u="none" strike="noStrike" cap="none" dirty="0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except </a:t>
            </a:r>
            <a:r>
              <a:rPr lang="en-US" sz="1350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Exception </a:t>
            </a:r>
            <a:r>
              <a:rPr lang="en-US" sz="1350" b="0" i="0" u="none" strike="noStrike" cap="none" dirty="0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as </a:t>
            </a:r>
            <a:r>
              <a:rPr lang="en-US" sz="1350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error: </a:t>
            </a:r>
          </a:p>
          <a:p>
            <a:pPr marL="0" marR="0" lvl="0" indent="0" algn="l" rtl="0">
              <a:lnSpc>
                <a:spcPct val="153000"/>
              </a:lnSpc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350"/>
              <a:buFont typeface="Courier New"/>
              <a:buNone/>
            </a:pPr>
            <a:r>
              <a:rPr lang="en-US" sz="1350" b="0" i="0" u="none" strike="noStrike" cap="none" dirty="0" err="1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max_temps</a:t>
            </a:r>
            <a:r>
              <a:rPr lang="en-US" sz="1350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1350" b="0" i="0" u="none" strike="noStrike" cap="none" dirty="0" err="1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offline_sample</a:t>
            </a:r>
            <a:r>
              <a:rPr lang="en-US" sz="1350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[city] </a:t>
            </a:r>
          </a:p>
          <a:p>
            <a:pPr marL="0" marR="0" lvl="0" indent="0" algn="l" rtl="0">
              <a:lnSpc>
                <a:spcPct val="153000"/>
              </a:lnSpc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350"/>
              <a:buFont typeface="Courier New"/>
              <a:buNone/>
            </a:pPr>
            <a:r>
              <a:rPr lang="en-US" sz="1350" b="0" i="0" u="none" strike="noStrike" cap="none" dirty="0" err="1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rows.</a:t>
            </a:r>
            <a:r>
              <a:rPr lang="en-US" sz="1350" b="0" i="0" u="none" strike="noStrike" cap="none" dirty="0" err="1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append</a:t>
            </a:r>
            <a:r>
              <a:rPr lang="en-US" sz="1350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({</a:t>
            </a:r>
            <a:r>
              <a:rPr lang="en-US" sz="1350" b="0" i="0" u="none" strike="noStrike" cap="none" dirty="0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"City"</a:t>
            </a:r>
            <a:r>
              <a:rPr lang="en-US" sz="1350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: city, </a:t>
            </a:r>
            <a:r>
              <a:rPr lang="en-US" sz="1350" b="0" i="0" u="none" strike="noStrike" cap="none" dirty="0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350" b="0" i="0" u="none" strike="noStrike" cap="none" dirty="0" err="1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AvgMaxTemp_C</a:t>
            </a:r>
            <a:r>
              <a:rPr lang="en-US" sz="1350" b="0" i="0" u="none" strike="noStrike" cap="none" dirty="0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350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US" sz="1350" b="0" i="0" u="none" strike="noStrike" cap="none" dirty="0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round</a:t>
            </a:r>
            <a:r>
              <a:rPr lang="en-US" sz="1350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350" b="0" i="0" u="none" strike="noStrike" cap="none" dirty="0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sum</a:t>
            </a:r>
            <a:r>
              <a:rPr lang="en-US" sz="1350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350" b="0" i="0" u="none" strike="noStrike" cap="none" dirty="0" err="1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max_temps</a:t>
            </a:r>
            <a:r>
              <a:rPr lang="en-US" sz="1350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)/</a:t>
            </a:r>
            <a:r>
              <a:rPr lang="en-US" sz="1350" b="0" i="0" u="none" strike="noStrike" cap="none" dirty="0" err="1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len</a:t>
            </a:r>
            <a:r>
              <a:rPr lang="en-US" sz="1350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350" b="0" i="0" u="none" strike="noStrike" cap="none" dirty="0" err="1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max_temps</a:t>
            </a:r>
            <a:r>
              <a:rPr lang="en-US" sz="1350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), </a:t>
            </a:r>
            <a:r>
              <a:rPr lang="en-US" sz="1350" b="0" i="0" u="none" strike="noStrike" cap="none" dirty="0">
                <a:solidFill>
                  <a:srgbClr val="F0B060"/>
                </a:solidFill>
                <a:latin typeface="Courier New"/>
                <a:ea typeface="Courier New"/>
                <a:cs typeface="Courier New"/>
                <a:sym typeface="Courier New"/>
              </a:rPr>
              <a:t>1 </a:t>
            </a:r>
            <a:r>
              <a:rPr lang="en-US" sz="1350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)}) </a:t>
            </a:r>
          </a:p>
          <a:p>
            <a:pPr marL="0" marR="0" lvl="0" indent="0" algn="l" rtl="0">
              <a:lnSpc>
                <a:spcPct val="153000"/>
              </a:lnSpc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350"/>
              <a:buFont typeface="Courier New"/>
              <a:buNone/>
            </a:pPr>
            <a:r>
              <a:rPr lang="en-US" sz="1350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weather = </a:t>
            </a:r>
            <a:r>
              <a:rPr lang="en-US" sz="1350" b="0" i="0" u="none" strike="noStrike" cap="none" dirty="0" err="1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pd.</a:t>
            </a:r>
            <a:r>
              <a:rPr lang="en-US" sz="1350" b="0" i="0" u="none" strike="noStrike" cap="none" dirty="0" err="1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DataFrame</a:t>
            </a:r>
            <a:r>
              <a:rPr lang="en-US" sz="1350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(rows) </a:t>
            </a:r>
          </a:p>
          <a:p>
            <a:pPr marL="0" marR="0" lvl="0" indent="0" algn="l" rtl="0">
              <a:lnSpc>
                <a:spcPct val="153000"/>
              </a:lnSpc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350"/>
              <a:buFont typeface="Courier New"/>
              <a:buNone/>
            </a:pPr>
            <a:r>
              <a:rPr lang="en-US" sz="1350" b="0" i="0" u="none" strike="noStrike" cap="none" dirty="0" err="1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weather.</a:t>
            </a:r>
            <a:r>
              <a:rPr lang="en-US" sz="1350" b="0" i="0" u="none" strike="noStrike" cap="none" dirty="0" err="1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to_csv</a:t>
            </a:r>
            <a:r>
              <a:rPr lang="en-US" sz="1350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350" b="0" i="0" u="none" strike="noStrike" cap="none" dirty="0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"api_weather.csv"</a:t>
            </a:r>
            <a:r>
              <a:rPr lang="en-US" sz="1350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, index=</a:t>
            </a:r>
            <a:r>
              <a:rPr lang="en-US" sz="1350" b="0" i="0" u="none" strike="noStrike" cap="none" dirty="0">
                <a:solidFill>
                  <a:srgbClr val="F0B060"/>
                </a:solidFill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r>
              <a:rPr lang="en-US" sz="1350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3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23"/>
          <p:cNvSpPr/>
          <p:nvPr/>
        </p:nvSpPr>
        <p:spPr>
          <a:xfrm>
            <a:off x="9877127" y="2796480"/>
            <a:ext cx="7363024" cy="927199"/>
          </a:xfrm>
          <a:prstGeom prst="roundRect">
            <a:avLst>
              <a:gd name="adj" fmla="val 16437"/>
            </a:avLst>
          </a:prstGeom>
          <a:solidFill>
            <a:srgbClr val="F4F7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3" name="Google Shape;593;p23"/>
          <p:cNvSpPr/>
          <p:nvPr/>
        </p:nvSpPr>
        <p:spPr>
          <a:xfrm>
            <a:off x="10143827" y="2986980"/>
            <a:ext cx="7512586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650"/>
              <a:buFont typeface="Arial"/>
              <a:buNone/>
            </a:pPr>
            <a:r>
              <a:rPr lang="en-US" sz="1650" b="1" i="0" u="none" strike="noStrike" cap="non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1 · Call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23"/>
          <p:cNvSpPr/>
          <p:nvPr/>
        </p:nvSpPr>
        <p:spPr>
          <a:xfrm>
            <a:off x="10143827" y="3256856"/>
            <a:ext cx="7512586" cy="314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14932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575"/>
              <a:buFont typeface="Courier New"/>
              <a:buNone/>
            </a:pPr>
            <a:r>
              <a:rPr lang="en-US" sz="1575" b="0" i="0" u="none" strike="noStrike" cap="none">
                <a:solidFill>
                  <a:srgbClr val="5B6B62"/>
                </a:solidFill>
                <a:latin typeface="Courier New"/>
                <a:ea typeface="Courier New"/>
                <a:cs typeface="Courier New"/>
                <a:sym typeface="Courier New"/>
              </a:rPr>
              <a:t>requests.get(url, timeout=10)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23"/>
          <p:cNvSpPr/>
          <p:nvPr/>
        </p:nvSpPr>
        <p:spPr>
          <a:xfrm>
            <a:off x="9877127" y="3857030"/>
            <a:ext cx="7363024" cy="927199"/>
          </a:xfrm>
          <a:prstGeom prst="roundRect">
            <a:avLst>
              <a:gd name="adj" fmla="val 16437"/>
            </a:avLst>
          </a:prstGeom>
          <a:solidFill>
            <a:srgbClr val="F4F7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6" name="Google Shape;596;p23"/>
          <p:cNvSpPr/>
          <p:nvPr/>
        </p:nvSpPr>
        <p:spPr>
          <a:xfrm>
            <a:off x="10143827" y="4047530"/>
            <a:ext cx="7512586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650"/>
              <a:buFont typeface="Arial"/>
              <a:buNone/>
            </a:pPr>
            <a:r>
              <a:rPr lang="en-US" sz="1650" b="1" i="0" u="none" strike="noStrike" cap="non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2 · Check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23"/>
          <p:cNvSpPr/>
          <p:nvPr/>
        </p:nvSpPr>
        <p:spPr>
          <a:xfrm>
            <a:off x="10143827" y="4317405"/>
            <a:ext cx="7512586" cy="314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14932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575"/>
              <a:buFont typeface="Courier New"/>
              <a:buNone/>
            </a:pPr>
            <a:r>
              <a:rPr lang="en-US" sz="1575" b="0" i="0" u="none" strike="noStrike" cap="none">
                <a:solidFill>
                  <a:srgbClr val="5B6B62"/>
                </a:solidFill>
                <a:latin typeface="Courier New"/>
                <a:ea typeface="Courier New"/>
                <a:cs typeface="Courier New"/>
                <a:sym typeface="Courier New"/>
              </a:rPr>
              <a:t>status_code </a:t>
            </a:r>
            <a:r>
              <a:rPr lang="en-US" sz="1575" b="0" i="0" u="none" strike="noStrike" cap="non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— 200 or stop.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23"/>
          <p:cNvSpPr/>
          <p:nvPr/>
        </p:nvSpPr>
        <p:spPr>
          <a:xfrm>
            <a:off x="9877127" y="4917579"/>
            <a:ext cx="7363024" cy="927199"/>
          </a:xfrm>
          <a:prstGeom prst="roundRect">
            <a:avLst>
              <a:gd name="adj" fmla="val 16437"/>
            </a:avLst>
          </a:prstGeom>
          <a:solidFill>
            <a:srgbClr val="F4F7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9" name="Google Shape;599;p23"/>
          <p:cNvSpPr/>
          <p:nvPr/>
        </p:nvSpPr>
        <p:spPr>
          <a:xfrm>
            <a:off x="10143827" y="5108079"/>
            <a:ext cx="7512586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650"/>
              <a:buFont typeface="Arial"/>
              <a:buNone/>
            </a:pPr>
            <a:r>
              <a:rPr lang="en-US" sz="1650" b="1" i="0" u="none" strike="noStrike" cap="non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3 · Parse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23"/>
          <p:cNvSpPr/>
          <p:nvPr/>
        </p:nvSpPr>
        <p:spPr>
          <a:xfrm>
            <a:off x="10143827" y="5377954"/>
            <a:ext cx="7512586" cy="314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14932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575"/>
              <a:buFont typeface="Courier New"/>
              <a:buNone/>
            </a:pPr>
            <a:r>
              <a:rPr lang="en-US" sz="1575" b="0" i="0" u="none" strike="noStrike" cap="none">
                <a:solidFill>
                  <a:srgbClr val="5B6B62"/>
                </a:solidFill>
                <a:latin typeface="Courier New"/>
                <a:ea typeface="Courier New"/>
                <a:cs typeface="Courier New"/>
                <a:sym typeface="Courier New"/>
              </a:rPr>
              <a:t>.json() </a:t>
            </a:r>
            <a:r>
              <a:rPr lang="en-US" sz="1575" b="0" i="0" u="none" strike="noStrike" cap="non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→ nested dicts &amp; lists.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23"/>
          <p:cNvSpPr/>
          <p:nvPr/>
        </p:nvSpPr>
        <p:spPr>
          <a:xfrm>
            <a:off x="9877127" y="5978128"/>
            <a:ext cx="7363024" cy="927199"/>
          </a:xfrm>
          <a:prstGeom prst="roundRect">
            <a:avLst>
              <a:gd name="adj" fmla="val 16437"/>
            </a:avLst>
          </a:prstGeom>
          <a:solidFill>
            <a:srgbClr val="F4F7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2" name="Google Shape;602;p23"/>
          <p:cNvSpPr/>
          <p:nvPr/>
        </p:nvSpPr>
        <p:spPr>
          <a:xfrm>
            <a:off x="10143827" y="6168628"/>
            <a:ext cx="7512586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650"/>
              <a:buFont typeface="Arial"/>
              <a:buNone/>
            </a:pPr>
            <a:r>
              <a:rPr lang="en-US" sz="1650" b="1" i="0" u="none" strike="noStrike" cap="non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4 · Collect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23"/>
          <p:cNvSpPr/>
          <p:nvPr/>
        </p:nvSpPr>
        <p:spPr>
          <a:xfrm>
            <a:off x="10143827" y="6438504"/>
            <a:ext cx="7512586" cy="314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14932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575"/>
              <a:buFont typeface="Arial"/>
              <a:buNone/>
            </a:pPr>
            <a:r>
              <a:rPr lang="en-US" sz="1575" b="0" i="0" u="none" strike="noStrike" cap="non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A list of dicts → </a:t>
            </a:r>
            <a:r>
              <a:rPr lang="en-US" sz="1575" b="0" i="0" u="none" strike="noStrike" cap="none">
                <a:solidFill>
                  <a:srgbClr val="5B6B62"/>
                </a:solidFill>
                <a:latin typeface="Courier New"/>
                <a:ea typeface="Courier New"/>
                <a:cs typeface="Courier New"/>
                <a:sym typeface="Courier New"/>
              </a:rPr>
              <a:t>pd.DataFrame</a:t>
            </a:r>
            <a:r>
              <a:rPr lang="en-US" sz="1575" b="0" i="0" u="none" strike="noStrike" cap="non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23"/>
          <p:cNvSpPr/>
          <p:nvPr/>
        </p:nvSpPr>
        <p:spPr>
          <a:xfrm>
            <a:off x="9877127" y="7038677"/>
            <a:ext cx="7363024" cy="927199"/>
          </a:xfrm>
          <a:prstGeom prst="roundRect">
            <a:avLst>
              <a:gd name="adj" fmla="val 16437"/>
            </a:avLst>
          </a:prstGeom>
          <a:solidFill>
            <a:srgbClr val="0C2E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5" name="Google Shape;605;p23"/>
          <p:cNvSpPr/>
          <p:nvPr/>
        </p:nvSpPr>
        <p:spPr>
          <a:xfrm>
            <a:off x="10143827" y="7229177"/>
            <a:ext cx="7512586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650"/>
              <a:buFont typeface="Arial"/>
              <a:buNone/>
            </a:pPr>
            <a:r>
              <a:rPr lang="en-US" sz="1650" b="1" i="0" u="none" strike="noStrike" cap="none">
                <a:solidFill>
                  <a:srgbClr val="7FD6A0"/>
                </a:solidFill>
                <a:latin typeface="Arial"/>
                <a:ea typeface="Arial"/>
                <a:cs typeface="Arial"/>
                <a:sym typeface="Arial"/>
              </a:rPr>
              <a:t>5 · Save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23"/>
          <p:cNvSpPr/>
          <p:nvPr/>
        </p:nvSpPr>
        <p:spPr>
          <a:xfrm>
            <a:off x="10143827" y="7499053"/>
            <a:ext cx="7512586" cy="314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1493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Courier New"/>
              <a:buNone/>
            </a:pPr>
            <a:r>
              <a:rPr lang="en-US" sz="1575" b="0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to_csv("api_weather.csv")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23"/>
          <p:cNvSpPr/>
          <p:nvPr/>
        </p:nvSpPr>
        <p:spPr>
          <a:xfrm>
            <a:off x="9877127" y="8099227"/>
            <a:ext cx="7363024" cy="606425"/>
          </a:xfrm>
          <a:prstGeom prst="roundRect">
            <a:avLst>
              <a:gd name="adj" fmla="val 25131"/>
            </a:avLst>
          </a:prstGeom>
          <a:solidFill>
            <a:srgbClr val="EAF3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8" name="Google Shape;608;p23"/>
          <p:cNvSpPr/>
          <p:nvPr/>
        </p:nvSpPr>
        <p:spPr>
          <a:xfrm>
            <a:off x="10143827" y="8270677"/>
            <a:ext cx="7512586" cy="301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19118"/>
              </a:lnSpc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1500" b="0" i="0" u="none" strike="noStrike" cap="none">
                <a:solidFill>
                  <a:srgbClr val="47564E"/>
                </a:solidFill>
                <a:latin typeface="Courier New"/>
                <a:ea typeface="Courier New"/>
                <a:cs typeface="Courier New"/>
                <a:sym typeface="Courier New"/>
              </a:rPr>
              <a:t>try/except </a:t>
            </a:r>
            <a:r>
              <a:rPr lang="en-US" sz="1500" b="0" i="0" u="none" strike="noStrike" cap="non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falls back to an offline sample so the class always runs.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9" name="Google Shape;609;p2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7750" y="9658350"/>
            <a:ext cx="40292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23"/>
          <p:cNvSpPr/>
          <p:nvPr/>
        </p:nvSpPr>
        <p:spPr>
          <a:xfrm>
            <a:off x="1574502" y="9674225"/>
            <a:ext cx="4108763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lang="en-US" sz="1425" b="0" i="0" u="none" strike="noStrike" cap="non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23"/>
          <p:cNvSpPr/>
          <p:nvPr/>
        </p:nvSpPr>
        <p:spPr>
          <a:xfrm>
            <a:off x="14336217" y="9674225"/>
            <a:ext cx="2541091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lang="en-US" sz="1425" b="0" i="0" u="none" strike="noStrike" cap="non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23"/>
          <p:cNvSpPr/>
          <p:nvPr/>
        </p:nvSpPr>
        <p:spPr>
          <a:xfrm>
            <a:off x="17029708" y="9674225"/>
            <a:ext cx="286742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lang="en-US" sz="1425" b="0" i="0" u="none" strike="noStrike" cap="non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24"/>
          <p:cNvSpPr/>
          <p:nvPr/>
        </p:nvSpPr>
        <p:spPr>
          <a:xfrm>
            <a:off x="14287500" y="-1524000"/>
            <a:ext cx="5334000" cy="5334000"/>
          </a:xfrm>
          <a:prstGeom prst="ellipse">
            <a:avLst/>
          </a:prstGeom>
          <a:solidFill>
            <a:srgbClr val="CE4A32">
              <a:alpha val="784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9" name="Google Shape;619;p24"/>
          <p:cNvSpPr/>
          <p:nvPr/>
        </p:nvSpPr>
        <p:spPr>
          <a:xfrm>
            <a:off x="1047750" y="3096419"/>
            <a:ext cx="2436713" cy="533400"/>
          </a:xfrm>
          <a:prstGeom prst="roundRect">
            <a:avLst>
              <a:gd name="adj" fmla="val 50000"/>
            </a:avLst>
          </a:prstGeom>
          <a:solidFill>
            <a:srgbClr val="CE4A3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0" name="Google Shape;620;p24"/>
          <p:cNvSpPr/>
          <p:nvPr/>
        </p:nvSpPr>
        <p:spPr>
          <a:xfrm>
            <a:off x="1295400" y="3296444"/>
            <a:ext cx="133350" cy="1333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1" name="Google Shape;621;p24"/>
          <p:cNvSpPr/>
          <p:nvPr/>
        </p:nvSpPr>
        <p:spPr>
          <a:xfrm>
            <a:off x="1562100" y="3229769"/>
            <a:ext cx="1750913" cy="29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LIVE CODING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24"/>
          <p:cNvSpPr/>
          <p:nvPr/>
        </p:nvSpPr>
        <p:spPr>
          <a:xfrm>
            <a:off x="1047750" y="3972719"/>
            <a:ext cx="17811750" cy="931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88528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6900"/>
              <a:buFont typeface="Arial"/>
              <a:buNone/>
            </a:pPr>
            <a:r>
              <a:rPr lang="en-US" sz="6900" b="1" i="0" u="none" strike="noStrike" cap="non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Switch to the notebook</a:t>
            </a:r>
            <a:endParaRPr sz="6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24"/>
          <p:cNvSpPr/>
          <p:nvPr/>
        </p:nvSpPr>
        <p:spPr>
          <a:xfrm>
            <a:off x="1047750" y="5285581"/>
            <a:ext cx="7521773" cy="882650"/>
          </a:xfrm>
          <a:prstGeom prst="roundRect">
            <a:avLst>
              <a:gd name="adj" fmla="val 19424"/>
            </a:avLst>
          </a:prstGeom>
          <a:solidFill>
            <a:srgbClr val="FFFFFF"/>
          </a:solidFill>
          <a:ln w="9525" cap="flat" cmpd="sng">
            <a:solidFill>
              <a:srgbClr val="DCE6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4" name="Google Shape;624;p24"/>
          <p:cNvSpPr/>
          <p:nvPr/>
        </p:nvSpPr>
        <p:spPr>
          <a:xfrm>
            <a:off x="1377950" y="5587207"/>
            <a:ext cx="2615664" cy="3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950"/>
              <a:buFont typeface="Courier New"/>
              <a:buNone/>
            </a:pPr>
            <a:r>
              <a:rPr lang="en-US" sz="1950" b="1" i="0" u="none" strike="noStrike" cap="none">
                <a:solidFill>
                  <a:srgbClr val="1F9D57"/>
                </a:solidFill>
                <a:latin typeface="Courier New"/>
                <a:ea typeface="Courier New"/>
                <a:cs typeface="Courier New"/>
                <a:sym typeface="Courier New"/>
              </a:rPr>
              <a:t>Notebook Section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24"/>
          <p:cNvSpPr/>
          <p:nvPr/>
        </p:nvSpPr>
        <p:spPr>
          <a:xfrm>
            <a:off x="3946327" y="5564981"/>
            <a:ext cx="19050" cy="323850"/>
          </a:xfrm>
          <a:prstGeom prst="rect">
            <a:avLst/>
          </a:prstGeom>
          <a:solidFill>
            <a:srgbClr val="C9D6C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6" name="Google Shape;626;p24"/>
          <p:cNvSpPr/>
          <p:nvPr/>
        </p:nvSpPr>
        <p:spPr>
          <a:xfrm>
            <a:off x="4155877" y="5539582"/>
            <a:ext cx="4491792" cy="412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250"/>
              <a:buFont typeface="Arial"/>
              <a:buNone/>
            </a:pPr>
            <a:r>
              <a:rPr lang="en-US" sz="2250" b="0" i="0" u="none" strike="noStrike" cap="non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7 · Requests · JSON · DataFrame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24"/>
          <p:cNvSpPr/>
          <p:nvPr/>
        </p:nvSpPr>
        <p:spPr>
          <a:xfrm>
            <a:off x="1047750" y="6492082"/>
            <a:ext cx="11282363" cy="7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Call Open-Meteo → read the status codes → inspect the raw JSON → build the DataFrame → save api_weather.csv.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28" name="Google Shape;628;p2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7750" y="9658350"/>
            <a:ext cx="40292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24"/>
          <p:cNvSpPr/>
          <p:nvPr/>
        </p:nvSpPr>
        <p:spPr>
          <a:xfrm>
            <a:off x="1574502" y="9674225"/>
            <a:ext cx="4108763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lang="en-US" sz="1425" b="0" i="0" u="none" strike="noStrike" cap="non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24"/>
          <p:cNvSpPr/>
          <p:nvPr/>
        </p:nvSpPr>
        <p:spPr>
          <a:xfrm>
            <a:off x="14336217" y="9674225"/>
            <a:ext cx="2541091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lang="en-US" sz="1425" b="0" i="0" u="none" strike="noStrike" cap="non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24"/>
          <p:cNvSpPr/>
          <p:nvPr/>
        </p:nvSpPr>
        <p:spPr>
          <a:xfrm>
            <a:off x="17029708" y="9674225"/>
            <a:ext cx="286742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lang="en-US" sz="1425" b="0" i="0" u="none" strike="noStrike" cap="non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25"/>
          <p:cNvSpPr/>
          <p:nvPr/>
        </p:nvSpPr>
        <p:spPr>
          <a:xfrm>
            <a:off x="1047750" y="914400"/>
            <a:ext cx="17811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WEB SCRAPING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25"/>
          <p:cNvSpPr/>
          <p:nvPr/>
        </p:nvSpPr>
        <p:spPr>
          <a:xfrm>
            <a:off x="1047750" y="1390650"/>
            <a:ext cx="17811750" cy="643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92621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4500"/>
              <a:buFont typeface="Arial"/>
              <a:buNone/>
            </a:pPr>
            <a:r>
              <a:rPr lang="en-US" sz="4500" b="1" i="0" u="none" strike="noStrike" cap="non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Website → HTML → table → CSV</a:t>
            </a:r>
            <a:endParaRPr sz="4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25"/>
          <p:cNvSpPr/>
          <p:nvPr/>
        </p:nvSpPr>
        <p:spPr>
          <a:xfrm>
            <a:off x="1047750" y="2110680"/>
            <a:ext cx="136207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21154"/>
              </a:lnSpc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2250"/>
              <a:buFont typeface="Arial"/>
              <a:buNone/>
            </a:pPr>
            <a:r>
              <a:rPr lang="en-US" sz="2250" b="0" i="0" u="none" strike="noStrike" cap="non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When there is no API, the data is still there — inside </a:t>
            </a:r>
            <a:r>
              <a:rPr lang="en-US" sz="2250" b="0" i="0" u="none" strike="noStrike" cap="none">
                <a:solidFill>
                  <a:srgbClr val="47564E"/>
                </a:solidFill>
                <a:latin typeface="Courier New"/>
                <a:ea typeface="Courier New"/>
                <a:cs typeface="Courier New"/>
                <a:sym typeface="Courier New"/>
              </a:rPr>
              <a:t>&lt;table&gt; </a:t>
            </a:r>
            <a:r>
              <a:rPr lang="en-US" sz="2250" b="0" i="0" u="none" strike="noStrike" cap="non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tags.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25"/>
          <p:cNvSpPr/>
          <p:nvPr/>
        </p:nvSpPr>
        <p:spPr>
          <a:xfrm>
            <a:off x="1047750" y="2894906"/>
            <a:ext cx="3548063" cy="654050"/>
          </a:xfrm>
          <a:prstGeom prst="roundRect">
            <a:avLst>
              <a:gd name="adj" fmla="val 23301"/>
            </a:avLst>
          </a:prstGeom>
          <a:solidFill>
            <a:srgbClr val="EAF3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1" name="Google Shape;641;p25"/>
          <p:cNvSpPr/>
          <p:nvPr/>
        </p:nvSpPr>
        <p:spPr>
          <a:xfrm>
            <a:off x="1295400" y="3085406"/>
            <a:ext cx="3159204" cy="311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650"/>
              <a:buFont typeface="Arial"/>
              <a:buNone/>
            </a:pPr>
            <a:r>
              <a:rPr lang="en-US" sz="1650" b="1" i="0" u="none" strike="noStrike" cap="non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requests.get </a:t>
            </a:r>
            <a:r>
              <a:rPr lang="en-US" sz="1650" b="0" i="0" u="none" strike="noStrike" cap="none">
                <a:solidFill>
                  <a:srgbClr val="0C2E1E"/>
                </a:solidFill>
                <a:highlight>
                  <a:srgbClr val="EAF3EE"/>
                </a:highlight>
                <a:latin typeface="Arial"/>
                <a:ea typeface="Arial"/>
                <a:cs typeface="Arial"/>
                <a:sym typeface="Arial"/>
              </a:rPr>
              <a:t>— page text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25"/>
          <p:cNvSpPr/>
          <p:nvPr/>
        </p:nvSpPr>
        <p:spPr>
          <a:xfrm>
            <a:off x="4786313" y="3034605"/>
            <a:ext cx="361950" cy="412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2250"/>
              <a:buFont typeface="Arial"/>
              <a:buNone/>
            </a:pPr>
            <a:r>
              <a:rPr lang="en-US" sz="2250" b="0" i="0" u="none" strike="noStrike" cap="non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25"/>
          <p:cNvSpPr/>
          <p:nvPr/>
        </p:nvSpPr>
        <p:spPr>
          <a:xfrm>
            <a:off x="5262563" y="2758380"/>
            <a:ext cx="3548063" cy="927100"/>
          </a:xfrm>
          <a:prstGeom prst="roundRect">
            <a:avLst>
              <a:gd name="adj" fmla="val 16438"/>
            </a:avLst>
          </a:prstGeom>
          <a:solidFill>
            <a:srgbClr val="EAF3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4" name="Google Shape;644;p25"/>
          <p:cNvSpPr/>
          <p:nvPr/>
        </p:nvSpPr>
        <p:spPr>
          <a:xfrm>
            <a:off x="5510212" y="2948880"/>
            <a:ext cx="3159204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650"/>
              <a:buFont typeface="Arial"/>
              <a:buNone/>
            </a:pPr>
            <a:r>
              <a:rPr lang="en-US" sz="1650" b="1" i="0" u="none" strike="noStrike" cap="non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BeautifulSoup </a:t>
            </a:r>
            <a:r>
              <a:rPr lang="en-US" sz="1650" b="0" i="0" u="none" strike="noStrike" cap="none">
                <a:solidFill>
                  <a:srgbClr val="0C2E1E"/>
                </a:solidFill>
                <a:highlight>
                  <a:srgbClr val="EAF3EE"/>
                </a:highlight>
                <a:latin typeface="Arial"/>
                <a:ea typeface="Arial"/>
                <a:cs typeface="Arial"/>
                <a:sym typeface="Arial"/>
              </a:rPr>
              <a:t>— searchable tree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25"/>
          <p:cNvSpPr/>
          <p:nvPr/>
        </p:nvSpPr>
        <p:spPr>
          <a:xfrm>
            <a:off x="9001125" y="3034605"/>
            <a:ext cx="361950" cy="412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2250"/>
              <a:buFont typeface="Arial"/>
              <a:buNone/>
            </a:pPr>
            <a:r>
              <a:rPr lang="en-US" sz="2250" b="0" i="0" u="none" strike="noStrike" cap="non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25"/>
          <p:cNvSpPr/>
          <p:nvPr/>
        </p:nvSpPr>
        <p:spPr>
          <a:xfrm>
            <a:off x="9477375" y="2894906"/>
            <a:ext cx="3548063" cy="654050"/>
          </a:xfrm>
          <a:prstGeom prst="roundRect">
            <a:avLst>
              <a:gd name="adj" fmla="val 23301"/>
            </a:avLst>
          </a:prstGeom>
          <a:solidFill>
            <a:srgbClr val="EAF3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7" name="Google Shape;647;p25"/>
          <p:cNvSpPr/>
          <p:nvPr/>
        </p:nvSpPr>
        <p:spPr>
          <a:xfrm>
            <a:off x="9725025" y="3085406"/>
            <a:ext cx="3159204" cy="311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650"/>
              <a:buFont typeface="Arial"/>
              <a:buNone/>
            </a:pPr>
            <a:r>
              <a:rPr lang="en-US" sz="1650" b="1" i="0" u="none" strike="noStrike" cap="non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find / find_all </a:t>
            </a:r>
            <a:r>
              <a:rPr lang="en-US" sz="1650" b="0" i="0" u="none" strike="noStrike" cap="none">
                <a:solidFill>
                  <a:srgbClr val="0C2E1E"/>
                </a:solidFill>
                <a:highlight>
                  <a:srgbClr val="EAF3EE"/>
                </a:highlight>
                <a:latin typeface="Arial"/>
                <a:ea typeface="Arial"/>
                <a:cs typeface="Arial"/>
                <a:sym typeface="Arial"/>
              </a:rPr>
              <a:t>— rows &amp; cells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25"/>
          <p:cNvSpPr/>
          <p:nvPr/>
        </p:nvSpPr>
        <p:spPr>
          <a:xfrm>
            <a:off x="13215938" y="3034605"/>
            <a:ext cx="361950" cy="412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2250"/>
              <a:buFont typeface="Arial"/>
              <a:buNone/>
            </a:pPr>
            <a:r>
              <a:rPr lang="en-US" sz="2250" b="0" i="0" u="none" strike="noStrike" cap="non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25"/>
          <p:cNvSpPr/>
          <p:nvPr/>
        </p:nvSpPr>
        <p:spPr>
          <a:xfrm>
            <a:off x="13692188" y="2894906"/>
            <a:ext cx="3548063" cy="654050"/>
          </a:xfrm>
          <a:prstGeom prst="roundRect">
            <a:avLst>
              <a:gd name="adj" fmla="val 23301"/>
            </a:avLst>
          </a:prstGeom>
          <a:solidFill>
            <a:srgbClr val="0C2E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0" name="Google Shape;650;p25"/>
          <p:cNvSpPr/>
          <p:nvPr/>
        </p:nvSpPr>
        <p:spPr>
          <a:xfrm>
            <a:off x="13939838" y="3085406"/>
            <a:ext cx="3159204" cy="311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650"/>
              <a:buFont typeface="Arial"/>
              <a:buNone/>
            </a:pPr>
            <a:r>
              <a:rPr lang="en-US" sz="1650" b="1" i="0" u="none" strike="noStrike" cap="none">
                <a:solidFill>
                  <a:srgbClr val="7FD6A0"/>
                </a:solidFill>
                <a:latin typeface="Arial"/>
                <a:ea typeface="Arial"/>
                <a:cs typeface="Arial"/>
                <a:sym typeface="Arial"/>
              </a:rPr>
              <a:t>DataFrame → CSV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25"/>
          <p:cNvSpPr/>
          <p:nvPr/>
        </p:nvSpPr>
        <p:spPr>
          <a:xfrm>
            <a:off x="1047750" y="3914081"/>
            <a:ext cx="8645228" cy="5515670"/>
          </a:xfrm>
          <a:prstGeom prst="roundRect">
            <a:avLst>
              <a:gd name="adj" fmla="val 3108"/>
            </a:avLst>
          </a:prstGeom>
          <a:solidFill>
            <a:srgbClr val="0C2E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2" name="Google Shape;652;p25"/>
          <p:cNvSpPr/>
          <p:nvPr/>
        </p:nvSpPr>
        <p:spPr>
          <a:xfrm>
            <a:off x="1371600" y="4180781"/>
            <a:ext cx="8256884" cy="5020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53000"/>
              </a:lnSpc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350"/>
              <a:buFont typeface="Courier New"/>
              <a:buNone/>
            </a:pPr>
            <a:r>
              <a:rPr lang="en-US" sz="1350" b="0" i="0" u="none" strike="noStrike" cap="none" dirty="0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from </a:t>
            </a:r>
            <a:r>
              <a:rPr lang="en-US" sz="1350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bs4 </a:t>
            </a:r>
            <a:r>
              <a:rPr lang="en-US" sz="1350" b="0" i="0" u="none" strike="noStrike" cap="none" dirty="0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lang="en-US" sz="1350" b="0" i="0" u="none" strike="noStrike" cap="none" dirty="0" err="1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BeautifulSoup</a:t>
            </a:r>
            <a:r>
              <a:rPr lang="en-US" sz="1350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</a:p>
          <a:p>
            <a:pPr marL="0" marR="0" lvl="0" indent="0" algn="l" rtl="0">
              <a:lnSpc>
                <a:spcPct val="153000"/>
              </a:lnSpc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350"/>
              <a:buFont typeface="Courier New"/>
              <a:buNone/>
            </a:pPr>
            <a:r>
              <a:rPr lang="en-US" sz="1350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soup = </a:t>
            </a:r>
            <a:r>
              <a:rPr lang="en-US" sz="1350" b="0" i="0" u="none" strike="noStrike" cap="none" dirty="0" err="1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BeautifulSoup</a:t>
            </a:r>
            <a:r>
              <a:rPr lang="en-US" sz="1350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350" b="0" i="0" u="none" strike="noStrike" cap="none" dirty="0" err="1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sample_html</a:t>
            </a:r>
            <a:r>
              <a:rPr lang="en-US" sz="1350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350" b="0" i="0" u="none" strike="noStrike" cap="none" dirty="0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350" b="0" i="0" u="none" strike="noStrike" cap="none" dirty="0" err="1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html.parser</a:t>
            </a:r>
            <a:r>
              <a:rPr lang="en-US" sz="1350" b="0" i="0" u="none" strike="noStrike" cap="none" dirty="0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 </a:t>
            </a:r>
            <a:r>
              <a:rPr lang="en-US" sz="1350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</a:p>
          <a:p>
            <a:pPr marL="0" marR="0" lvl="0" indent="0" algn="l" rtl="0">
              <a:lnSpc>
                <a:spcPct val="153000"/>
              </a:lnSpc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350"/>
              <a:buFont typeface="Courier New"/>
              <a:buNone/>
            </a:pPr>
            <a:r>
              <a:rPr lang="en-US" sz="1350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table = </a:t>
            </a:r>
            <a:r>
              <a:rPr lang="en-US" sz="1350" b="0" i="0" u="none" strike="noStrike" cap="none" dirty="0" err="1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soup.</a:t>
            </a:r>
            <a:r>
              <a:rPr lang="en-US" sz="1350" b="0" i="0" u="none" strike="noStrike" cap="none" dirty="0" err="1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find</a:t>
            </a:r>
            <a:r>
              <a:rPr lang="en-US" sz="1350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350" b="0" i="0" u="none" strike="noStrike" cap="none" dirty="0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"table"</a:t>
            </a:r>
            <a:r>
              <a:rPr lang="en-US" sz="1350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, class_=</a:t>
            </a:r>
            <a:r>
              <a:rPr lang="en-US" sz="1350" b="0" i="0" u="none" strike="noStrike" cap="none" dirty="0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350" b="0" i="0" u="none" strike="noStrike" cap="none" dirty="0" err="1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wikitable</a:t>
            </a:r>
            <a:r>
              <a:rPr lang="en-US" sz="1350" b="0" i="0" u="none" strike="noStrike" cap="none" dirty="0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 </a:t>
            </a:r>
            <a:r>
              <a:rPr lang="en-US" sz="1350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</a:p>
          <a:p>
            <a:pPr marL="0" marR="0" lvl="0" indent="0" algn="l" rtl="0">
              <a:lnSpc>
                <a:spcPct val="153000"/>
              </a:lnSpc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350"/>
              <a:buFont typeface="Courier New"/>
              <a:buNone/>
            </a:pPr>
            <a:r>
              <a:rPr lang="en-US" sz="1350" b="0" i="0" u="none" strike="noStrike" cap="none" dirty="0" err="1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all_rows</a:t>
            </a:r>
            <a:r>
              <a:rPr lang="en-US" sz="1350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1350" b="0" i="0" u="none" strike="noStrike" cap="none" dirty="0" err="1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table.</a:t>
            </a:r>
            <a:r>
              <a:rPr lang="en-US" sz="1350" b="0" i="0" u="none" strike="noStrike" cap="none" dirty="0" err="1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find_all</a:t>
            </a:r>
            <a:r>
              <a:rPr lang="en-US" sz="1350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350" b="0" i="0" u="none" strike="noStrike" cap="none" dirty="0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"tr" </a:t>
            </a:r>
            <a:r>
              <a:rPr lang="en-US" sz="1350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</a:p>
          <a:p>
            <a:pPr marL="0" marR="0" lvl="0" indent="0" algn="l" rtl="0">
              <a:lnSpc>
                <a:spcPct val="153000"/>
              </a:lnSpc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350"/>
              <a:buFont typeface="Courier New"/>
              <a:buNone/>
            </a:pPr>
            <a:r>
              <a:rPr lang="en-US" sz="1350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headers = [</a:t>
            </a:r>
            <a:r>
              <a:rPr lang="en-US" sz="1350" b="0" i="0" u="none" strike="noStrike" cap="none" dirty="0" err="1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cell.</a:t>
            </a:r>
            <a:r>
              <a:rPr lang="en-US" sz="1350" b="0" i="0" u="none" strike="noStrike" cap="none" dirty="0" err="1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get_text</a:t>
            </a:r>
            <a:r>
              <a:rPr lang="en-US" sz="1350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(strip=</a:t>
            </a:r>
            <a:r>
              <a:rPr lang="en-US" sz="1350" b="0" i="0" u="none" strike="noStrike" cap="none" dirty="0">
                <a:solidFill>
                  <a:srgbClr val="F0B060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lang="en-US" sz="1350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</a:p>
          <a:p>
            <a:pPr marL="0" marR="0" lvl="0" indent="0" algn="l" rtl="0">
              <a:lnSpc>
                <a:spcPct val="153000"/>
              </a:lnSpc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350"/>
              <a:buFont typeface="Courier New"/>
              <a:buNone/>
            </a:pPr>
            <a:r>
              <a:rPr lang="en-US" sz="1350" b="0" i="0" u="none" strike="noStrike" cap="none" dirty="0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for </a:t>
            </a:r>
            <a:r>
              <a:rPr lang="en-US" sz="1350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cell </a:t>
            </a:r>
            <a:r>
              <a:rPr lang="en-US" sz="1350" b="0" i="0" u="none" strike="noStrike" cap="none" dirty="0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in </a:t>
            </a:r>
            <a:r>
              <a:rPr lang="en-US" sz="1350" b="0" i="0" u="none" strike="noStrike" cap="none" dirty="0" err="1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all_rows</a:t>
            </a:r>
            <a:r>
              <a:rPr lang="en-US" sz="1350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US" sz="1350" b="0" i="0" u="none" strike="noStrike" cap="none" dirty="0">
                <a:solidFill>
                  <a:srgbClr val="F0B060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 sz="1350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].</a:t>
            </a:r>
            <a:r>
              <a:rPr lang="en-US" sz="1350" b="0" i="0" u="none" strike="noStrike" cap="none" dirty="0" err="1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find_all</a:t>
            </a:r>
            <a:r>
              <a:rPr lang="en-US" sz="1350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350" b="0" i="0" u="none" strike="noStrike" cap="none" dirty="0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350" b="0" i="0" u="none" strike="noStrike" cap="none" dirty="0" err="1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th</a:t>
            </a:r>
            <a:r>
              <a:rPr lang="en-US" sz="1350" b="0" i="0" u="none" strike="noStrike" cap="none" dirty="0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350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)] </a:t>
            </a:r>
          </a:p>
          <a:p>
            <a:pPr marL="0" marR="0" lvl="0" indent="0" algn="l" rtl="0">
              <a:lnSpc>
                <a:spcPct val="153000"/>
              </a:lnSpc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350"/>
              <a:buFont typeface="Courier New"/>
              <a:buNone/>
            </a:pPr>
            <a:r>
              <a:rPr lang="en-US" sz="1350" b="0" i="0" u="none" strike="noStrike" cap="none" dirty="0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for </a:t>
            </a:r>
            <a:r>
              <a:rPr lang="en-US" sz="1350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row </a:t>
            </a:r>
            <a:r>
              <a:rPr lang="en-US" sz="1350" b="0" i="0" u="none" strike="noStrike" cap="none" dirty="0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in </a:t>
            </a:r>
            <a:r>
              <a:rPr lang="en-US" sz="1350" b="0" i="0" u="none" strike="noStrike" cap="none" dirty="0" err="1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all_rows</a:t>
            </a:r>
            <a:r>
              <a:rPr lang="en-US" sz="1350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US" sz="1350" b="0" i="0" u="none" strike="noStrike" cap="none" dirty="0">
                <a:solidFill>
                  <a:srgbClr val="F0B060"/>
                </a:solidFill>
                <a:latin typeface="Courier New"/>
                <a:ea typeface="Courier New"/>
                <a:cs typeface="Courier New"/>
                <a:sym typeface="Courier New"/>
              </a:rPr>
              <a:t>1 </a:t>
            </a:r>
            <a:r>
              <a:rPr lang="en-US" sz="1350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:]: values = [</a:t>
            </a:r>
            <a:r>
              <a:rPr lang="en-US" sz="1350" b="0" i="0" u="none" strike="noStrike" cap="none" dirty="0" err="1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cell.</a:t>
            </a:r>
            <a:r>
              <a:rPr lang="en-US" sz="1350" b="0" i="0" u="none" strike="noStrike" cap="none" dirty="0" err="1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get_text</a:t>
            </a:r>
            <a:r>
              <a:rPr lang="en-US" sz="1350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(strip=</a:t>
            </a:r>
            <a:r>
              <a:rPr lang="en-US" sz="1350" b="0" i="0" u="none" strike="noStrike" cap="none" dirty="0">
                <a:solidFill>
                  <a:srgbClr val="F0B060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lang="en-US" sz="1350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</a:p>
          <a:p>
            <a:pPr marL="0" marR="0" lvl="0" indent="0" algn="l" rtl="0">
              <a:lnSpc>
                <a:spcPct val="153000"/>
              </a:lnSpc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350"/>
              <a:buFont typeface="Courier New"/>
              <a:buNone/>
            </a:pPr>
            <a:r>
              <a:rPr lang="en-US" sz="1350" b="0" i="0" u="none" strike="noStrike" cap="none" dirty="0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for </a:t>
            </a:r>
            <a:r>
              <a:rPr lang="en-US" sz="1350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cell </a:t>
            </a:r>
            <a:r>
              <a:rPr lang="en-US" sz="1350" b="0" i="0" u="none" strike="noStrike" cap="none" dirty="0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in </a:t>
            </a:r>
            <a:r>
              <a:rPr lang="en-US" sz="1350" b="0" i="0" u="none" strike="noStrike" cap="none" dirty="0" err="1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row.</a:t>
            </a:r>
            <a:r>
              <a:rPr lang="en-US" sz="1350" b="0" i="0" u="none" strike="noStrike" cap="none" dirty="0" err="1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find_all</a:t>
            </a:r>
            <a:r>
              <a:rPr lang="en-US" sz="1350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350" b="0" i="0" u="none" strike="noStrike" cap="none" dirty="0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"td" </a:t>
            </a:r>
            <a:r>
              <a:rPr lang="en-US" sz="1350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)] </a:t>
            </a:r>
            <a:r>
              <a:rPr lang="en-US" sz="1350" b="0" i="0" u="none" strike="noStrike" cap="none" dirty="0" err="1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table_data.</a:t>
            </a:r>
            <a:r>
              <a:rPr lang="en-US" sz="1350" b="0" i="0" u="none" strike="noStrike" cap="none" dirty="0" err="1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append</a:t>
            </a:r>
            <a:r>
              <a:rPr lang="en-US" sz="1350" b="0" i="0" u="none" strike="noStrike" cap="none" dirty="0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350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(values) </a:t>
            </a:r>
          </a:p>
          <a:p>
            <a:pPr marL="0" marR="0" lvl="0" indent="0" algn="l" rtl="0">
              <a:lnSpc>
                <a:spcPct val="153000"/>
              </a:lnSpc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350"/>
              <a:buFont typeface="Courier New"/>
              <a:buNone/>
            </a:pPr>
            <a:r>
              <a:rPr lang="en-US" sz="1350" b="0" i="0" u="none" strike="noStrike" cap="none" dirty="0" err="1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states_by_area</a:t>
            </a:r>
            <a:r>
              <a:rPr lang="en-US" sz="1350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1350" b="0" i="0" u="none" strike="noStrike" cap="none" dirty="0" err="1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pd.</a:t>
            </a:r>
            <a:r>
              <a:rPr lang="en-US" sz="1350" b="0" i="0" u="none" strike="noStrike" cap="none" dirty="0" err="1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DataFrame</a:t>
            </a:r>
            <a:r>
              <a:rPr lang="en-US" sz="1350" b="0" i="0" u="none" strike="noStrike" cap="none" dirty="0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350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350" b="0" i="0" u="none" strike="noStrike" cap="none" dirty="0" err="1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table_data</a:t>
            </a:r>
            <a:r>
              <a:rPr lang="en-US" sz="1350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, columns=headers) </a:t>
            </a:r>
            <a:r>
              <a:rPr lang="en-US" sz="1350" b="0" i="0" u="none" strike="noStrike" cap="none" dirty="0" err="1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states_by_area</a:t>
            </a:r>
            <a:r>
              <a:rPr lang="en-US" sz="1350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US" sz="1350" b="0" i="0" u="none" strike="noStrike" cap="none" dirty="0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350" b="0" i="0" u="none" strike="noStrike" cap="none" dirty="0" err="1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Area_sq_km</a:t>
            </a:r>
            <a:r>
              <a:rPr lang="en-US" sz="1350" b="0" i="0" u="none" strike="noStrike" cap="none" dirty="0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350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] = </a:t>
            </a:r>
            <a:r>
              <a:rPr lang="en-US" sz="1350" b="0" i="0" u="none" strike="noStrike" cap="none" dirty="0" err="1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states_by_area</a:t>
            </a:r>
            <a:r>
              <a:rPr lang="en-US" sz="1350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US" sz="1350" b="0" i="0" u="none" strike="noStrike" cap="none" dirty="0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350" b="0" i="0" u="none" strike="noStrike" cap="none" dirty="0" err="1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Area_sq_km</a:t>
            </a:r>
            <a:r>
              <a:rPr lang="en-US" sz="1350" b="0" i="0" u="none" strike="noStrike" cap="none" dirty="0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350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].</a:t>
            </a:r>
            <a:r>
              <a:rPr lang="en-US" sz="1350" b="0" i="0" u="none" strike="noStrike" cap="none" dirty="0" err="1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astype</a:t>
            </a:r>
            <a:r>
              <a:rPr lang="en-US" sz="1350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350" b="0" i="0" u="none" strike="noStrike" cap="none" dirty="0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int </a:t>
            </a:r>
            <a:r>
              <a:rPr lang="en-US" sz="1350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n-US" sz="1350" b="0" i="0" u="none" strike="noStrike" cap="none" dirty="0" err="1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states_by_area.</a:t>
            </a:r>
            <a:r>
              <a:rPr lang="en-US" sz="1350" b="0" i="0" u="none" strike="noStrike" cap="none" dirty="0" err="1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to_csv</a:t>
            </a:r>
            <a:r>
              <a:rPr lang="en-US" sz="1350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350" b="0" i="0" u="none" strike="noStrike" cap="none" dirty="0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"scraped_states.csv"</a:t>
            </a:r>
            <a:r>
              <a:rPr lang="en-US" sz="1350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, index=</a:t>
            </a:r>
            <a:r>
              <a:rPr lang="en-US" sz="1350" b="0" i="0" u="none" strike="noStrike" cap="none" dirty="0">
                <a:solidFill>
                  <a:srgbClr val="F0B060"/>
                </a:solidFill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r>
              <a:rPr lang="en-US" sz="1350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3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25"/>
          <p:cNvSpPr/>
          <p:nvPr/>
        </p:nvSpPr>
        <p:spPr>
          <a:xfrm>
            <a:off x="10035878" y="3914081"/>
            <a:ext cx="7204373" cy="860425"/>
          </a:xfrm>
          <a:prstGeom prst="roundRect">
            <a:avLst>
              <a:gd name="adj" fmla="val 17712"/>
            </a:avLst>
          </a:prstGeom>
          <a:solidFill>
            <a:srgbClr val="F4F7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4" name="Google Shape;654;p25"/>
          <p:cNvSpPr/>
          <p:nvPr/>
        </p:nvSpPr>
        <p:spPr>
          <a:xfrm>
            <a:off x="10302578" y="4104581"/>
            <a:ext cx="7338070" cy="260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575"/>
              <a:buFont typeface="Courier New"/>
              <a:buNone/>
            </a:pPr>
            <a:r>
              <a:rPr lang="en-US" sz="1575" b="1" i="0" u="none" strike="noStrike" cap="none">
                <a:solidFill>
                  <a:srgbClr val="1F9D57"/>
                </a:solidFill>
                <a:latin typeface="Courier New"/>
                <a:ea typeface="Courier New"/>
                <a:cs typeface="Courier New"/>
                <a:sym typeface="Courier New"/>
              </a:rPr>
              <a:t>table · tr · th · td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25"/>
          <p:cNvSpPr/>
          <p:nvPr/>
        </p:nvSpPr>
        <p:spPr>
          <a:xfrm>
            <a:off x="10302578" y="4326831"/>
            <a:ext cx="733807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19118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Table, row, header cell, data cell. Row 0 is the header.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25"/>
          <p:cNvSpPr/>
          <p:nvPr/>
        </p:nvSpPr>
        <p:spPr>
          <a:xfrm>
            <a:off x="10035878" y="4907856"/>
            <a:ext cx="7204373" cy="866775"/>
          </a:xfrm>
          <a:prstGeom prst="roundRect">
            <a:avLst>
              <a:gd name="adj" fmla="val 17582"/>
            </a:avLst>
          </a:prstGeom>
          <a:solidFill>
            <a:srgbClr val="F4F7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7" name="Google Shape;657;p25"/>
          <p:cNvSpPr/>
          <p:nvPr/>
        </p:nvSpPr>
        <p:spPr>
          <a:xfrm>
            <a:off x="10302578" y="5098356"/>
            <a:ext cx="7338070" cy="260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575"/>
              <a:buFont typeface="Courier New"/>
              <a:buNone/>
            </a:pPr>
            <a:r>
              <a:rPr lang="en-US" sz="1575" b="1" i="0" u="none" strike="noStrike" cap="none">
                <a:solidFill>
                  <a:srgbClr val="1F9D57"/>
                </a:solidFill>
                <a:latin typeface="Courier New"/>
                <a:ea typeface="Courier New"/>
                <a:cs typeface="Courier New"/>
                <a:sym typeface="Courier New"/>
              </a:rPr>
              <a:t>find vs find_all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25"/>
          <p:cNvSpPr/>
          <p:nvPr/>
        </p:nvSpPr>
        <p:spPr>
          <a:xfrm>
            <a:off x="10302578" y="5320605"/>
            <a:ext cx="7338070" cy="301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19118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First match vs every match; </a:t>
            </a:r>
            <a:r>
              <a:rPr lang="en-US" sz="1500" b="0" i="0" u="none" strike="noStrike" cap="none">
                <a:solidFill>
                  <a:srgbClr val="5B6B62"/>
                </a:solidFill>
                <a:latin typeface="Courier New"/>
                <a:ea typeface="Courier New"/>
                <a:cs typeface="Courier New"/>
                <a:sym typeface="Courier New"/>
              </a:rPr>
              <a:t>class_= </a:t>
            </a:r>
            <a:r>
              <a:rPr lang="en-US" sz="1500" b="0" i="0" u="none" strike="noStrike" cap="non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narrows it.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25"/>
          <p:cNvSpPr/>
          <p:nvPr/>
        </p:nvSpPr>
        <p:spPr>
          <a:xfrm>
            <a:off x="10035878" y="5907981"/>
            <a:ext cx="7204373" cy="860425"/>
          </a:xfrm>
          <a:prstGeom prst="roundRect">
            <a:avLst>
              <a:gd name="adj" fmla="val 17712"/>
            </a:avLst>
          </a:prstGeom>
          <a:solidFill>
            <a:srgbClr val="F4F7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0" name="Google Shape;660;p25"/>
          <p:cNvSpPr/>
          <p:nvPr/>
        </p:nvSpPr>
        <p:spPr>
          <a:xfrm>
            <a:off x="10302578" y="6098481"/>
            <a:ext cx="7338070" cy="260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575"/>
              <a:buFont typeface="Courier New"/>
              <a:buNone/>
            </a:pPr>
            <a:r>
              <a:rPr lang="en-US" sz="1575" b="1" i="0" u="none" strike="noStrike" cap="none">
                <a:solidFill>
                  <a:srgbClr val="1F9D57"/>
                </a:solidFill>
                <a:latin typeface="Courier New"/>
                <a:ea typeface="Courier New"/>
                <a:cs typeface="Courier New"/>
                <a:sym typeface="Courier New"/>
              </a:rPr>
              <a:t>astype(int)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25"/>
          <p:cNvSpPr/>
          <p:nvPr/>
        </p:nvSpPr>
        <p:spPr>
          <a:xfrm>
            <a:off x="10302578" y="6320730"/>
            <a:ext cx="733807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19118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Everything scraped is text until you cast it.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25"/>
          <p:cNvSpPr/>
          <p:nvPr/>
        </p:nvSpPr>
        <p:spPr>
          <a:xfrm>
            <a:off x="10035878" y="6901755"/>
            <a:ext cx="7204373" cy="1168400"/>
          </a:xfrm>
          <a:prstGeom prst="roundRect">
            <a:avLst>
              <a:gd name="adj" fmla="val 13043"/>
            </a:avLst>
          </a:prstGeom>
          <a:solidFill>
            <a:srgbClr val="FBEF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3" name="Google Shape;663;p25"/>
          <p:cNvSpPr/>
          <p:nvPr/>
        </p:nvSpPr>
        <p:spPr>
          <a:xfrm>
            <a:off x="10035878" y="6901755"/>
            <a:ext cx="57150" cy="1168400"/>
          </a:xfrm>
          <a:prstGeom prst="rect">
            <a:avLst/>
          </a:prstGeom>
          <a:solidFill>
            <a:srgbClr val="CE4A3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4" name="Google Shape;664;p25"/>
          <p:cNvSpPr/>
          <p:nvPr/>
        </p:nvSpPr>
        <p:spPr>
          <a:xfrm>
            <a:off x="10359728" y="7092255"/>
            <a:ext cx="7275205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575"/>
              <a:buFont typeface="Arial"/>
              <a:buNone/>
            </a:pPr>
            <a:r>
              <a:rPr lang="en-US" sz="1575" b="1" i="0" u="none" strike="noStrike" cap="non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Scrape ethically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25"/>
          <p:cNvSpPr/>
          <p:nvPr/>
        </p:nvSpPr>
        <p:spPr>
          <a:xfrm>
            <a:off x="10359728" y="7365306"/>
            <a:ext cx="6812238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19118"/>
              </a:lnSpc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Check the terms and robots.txt · prefer an official API · don't hammer the server · never republish as your own.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66" name="Google Shape;666;p2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7750" y="9658350"/>
            <a:ext cx="40292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25"/>
          <p:cNvSpPr/>
          <p:nvPr/>
        </p:nvSpPr>
        <p:spPr>
          <a:xfrm>
            <a:off x="1574502" y="9674225"/>
            <a:ext cx="4108763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lang="en-US" sz="1425" b="0" i="0" u="none" strike="noStrike" cap="non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25"/>
          <p:cNvSpPr/>
          <p:nvPr/>
        </p:nvSpPr>
        <p:spPr>
          <a:xfrm>
            <a:off x="14332248" y="9674225"/>
            <a:ext cx="2541091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lang="en-US" sz="1425" b="0" i="0" u="none" strike="noStrike" cap="non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25"/>
          <p:cNvSpPr/>
          <p:nvPr/>
        </p:nvSpPr>
        <p:spPr>
          <a:xfrm>
            <a:off x="17025740" y="9674225"/>
            <a:ext cx="290711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lang="en-US" sz="1425" b="0" i="0" u="none" strike="noStrike" cap="non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26"/>
          <p:cNvSpPr/>
          <p:nvPr/>
        </p:nvSpPr>
        <p:spPr>
          <a:xfrm>
            <a:off x="14287500" y="-1524000"/>
            <a:ext cx="5334000" cy="5334000"/>
          </a:xfrm>
          <a:prstGeom prst="ellipse">
            <a:avLst/>
          </a:prstGeom>
          <a:solidFill>
            <a:srgbClr val="CE4A32">
              <a:alpha val="784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6" name="Google Shape;676;p26"/>
          <p:cNvSpPr/>
          <p:nvPr/>
        </p:nvSpPr>
        <p:spPr>
          <a:xfrm>
            <a:off x="1047750" y="3096419"/>
            <a:ext cx="2436713" cy="533400"/>
          </a:xfrm>
          <a:prstGeom prst="roundRect">
            <a:avLst>
              <a:gd name="adj" fmla="val 50000"/>
            </a:avLst>
          </a:prstGeom>
          <a:solidFill>
            <a:srgbClr val="CE4A3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7" name="Google Shape;677;p26"/>
          <p:cNvSpPr/>
          <p:nvPr/>
        </p:nvSpPr>
        <p:spPr>
          <a:xfrm>
            <a:off x="1295400" y="3296444"/>
            <a:ext cx="133350" cy="1333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26"/>
          <p:cNvSpPr/>
          <p:nvPr/>
        </p:nvSpPr>
        <p:spPr>
          <a:xfrm>
            <a:off x="1562100" y="3229769"/>
            <a:ext cx="1750913" cy="29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LIVE CODING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26"/>
          <p:cNvSpPr/>
          <p:nvPr/>
        </p:nvSpPr>
        <p:spPr>
          <a:xfrm>
            <a:off x="1047750" y="3972719"/>
            <a:ext cx="17811750" cy="931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88528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6900"/>
              <a:buFont typeface="Arial"/>
              <a:buNone/>
            </a:pPr>
            <a:r>
              <a:rPr lang="en-US" sz="6900" b="1" i="0" u="none" strike="noStrike" cap="non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Switch to the notebook</a:t>
            </a:r>
            <a:endParaRPr sz="6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26"/>
          <p:cNvSpPr/>
          <p:nvPr/>
        </p:nvSpPr>
        <p:spPr>
          <a:xfrm>
            <a:off x="1047750" y="5285581"/>
            <a:ext cx="7272834" cy="882650"/>
          </a:xfrm>
          <a:prstGeom prst="roundRect">
            <a:avLst>
              <a:gd name="adj" fmla="val 19424"/>
            </a:avLst>
          </a:prstGeom>
          <a:solidFill>
            <a:srgbClr val="FFFFFF"/>
          </a:solidFill>
          <a:ln w="9525" cap="flat" cmpd="sng">
            <a:solidFill>
              <a:srgbClr val="DCE6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1" name="Google Shape;681;p26"/>
          <p:cNvSpPr/>
          <p:nvPr/>
        </p:nvSpPr>
        <p:spPr>
          <a:xfrm>
            <a:off x="1377950" y="5587207"/>
            <a:ext cx="2615664" cy="3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950"/>
              <a:buFont typeface="Courier New"/>
              <a:buNone/>
            </a:pPr>
            <a:r>
              <a:rPr lang="en-US" sz="1950" b="1" i="0" u="none" strike="noStrike" cap="none">
                <a:solidFill>
                  <a:srgbClr val="1F9D57"/>
                </a:solidFill>
                <a:latin typeface="Courier New"/>
                <a:ea typeface="Courier New"/>
                <a:cs typeface="Courier New"/>
                <a:sym typeface="Courier New"/>
              </a:rPr>
              <a:t>Notebook Section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26"/>
          <p:cNvSpPr/>
          <p:nvPr/>
        </p:nvSpPr>
        <p:spPr>
          <a:xfrm>
            <a:off x="3946327" y="5564981"/>
            <a:ext cx="19050" cy="323850"/>
          </a:xfrm>
          <a:prstGeom prst="rect">
            <a:avLst/>
          </a:prstGeom>
          <a:solidFill>
            <a:srgbClr val="C9D6C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3" name="Google Shape;683;p26"/>
          <p:cNvSpPr/>
          <p:nvPr/>
        </p:nvSpPr>
        <p:spPr>
          <a:xfrm>
            <a:off x="4155877" y="5539582"/>
            <a:ext cx="4217958" cy="412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250"/>
              <a:buFont typeface="Arial"/>
              <a:buNone/>
            </a:pPr>
            <a:r>
              <a:rPr lang="en-US" sz="2250" b="0" i="0" u="none" strike="noStrike" cap="non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8 · BeautifulSoup · Saving CSV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26"/>
          <p:cNvSpPr/>
          <p:nvPr/>
        </p:nvSpPr>
        <p:spPr>
          <a:xfrm>
            <a:off x="1047750" y="6492082"/>
            <a:ext cx="11282363" cy="7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Fetch the live page → parse the table → headers and rows → cast the numbers → save scraped_states.csv.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85" name="Google Shape;685;p2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7750" y="9658350"/>
            <a:ext cx="40292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26"/>
          <p:cNvSpPr/>
          <p:nvPr/>
        </p:nvSpPr>
        <p:spPr>
          <a:xfrm>
            <a:off x="1574502" y="9674225"/>
            <a:ext cx="4108763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lang="en-US" sz="1425" b="0" i="0" u="none" strike="noStrike" cap="non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26"/>
          <p:cNvSpPr/>
          <p:nvPr/>
        </p:nvSpPr>
        <p:spPr>
          <a:xfrm>
            <a:off x="14328974" y="9674225"/>
            <a:ext cx="2541091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lang="en-US" sz="1425" b="0" i="0" u="none" strike="noStrike" cap="non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26"/>
          <p:cNvSpPr/>
          <p:nvPr/>
        </p:nvSpPr>
        <p:spPr>
          <a:xfrm>
            <a:off x="17022466" y="9674225"/>
            <a:ext cx="293985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lang="en-US" sz="1425" b="0" i="0" u="none" strike="noStrike" cap="non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26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27"/>
          <p:cNvSpPr/>
          <p:nvPr/>
        </p:nvSpPr>
        <p:spPr>
          <a:xfrm>
            <a:off x="1047750" y="914400"/>
            <a:ext cx="17811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CLOSING THE LOOP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27"/>
          <p:cNvSpPr/>
          <p:nvPr/>
        </p:nvSpPr>
        <p:spPr>
          <a:xfrm>
            <a:off x="1047750" y="1390650"/>
            <a:ext cx="17811750" cy="643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92621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4500"/>
              <a:buFont typeface="Arial"/>
              <a:buNone/>
            </a:pPr>
            <a:r>
              <a:rPr lang="en-US" sz="4500" b="1" i="0" u="none" strike="noStrike" cap="non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Acquired data is just data</a:t>
            </a:r>
            <a:endParaRPr sz="4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27"/>
          <p:cNvSpPr/>
          <p:nvPr/>
        </p:nvSpPr>
        <p:spPr>
          <a:xfrm>
            <a:off x="1047750" y="2110680"/>
            <a:ext cx="136207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21154"/>
              </a:lnSpc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2250"/>
              <a:buFont typeface="Arial"/>
              <a:buNone/>
            </a:pPr>
            <a:r>
              <a:rPr lang="en-US" sz="2250" b="0" i="0" u="none" strike="noStrike" cap="non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Same </a:t>
            </a:r>
            <a:r>
              <a:rPr lang="en-US" sz="2250" b="0" i="0" u="none" strike="noStrike" cap="none">
                <a:solidFill>
                  <a:srgbClr val="47564E"/>
                </a:solidFill>
                <a:latin typeface="Courier New"/>
                <a:ea typeface="Courier New"/>
                <a:cs typeface="Courier New"/>
                <a:sym typeface="Courier New"/>
              </a:rPr>
              <a:t>read_csv</a:t>
            </a:r>
            <a:r>
              <a:rPr lang="en-US" sz="2250" b="0" i="0" u="none" strike="noStrike" cap="non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, same cleaning, same charts — the source makes no difference.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27"/>
          <p:cNvSpPr/>
          <p:nvPr/>
        </p:nvSpPr>
        <p:spPr>
          <a:xfrm>
            <a:off x="1047750" y="2777430"/>
            <a:ext cx="3562350" cy="933450"/>
          </a:xfrm>
          <a:prstGeom prst="roundRect">
            <a:avLst>
              <a:gd name="adj" fmla="val 18367"/>
            </a:avLst>
          </a:prstGeom>
          <a:solidFill>
            <a:srgbClr val="0C2E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8" name="Google Shape;698;p27"/>
          <p:cNvSpPr/>
          <p:nvPr/>
        </p:nvSpPr>
        <p:spPr>
          <a:xfrm>
            <a:off x="1314450" y="2986980"/>
            <a:ext cx="333184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7FD6A0"/>
                </a:solidFill>
                <a:latin typeface="Arial"/>
                <a:ea typeface="Arial"/>
                <a:cs typeface="Arial"/>
                <a:sym typeface="Arial"/>
              </a:rPr>
              <a:t>Acquire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27"/>
          <p:cNvSpPr/>
          <p:nvPr/>
        </p:nvSpPr>
        <p:spPr>
          <a:xfrm>
            <a:off x="1314450" y="3253680"/>
            <a:ext cx="333184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147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API · scrape · CSV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27"/>
          <p:cNvSpPr/>
          <p:nvPr/>
        </p:nvSpPr>
        <p:spPr>
          <a:xfrm>
            <a:off x="4781550" y="3044130"/>
            <a:ext cx="38100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27"/>
          <p:cNvSpPr/>
          <p:nvPr/>
        </p:nvSpPr>
        <p:spPr>
          <a:xfrm>
            <a:off x="5257800" y="2777430"/>
            <a:ext cx="3562350" cy="933450"/>
          </a:xfrm>
          <a:prstGeom prst="roundRect">
            <a:avLst>
              <a:gd name="adj" fmla="val 18367"/>
            </a:avLst>
          </a:prstGeom>
          <a:solidFill>
            <a:srgbClr val="EAF3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2" name="Google Shape;702;p27"/>
          <p:cNvSpPr/>
          <p:nvPr/>
        </p:nvSpPr>
        <p:spPr>
          <a:xfrm>
            <a:off x="5524500" y="2986980"/>
            <a:ext cx="333184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Clean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27"/>
          <p:cNvSpPr/>
          <p:nvPr/>
        </p:nvSpPr>
        <p:spPr>
          <a:xfrm>
            <a:off x="5524500" y="3253680"/>
            <a:ext cx="333184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14706"/>
              </a:lnSpc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shape · dtypes · gaps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27"/>
          <p:cNvSpPr/>
          <p:nvPr/>
        </p:nvSpPr>
        <p:spPr>
          <a:xfrm>
            <a:off x="8991600" y="3044130"/>
            <a:ext cx="38100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27"/>
          <p:cNvSpPr/>
          <p:nvPr/>
        </p:nvSpPr>
        <p:spPr>
          <a:xfrm>
            <a:off x="9467850" y="2777430"/>
            <a:ext cx="3562350" cy="933450"/>
          </a:xfrm>
          <a:prstGeom prst="roundRect">
            <a:avLst>
              <a:gd name="adj" fmla="val 18367"/>
            </a:avLst>
          </a:prstGeom>
          <a:solidFill>
            <a:srgbClr val="EAF3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6" name="Google Shape;706;p27"/>
          <p:cNvSpPr/>
          <p:nvPr/>
        </p:nvSpPr>
        <p:spPr>
          <a:xfrm>
            <a:off x="9734550" y="2986980"/>
            <a:ext cx="333184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Visualise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27"/>
          <p:cNvSpPr/>
          <p:nvPr/>
        </p:nvSpPr>
        <p:spPr>
          <a:xfrm>
            <a:off x="9734550" y="3253680"/>
            <a:ext cx="333184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14706"/>
              </a:lnSpc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the right chart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27"/>
          <p:cNvSpPr/>
          <p:nvPr/>
        </p:nvSpPr>
        <p:spPr>
          <a:xfrm>
            <a:off x="13201650" y="3044130"/>
            <a:ext cx="38100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27"/>
          <p:cNvSpPr/>
          <p:nvPr/>
        </p:nvSpPr>
        <p:spPr>
          <a:xfrm>
            <a:off x="13677900" y="2777430"/>
            <a:ext cx="3562350" cy="933450"/>
          </a:xfrm>
          <a:prstGeom prst="roundRect">
            <a:avLst>
              <a:gd name="adj" fmla="val 18367"/>
            </a:avLst>
          </a:prstGeom>
          <a:solidFill>
            <a:srgbClr val="EAF3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0" name="Google Shape;710;p27"/>
          <p:cNvSpPr/>
          <p:nvPr/>
        </p:nvSpPr>
        <p:spPr>
          <a:xfrm>
            <a:off x="13944600" y="2986980"/>
            <a:ext cx="333184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Story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27"/>
          <p:cNvSpPr/>
          <p:nvPr/>
        </p:nvSpPr>
        <p:spPr>
          <a:xfrm>
            <a:off x="13944600" y="3253680"/>
            <a:ext cx="333184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14706"/>
              </a:lnSpc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one clear message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27"/>
          <p:cNvSpPr/>
          <p:nvPr/>
        </p:nvSpPr>
        <p:spPr>
          <a:xfrm>
            <a:off x="1047750" y="3958530"/>
            <a:ext cx="8645228" cy="5471220"/>
          </a:xfrm>
          <a:prstGeom prst="roundRect">
            <a:avLst>
              <a:gd name="adj" fmla="val 3134"/>
            </a:avLst>
          </a:prstGeom>
          <a:solidFill>
            <a:srgbClr val="0C2E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3" name="Google Shape;713;p27"/>
          <p:cNvSpPr/>
          <p:nvPr/>
        </p:nvSpPr>
        <p:spPr>
          <a:xfrm>
            <a:off x="1371600" y="4225230"/>
            <a:ext cx="8256884" cy="497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46818"/>
              </a:lnSpc>
              <a:spcBef>
                <a:spcPts val="0"/>
              </a:spcBef>
              <a:spcAft>
                <a:spcPts val="0"/>
              </a:spcAft>
              <a:buClr>
                <a:srgbClr val="E8F0E9"/>
              </a:buClr>
              <a:buSzPts val="1425"/>
              <a:buFont typeface="Courier New"/>
              <a:buNone/>
            </a:pP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weather = </a:t>
            </a:r>
            <a:r>
              <a:rPr lang="en-US" sz="1425" b="0" i="0" u="none" strike="noStrike" cap="none" dirty="0" err="1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pd.</a:t>
            </a:r>
            <a:r>
              <a:rPr lang="en-US" sz="1425" b="0" i="0" u="none" strike="noStrike" cap="none" dirty="0" err="1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read_csv</a:t>
            </a: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425" b="0" i="0" u="none" strike="noStrike" cap="none" dirty="0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"api_weather.csv" </a:t>
            </a: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</a:p>
          <a:p>
            <a:pPr marL="0" marR="0" lvl="0" indent="0" algn="l" rtl="0">
              <a:lnSpc>
                <a:spcPct val="146818"/>
              </a:lnSpc>
              <a:spcBef>
                <a:spcPts val="0"/>
              </a:spcBef>
              <a:spcAft>
                <a:spcPts val="0"/>
              </a:spcAft>
              <a:buClr>
                <a:srgbClr val="E8F0E9"/>
              </a:buClr>
              <a:buSzPts val="1425"/>
              <a:buFont typeface="Courier New"/>
              <a:buNone/>
            </a:pPr>
            <a:r>
              <a:rPr lang="en-US" sz="1425" b="0" i="0" u="none" strike="noStrike" cap="none" dirty="0" err="1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states_by_area</a:t>
            </a: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1425" b="0" i="0" u="none" strike="noStrike" cap="none" dirty="0" err="1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pd.</a:t>
            </a:r>
            <a:r>
              <a:rPr lang="en-US" sz="1425" b="0" i="0" u="none" strike="noStrike" cap="none" dirty="0" err="1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read_csv</a:t>
            </a: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425" b="0" i="0" u="none" strike="noStrike" cap="none" dirty="0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"scraped_states.csv" </a:t>
            </a: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</a:p>
          <a:p>
            <a:pPr marL="0" marR="0" lvl="0" indent="0" algn="l" rtl="0">
              <a:lnSpc>
                <a:spcPct val="146818"/>
              </a:lnSpc>
              <a:spcBef>
                <a:spcPts val="0"/>
              </a:spcBef>
              <a:spcAft>
                <a:spcPts val="0"/>
              </a:spcAft>
              <a:buClr>
                <a:srgbClr val="E8F0E9"/>
              </a:buClr>
              <a:buSzPts val="1425"/>
              <a:buFont typeface="Courier New"/>
              <a:buNone/>
            </a:pP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fig, axes = </a:t>
            </a:r>
            <a:r>
              <a:rPr lang="en-US" sz="1425" b="0" i="0" u="none" strike="noStrike" cap="none" dirty="0" err="1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plt.</a:t>
            </a:r>
            <a:r>
              <a:rPr lang="en-US" sz="1425" b="0" i="0" u="none" strike="noStrike" cap="none" dirty="0" err="1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subplots</a:t>
            </a: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425" b="0" i="0" u="none" strike="noStrike" cap="none" dirty="0">
                <a:solidFill>
                  <a:srgbClr val="F0B06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425" b="0" i="0" u="none" strike="noStrike" cap="none" dirty="0">
                <a:solidFill>
                  <a:srgbClr val="F0B060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425" b="0" i="0" u="none" strike="noStrike" cap="none" dirty="0" err="1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figsize</a:t>
            </a: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=(</a:t>
            </a:r>
            <a:r>
              <a:rPr lang="en-US" sz="1425" b="0" i="0" u="none" strike="noStrike" cap="none" dirty="0">
                <a:solidFill>
                  <a:srgbClr val="F0B060"/>
                </a:solidFill>
                <a:latin typeface="Courier New"/>
                <a:ea typeface="Courier New"/>
                <a:cs typeface="Courier New"/>
                <a:sym typeface="Courier New"/>
              </a:rPr>
              <a:t>13</a:t>
            </a: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425" b="0" i="0" u="none" strike="noStrike" cap="none" dirty="0">
                <a:solidFill>
                  <a:srgbClr val="F0B060"/>
                </a:solidFill>
                <a:latin typeface="Courier New"/>
                <a:ea typeface="Courier New"/>
                <a:cs typeface="Courier New"/>
                <a:sym typeface="Courier New"/>
              </a:rPr>
              <a:t>4 </a:t>
            </a: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)) axes[</a:t>
            </a:r>
            <a:r>
              <a:rPr lang="en-US" sz="1425" b="0" i="0" u="none" strike="noStrike" cap="none" dirty="0">
                <a:solidFill>
                  <a:srgbClr val="F0B060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].</a:t>
            </a:r>
            <a:r>
              <a:rPr lang="en-US" sz="1425" b="0" i="0" u="none" strike="noStrike" cap="none" dirty="0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bar</a:t>
            </a: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(weather[</a:t>
            </a:r>
            <a:r>
              <a:rPr lang="en-US" sz="1425" b="0" i="0" u="none" strike="noStrike" cap="none" dirty="0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"City"</a:t>
            </a: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], weather[</a:t>
            </a:r>
            <a:r>
              <a:rPr lang="en-US" sz="1425" b="0" i="0" u="none" strike="noStrike" cap="none" dirty="0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25" b="0" i="0" u="none" strike="noStrike" cap="none" dirty="0" err="1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AvgMaxTemp_C</a:t>
            </a:r>
            <a:r>
              <a:rPr lang="en-US" sz="1425" b="0" i="0" u="none" strike="noStrike" cap="none" dirty="0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], color=</a:t>
            </a:r>
            <a:r>
              <a:rPr lang="en-US" sz="1425" b="0" i="0" u="none" strike="noStrike" cap="none" dirty="0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"tomato" </a:t>
            </a: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) axes[</a:t>
            </a:r>
            <a:r>
              <a:rPr lang="en-US" sz="1425" b="0" i="0" u="none" strike="noStrike" cap="none" dirty="0">
                <a:solidFill>
                  <a:srgbClr val="F0B06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].</a:t>
            </a:r>
            <a:r>
              <a:rPr lang="en-US" sz="1425" b="0" i="0" u="none" strike="noStrike" cap="none" dirty="0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bar</a:t>
            </a: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425" b="0" i="0" u="none" strike="noStrike" cap="none" dirty="0" err="1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states_by_area</a:t>
            </a: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US" sz="1425" b="0" i="0" u="none" strike="noStrike" cap="none" dirty="0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"State"</a:t>
            </a: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], </a:t>
            </a:r>
            <a:r>
              <a:rPr lang="en-US" sz="1425" b="0" i="0" u="none" strike="noStrike" cap="none" dirty="0" err="1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states_by_area</a:t>
            </a: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US" sz="1425" b="0" i="0" u="none" strike="noStrike" cap="none" dirty="0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25" b="0" i="0" u="none" strike="noStrike" cap="none" dirty="0" err="1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Area_sq_km</a:t>
            </a:r>
            <a:r>
              <a:rPr lang="en-US" sz="1425" b="0" i="0" u="none" strike="noStrike" cap="none" dirty="0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 </a:t>
            </a: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], color= </a:t>
            </a:r>
            <a:r>
              <a:rPr lang="en-US" sz="1425" b="0" i="0" u="none" strike="noStrike" cap="none" dirty="0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25" b="0" i="0" u="none" strike="noStrike" cap="none" dirty="0" err="1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slateblue</a:t>
            </a:r>
            <a:r>
              <a:rPr lang="en-US" sz="1425" b="0" i="0" u="none" strike="noStrike" cap="none" dirty="0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25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27"/>
          <p:cNvSpPr/>
          <p:nvPr/>
        </p:nvSpPr>
        <p:spPr>
          <a:xfrm>
            <a:off x="10035878" y="3958530"/>
            <a:ext cx="7204373" cy="974824"/>
          </a:xfrm>
          <a:prstGeom prst="roundRect">
            <a:avLst>
              <a:gd name="adj" fmla="val 15634"/>
            </a:avLst>
          </a:prstGeom>
          <a:solidFill>
            <a:srgbClr val="F4F7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5" name="Google Shape;715;p27"/>
          <p:cNvSpPr/>
          <p:nvPr/>
        </p:nvSpPr>
        <p:spPr>
          <a:xfrm>
            <a:off x="10302578" y="4168080"/>
            <a:ext cx="733807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725"/>
              <a:buFont typeface="Arial"/>
              <a:buNone/>
            </a:pPr>
            <a:r>
              <a:rPr lang="en-US" sz="1725" b="1" i="0" u="none" strike="noStrike" cap="non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Left panel</a:t>
            </a:r>
            <a:endParaRPr sz="17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27"/>
          <p:cNvSpPr/>
          <p:nvPr/>
        </p:nvSpPr>
        <p:spPr>
          <a:xfrm>
            <a:off x="10302578" y="4453830"/>
            <a:ext cx="7338070" cy="3080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14932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575"/>
              <a:buFont typeface="Arial"/>
              <a:buNone/>
            </a:pPr>
            <a:r>
              <a:rPr lang="en-US" sz="1575" b="0" i="0" u="none" strike="noStrike" cap="non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Average maximum temperature — from the API.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27"/>
          <p:cNvSpPr/>
          <p:nvPr/>
        </p:nvSpPr>
        <p:spPr>
          <a:xfrm>
            <a:off x="10035878" y="5085755"/>
            <a:ext cx="7204373" cy="974824"/>
          </a:xfrm>
          <a:prstGeom prst="roundRect">
            <a:avLst>
              <a:gd name="adj" fmla="val 15634"/>
            </a:avLst>
          </a:prstGeom>
          <a:solidFill>
            <a:srgbClr val="F4F7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8" name="Google Shape;718;p27"/>
          <p:cNvSpPr/>
          <p:nvPr/>
        </p:nvSpPr>
        <p:spPr>
          <a:xfrm>
            <a:off x="10302578" y="5295305"/>
            <a:ext cx="733807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725"/>
              <a:buFont typeface="Arial"/>
              <a:buNone/>
            </a:pPr>
            <a:r>
              <a:rPr lang="en-US" sz="1725" b="1" i="0" u="none" strike="noStrike" cap="non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Right panel</a:t>
            </a:r>
            <a:endParaRPr sz="17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27"/>
          <p:cNvSpPr/>
          <p:nvPr/>
        </p:nvSpPr>
        <p:spPr>
          <a:xfrm>
            <a:off x="10302578" y="5581055"/>
            <a:ext cx="7338070" cy="3080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14932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575"/>
              <a:buFont typeface="Arial"/>
              <a:buNone/>
            </a:pPr>
            <a:r>
              <a:rPr lang="en-US" sz="1575" b="0" i="0" u="none" strike="noStrike" cap="non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State area — from the scraped table.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27"/>
          <p:cNvSpPr/>
          <p:nvPr/>
        </p:nvSpPr>
        <p:spPr>
          <a:xfrm>
            <a:off x="10035878" y="6212979"/>
            <a:ext cx="7204373" cy="985441"/>
          </a:xfrm>
          <a:prstGeom prst="roundRect">
            <a:avLst>
              <a:gd name="adj" fmla="val 15465"/>
            </a:avLst>
          </a:prstGeom>
          <a:solidFill>
            <a:srgbClr val="EAF3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1" name="Google Shape;721;p27"/>
          <p:cNvSpPr/>
          <p:nvPr/>
        </p:nvSpPr>
        <p:spPr>
          <a:xfrm>
            <a:off x="10302578" y="6422529"/>
            <a:ext cx="6871102" cy="604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19189"/>
              </a:lnSpc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1575"/>
              <a:buFont typeface="Arial"/>
              <a:buNone/>
            </a:pPr>
            <a:r>
              <a:rPr lang="en-US" sz="1575" b="0" i="0" u="none" strike="noStrike" cap="non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Quick clean before charting: </a:t>
            </a:r>
            <a:r>
              <a:rPr lang="en-US" sz="1575" b="0" i="0" u="none" strike="noStrike" cap="none">
                <a:solidFill>
                  <a:srgbClr val="47564E"/>
                </a:solidFill>
                <a:latin typeface="Courier New"/>
                <a:ea typeface="Courier New"/>
                <a:cs typeface="Courier New"/>
                <a:sym typeface="Courier New"/>
              </a:rPr>
              <a:t>shape</a:t>
            </a:r>
            <a:r>
              <a:rPr lang="en-US" sz="1575" b="0" i="0" u="none" strike="noStrike" cap="non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575" b="0" i="0" u="none" strike="noStrike" cap="none">
                <a:solidFill>
                  <a:srgbClr val="47564E"/>
                </a:solidFill>
                <a:latin typeface="Courier New"/>
                <a:ea typeface="Courier New"/>
                <a:cs typeface="Courier New"/>
                <a:sym typeface="Courier New"/>
              </a:rPr>
              <a:t>dtypes </a:t>
            </a:r>
            <a:r>
              <a:rPr lang="en-US" sz="1575" b="0" i="0" u="none" strike="noStrike" cap="non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, cast text numbers, handle gaps.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22" name="Google Shape;722;p2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7750" y="9658350"/>
            <a:ext cx="40292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723" name="Google Shape;723;p27"/>
          <p:cNvSpPr/>
          <p:nvPr/>
        </p:nvSpPr>
        <p:spPr>
          <a:xfrm>
            <a:off x="1574502" y="9674225"/>
            <a:ext cx="4108763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lang="en-US" sz="1425" b="0" i="0" u="none" strike="noStrike" cap="non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27"/>
          <p:cNvSpPr/>
          <p:nvPr/>
        </p:nvSpPr>
        <p:spPr>
          <a:xfrm>
            <a:off x="14349314" y="9674225"/>
            <a:ext cx="2541091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lang="en-US" sz="1425" b="0" i="0" u="none" strike="noStrike" cap="non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27"/>
          <p:cNvSpPr/>
          <p:nvPr/>
        </p:nvSpPr>
        <p:spPr>
          <a:xfrm>
            <a:off x="17042805" y="9674225"/>
            <a:ext cx="273645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lang="en-US" sz="1425" b="0" i="0" u="none" strike="noStrike" cap="non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27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28"/>
          <p:cNvSpPr/>
          <p:nvPr/>
        </p:nvSpPr>
        <p:spPr>
          <a:xfrm>
            <a:off x="1047750" y="914400"/>
            <a:ext cx="2451596" cy="425450"/>
          </a:xfrm>
          <a:prstGeom prst="roundRect">
            <a:avLst>
              <a:gd name="adj" fmla="val 50000"/>
            </a:avLst>
          </a:prstGeom>
          <a:solidFill>
            <a:srgbClr val="CE4A3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2" name="Google Shape;732;p28"/>
          <p:cNvSpPr/>
          <p:nvPr/>
        </p:nvSpPr>
        <p:spPr>
          <a:xfrm>
            <a:off x="1257300" y="1009650"/>
            <a:ext cx="2108696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</a:pPr>
            <a:r>
              <a:rPr lang="en-US" sz="1575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DEBUG THIS CODE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28"/>
          <p:cNvSpPr/>
          <p:nvPr/>
        </p:nvSpPr>
        <p:spPr>
          <a:xfrm>
            <a:off x="1047750" y="1587500"/>
            <a:ext cx="17811750" cy="623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92220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4350"/>
              <a:buFont typeface="Arial"/>
              <a:buNone/>
            </a:pPr>
            <a:r>
              <a:rPr lang="en-US" sz="4350" b="1" i="0" u="none" strike="noStrike" cap="non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Why did the API call explode?</a:t>
            </a:r>
            <a:endParaRPr sz="4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28"/>
          <p:cNvSpPr/>
          <p:nvPr/>
        </p:nvSpPr>
        <p:spPr>
          <a:xfrm>
            <a:off x="1047750" y="2325489"/>
            <a:ext cx="13096875" cy="412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2250"/>
              <a:buFont typeface="Arial"/>
              <a:buNone/>
            </a:pPr>
            <a:r>
              <a:rPr lang="en-US" sz="2250" b="0" i="0" u="none" strike="noStrike" cap="non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The URL had a typo. The error message says nothing about URLs.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28"/>
          <p:cNvSpPr/>
          <p:nvPr/>
        </p:nvSpPr>
        <p:spPr>
          <a:xfrm>
            <a:off x="1047750" y="4563368"/>
            <a:ext cx="7886700" cy="3307953"/>
          </a:xfrm>
          <a:prstGeom prst="roundRect">
            <a:avLst>
              <a:gd name="adj" fmla="val 5183"/>
            </a:avLst>
          </a:prstGeom>
          <a:solidFill>
            <a:srgbClr val="FBEF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6" name="Google Shape;736;p28"/>
          <p:cNvSpPr/>
          <p:nvPr/>
        </p:nvSpPr>
        <p:spPr>
          <a:xfrm>
            <a:off x="1047750" y="4563368"/>
            <a:ext cx="57150" cy="3307953"/>
          </a:xfrm>
          <a:prstGeom prst="rect">
            <a:avLst/>
          </a:prstGeom>
          <a:solidFill>
            <a:srgbClr val="CE4A3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7" name="Google Shape;737;p28"/>
          <p:cNvSpPr/>
          <p:nvPr/>
        </p:nvSpPr>
        <p:spPr>
          <a:xfrm>
            <a:off x="1466850" y="4849118"/>
            <a:ext cx="7816215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650"/>
              <a:buFont typeface="Arial"/>
              <a:buNone/>
            </a:pPr>
            <a:r>
              <a:rPr lang="en-US" sz="1650" b="1" i="0" u="none" strike="noStrike" cap="non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Buggy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28"/>
          <p:cNvSpPr/>
          <p:nvPr/>
        </p:nvSpPr>
        <p:spPr>
          <a:xfrm>
            <a:off x="1466850" y="5223768"/>
            <a:ext cx="7105650" cy="1649413"/>
          </a:xfrm>
          <a:prstGeom prst="roundRect">
            <a:avLst>
              <a:gd name="adj" fmla="val 8085"/>
            </a:avLst>
          </a:prstGeom>
          <a:solidFill>
            <a:srgbClr val="0C2E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9" name="Google Shape;739;p28"/>
          <p:cNvSpPr/>
          <p:nvPr/>
        </p:nvSpPr>
        <p:spPr>
          <a:xfrm>
            <a:off x="1733550" y="5433318"/>
            <a:ext cx="6785420" cy="1268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46818"/>
              </a:lnSpc>
              <a:spcBef>
                <a:spcPts val="0"/>
              </a:spcBef>
              <a:spcAft>
                <a:spcPts val="0"/>
              </a:spcAft>
              <a:buClr>
                <a:srgbClr val="E8F0E9"/>
              </a:buClr>
              <a:buSzPts val="1425"/>
              <a:buFont typeface="Courier New"/>
              <a:buNone/>
            </a:pP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response = </a:t>
            </a:r>
            <a:r>
              <a:rPr lang="en-US" sz="1425" b="0" i="0" u="none" strike="noStrike" cap="none" dirty="0" err="1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requests.</a:t>
            </a:r>
            <a:r>
              <a:rPr lang="en-US" sz="1425" b="0" i="0" u="none" strike="noStrike" cap="none" dirty="0" err="1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r>
              <a:rPr lang="en-US" sz="1425" b="0" i="0" u="none" strike="noStrike" cap="none" dirty="0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425" b="0" i="0" u="none" strike="noStrike" cap="none" dirty="0" err="1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url</a:t>
            </a: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) data = </a:t>
            </a:r>
            <a:r>
              <a:rPr lang="en-US" sz="1425" b="0" i="0" u="none" strike="noStrike" cap="none" dirty="0" err="1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response.</a:t>
            </a:r>
            <a:r>
              <a:rPr lang="en-US" sz="1425" b="0" i="0" u="none" strike="noStrike" cap="none" dirty="0" err="1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json</a:t>
            </a:r>
            <a:r>
              <a:rPr lang="en-US" sz="1425" b="0" i="0" u="none" strike="noStrike" cap="none" dirty="0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() </a:t>
            </a:r>
          </a:p>
          <a:p>
            <a:pPr marL="0" marR="0" lvl="0" indent="0" algn="l" rtl="0">
              <a:lnSpc>
                <a:spcPct val="146818"/>
              </a:lnSpc>
              <a:spcBef>
                <a:spcPts val="0"/>
              </a:spcBef>
              <a:spcAft>
                <a:spcPts val="0"/>
              </a:spcAft>
              <a:buClr>
                <a:srgbClr val="E8F0E9"/>
              </a:buClr>
              <a:buSzPts val="1425"/>
              <a:buFont typeface="Courier New"/>
              <a:buNone/>
            </a:pP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temps = data[</a:t>
            </a:r>
            <a:r>
              <a:rPr lang="en-US" sz="1425" b="0" i="0" u="none" strike="noStrike" cap="none" dirty="0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"daily"</a:t>
            </a: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][</a:t>
            </a:r>
            <a:r>
              <a:rPr lang="en-US" sz="1425" b="0" i="0" u="none" strike="noStrike" cap="none" dirty="0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"temperature_2m_max"</a:t>
            </a: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] </a:t>
            </a:r>
            <a:r>
              <a:rPr lang="en-US" sz="1425" b="0" i="0" u="none" strike="noStrike" cap="none" dirty="0">
                <a:solidFill>
                  <a:srgbClr val="9AA79F"/>
                </a:solidFill>
                <a:latin typeface="Courier New"/>
                <a:ea typeface="Courier New"/>
                <a:cs typeface="Courier New"/>
                <a:sym typeface="Courier New"/>
              </a:rPr>
              <a:t># </a:t>
            </a:r>
            <a:r>
              <a:rPr lang="en-US" sz="1425" b="0" i="0" u="none" strike="noStrike" cap="none" dirty="0" err="1">
                <a:solidFill>
                  <a:srgbClr val="9AA79F"/>
                </a:solidFill>
                <a:latin typeface="Courier New"/>
                <a:ea typeface="Courier New"/>
                <a:cs typeface="Courier New"/>
                <a:sym typeface="Courier New"/>
              </a:rPr>
              <a:t>KeyError</a:t>
            </a:r>
            <a:r>
              <a:rPr lang="en-US" sz="1425" b="0" i="0" u="none" strike="noStrike" cap="none" dirty="0">
                <a:solidFill>
                  <a:srgbClr val="9AA79F"/>
                </a:solidFill>
                <a:latin typeface="Courier New"/>
                <a:ea typeface="Courier New"/>
                <a:cs typeface="Courier New"/>
                <a:sym typeface="Courier New"/>
              </a:rPr>
              <a:t>: 'daily'</a:t>
            </a:r>
            <a:endParaRPr sz="1425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28"/>
          <p:cNvSpPr/>
          <p:nvPr/>
        </p:nvSpPr>
        <p:spPr>
          <a:xfrm>
            <a:off x="1466850" y="7025580"/>
            <a:ext cx="7318820" cy="598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19189"/>
              </a:lnSpc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1575"/>
              <a:buFont typeface="Arial"/>
              <a:buNone/>
            </a:pPr>
            <a:r>
              <a:rPr lang="en-US" sz="1575" b="0" i="0" u="none" strike="noStrike" cap="non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A 404 error page was parsed as if it were data — the failure surfaces three lines late.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28"/>
          <p:cNvSpPr/>
          <p:nvPr/>
        </p:nvSpPr>
        <p:spPr>
          <a:xfrm>
            <a:off x="9353550" y="4546402"/>
            <a:ext cx="7886700" cy="3341886"/>
          </a:xfrm>
          <a:prstGeom prst="roundRect">
            <a:avLst>
              <a:gd name="adj" fmla="val 5130"/>
            </a:avLst>
          </a:prstGeom>
          <a:solidFill>
            <a:srgbClr val="EAF3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2" name="Google Shape;742;p28"/>
          <p:cNvSpPr/>
          <p:nvPr/>
        </p:nvSpPr>
        <p:spPr>
          <a:xfrm>
            <a:off x="9353550" y="4546402"/>
            <a:ext cx="57150" cy="3341886"/>
          </a:xfrm>
          <a:prstGeom prst="rect">
            <a:avLst/>
          </a:prstGeom>
          <a:solidFill>
            <a:srgbClr val="1F9D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3" name="Google Shape;743;p28"/>
          <p:cNvSpPr/>
          <p:nvPr/>
        </p:nvSpPr>
        <p:spPr>
          <a:xfrm>
            <a:off x="9772650" y="4832152"/>
            <a:ext cx="7816215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650"/>
              <a:buFont typeface="Arial"/>
              <a:buNone/>
            </a:pPr>
            <a:r>
              <a:rPr lang="en-US" sz="1650" b="1" i="0" u="none" strike="noStrike" cap="non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FIX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28"/>
          <p:cNvSpPr/>
          <p:nvPr/>
        </p:nvSpPr>
        <p:spPr>
          <a:xfrm>
            <a:off x="9772650" y="5206802"/>
            <a:ext cx="7105650" cy="1956991"/>
          </a:xfrm>
          <a:prstGeom prst="roundRect">
            <a:avLst>
              <a:gd name="adj" fmla="val 6814"/>
            </a:avLst>
          </a:prstGeom>
          <a:solidFill>
            <a:srgbClr val="0C2E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5" name="Google Shape;745;p28"/>
          <p:cNvSpPr/>
          <p:nvPr/>
        </p:nvSpPr>
        <p:spPr>
          <a:xfrm>
            <a:off x="10039350" y="5416352"/>
            <a:ext cx="6785420" cy="157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46818"/>
              </a:lnSpc>
              <a:spcBef>
                <a:spcPts val="0"/>
              </a:spcBef>
              <a:spcAft>
                <a:spcPts val="0"/>
              </a:spcAft>
              <a:buClr>
                <a:srgbClr val="E8F0E9"/>
              </a:buClr>
              <a:buSzPts val="1425"/>
              <a:buFont typeface="Courier New"/>
              <a:buNone/>
            </a:pP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response = </a:t>
            </a:r>
            <a:r>
              <a:rPr lang="en-US" sz="1425" b="0" i="0" u="none" strike="noStrike" cap="none" dirty="0" err="1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requests.</a:t>
            </a:r>
            <a:r>
              <a:rPr lang="en-US" sz="1425" b="0" i="0" u="none" strike="noStrike" cap="none" dirty="0" err="1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425" b="0" i="0" u="none" strike="noStrike" cap="none" dirty="0" err="1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url</a:t>
            </a: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, timeout=</a:t>
            </a:r>
            <a:r>
              <a:rPr lang="en-US" sz="1425" b="0" i="0" u="none" strike="noStrike" cap="none" dirty="0">
                <a:solidFill>
                  <a:srgbClr val="F0B060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</a:p>
          <a:p>
            <a:pPr marL="0" marR="0" lvl="0" indent="0" algn="l" rtl="0">
              <a:lnSpc>
                <a:spcPct val="146818"/>
              </a:lnSpc>
              <a:spcBef>
                <a:spcPts val="0"/>
              </a:spcBef>
              <a:spcAft>
                <a:spcPts val="0"/>
              </a:spcAft>
              <a:buClr>
                <a:srgbClr val="E8F0E9"/>
              </a:buClr>
              <a:buSzPts val="1425"/>
              <a:buFont typeface="Courier New"/>
              <a:buNone/>
            </a:pPr>
            <a:r>
              <a:rPr lang="en-US" sz="1425" b="0" i="0" u="none" strike="noStrike" cap="none" dirty="0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lang="en-US" sz="1425" b="0" i="0" u="none" strike="noStrike" cap="none" dirty="0" err="1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response.status_code</a:t>
            </a: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 == </a:t>
            </a:r>
            <a:r>
              <a:rPr lang="en-US" sz="1425" b="0" i="0" u="none" strike="noStrike" cap="none" dirty="0">
                <a:solidFill>
                  <a:srgbClr val="F0B060"/>
                </a:solidFill>
                <a:latin typeface="Courier New"/>
                <a:ea typeface="Courier New"/>
                <a:cs typeface="Courier New"/>
                <a:sym typeface="Courier New"/>
              </a:rPr>
              <a:t>200 </a:t>
            </a: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: data = </a:t>
            </a:r>
            <a:r>
              <a:rPr lang="en-US" sz="1425" b="0" i="0" u="none" strike="noStrike" cap="none" dirty="0" err="1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response.</a:t>
            </a:r>
            <a:r>
              <a:rPr lang="en-US" sz="1425" b="0" i="0" u="none" strike="noStrike" cap="none" dirty="0" err="1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json</a:t>
            </a: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() </a:t>
            </a:r>
          </a:p>
          <a:p>
            <a:pPr marL="0" marR="0" lvl="0" indent="0" algn="l" rtl="0">
              <a:lnSpc>
                <a:spcPct val="146818"/>
              </a:lnSpc>
              <a:spcBef>
                <a:spcPts val="0"/>
              </a:spcBef>
              <a:spcAft>
                <a:spcPts val="0"/>
              </a:spcAft>
              <a:buClr>
                <a:srgbClr val="E8F0E9"/>
              </a:buClr>
              <a:buSzPts val="1425"/>
              <a:buFont typeface="Courier New"/>
              <a:buNone/>
            </a:pPr>
            <a:r>
              <a:rPr lang="en-US" sz="1425" b="0" i="0" u="none" strike="noStrike" cap="none" dirty="0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US" sz="1425" b="0" i="0" u="none" strike="noStrike" cap="none" dirty="0">
                <a:solidFill>
                  <a:srgbClr val="9FB8AA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425" b="0" i="0" u="none" strike="noStrike" cap="none" dirty="0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"failed:"</a:t>
            </a: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425" b="0" i="0" u="none" strike="noStrike" cap="none" dirty="0" err="1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response.status_code</a:t>
            </a:r>
            <a:r>
              <a:rPr lang="en-US" sz="1425" b="0" i="0" u="none" strike="noStrike" cap="none" dirty="0">
                <a:solidFill>
                  <a:srgbClr val="E8F0E9"/>
                </a:solidFill>
                <a:highlight>
                  <a:srgbClr val="0C2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25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28"/>
          <p:cNvSpPr/>
          <p:nvPr/>
        </p:nvSpPr>
        <p:spPr>
          <a:xfrm>
            <a:off x="9772650" y="7316192"/>
            <a:ext cx="7816215" cy="324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19189"/>
              </a:lnSpc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1575"/>
              <a:buFont typeface="Arial"/>
              <a:buNone/>
            </a:pPr>
            <a:r>
              <a:rPr lang="en-US" sz="1575" b="0" i="0" u="none" strike="noStrike" cap="non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Check the status code, then parse. Same rule when </a:t>
            </a:r>
            <a:r>
              <a:rPr lang="en-US" sz="1575" b="0" i="0" u="none" strike="noStrike" cap="none">
                <a:solidFill>
                  <a:srgbClr val="47564E"/>
                </a:solidFill>
                <a:latin typeface="Courier New"/>
                <a:ea typeface="Courier New"/>
                <a:cs typeface="Courier New"/>
                <a:sym typeface="Courier New"/>
              </a:rPr>
              <a:t>find() </a:t>
            </a:r>
            <a:r>
              <a:rPr lang="en-US" sz="1575" b="0" i="0" u="none" strike="noStrike" cap="non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returns </a:t>
            </a:r>
            <a:r>
              <a:rPr lang="en-US" sz="1575" b="0" i="0" u="none" strike="noStrike" cap="none">
                <a:solidFill>
                  <a:srgbClr val="47564E"/>
                </a:solidFill>
                <a:latin typeface="Courier New"/>
                <a:ea typeface="Courier New"/>
                <a:cs typeface="Courier New"/>
                <a:sym typeface="Courier New"/>
              </a:rPr>
              <a:t>None</a:t>
            </a:r>
            <a:r>
              <a:rPr lang="en-US" sz="1575" b="0" i="0" u="none" strike="noStrike" cap="non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7" name="Google Shape;747;p2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7750" y="9658350"/>
            <a:ext cx="40292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748" name="Google Shape;748;p28"/>
          <p:cNvSpPr/>
          <p:nvPr/>
        </p:nvSpPr>
        <p:spPr>
          <a:xfrm>
            <a:off x="1574502" y="9674225"/>
            <a:ext cx="4108763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lang="en-US" sz="1425" b="0" i="0" u="none" strike="noStrike" cap="non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28"/>
          <p:cNvSpPr/>
          <p:nvPr/>
        </p:nvSpPr>
        <p:spPr>
          <a:xfrm>
            <a:off x="14335720" y="9674225"/>
            <a:ext cx="2541091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lang="en-US" sz="1425" b="0" i="0" u="none" strike="noStrike" cap="non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28"/>
          <p:cNvSpPr/>
          <p:nvPr/>
        </p:nvSpPr>
        <p:spPr>
          <a:xfrm>
            <a:off x="17029212" y="9674225"/>
            <a:ext cx="287238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lang="en-US" sz="1425" b="0" i="0" u="none" strike="noStrike" cap="non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28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29"/>
          <p:cNvSpPr/>
          <p:nvPr/>
        </p:nvSpPr>
        <p:spPr>
          <a:xfrm>
            <a:off x="1047750" y="914400"/>
            <a:ext cx="17811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E4A32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CE4A32"/>
                </a:solidFill>
                <a:latin typeface="Arial"/>
                <a:ea typeface="Arial"/>
                <a:cs typeface="Arial"/>
                <a:sym typeface="Arial"/>
              </a:rPr>
              <a:t>WATCH OUT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29"/>
          <p:cNvSpPr/>
          <p:nvPr/>
        </p:nvSpPr>
        <p:spPr>
          <a:xfrm>
            <a:off x="1047750" y="1390650"/>
            <a:ext cx="17811750" cy="643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92621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4500"/>
              <a:buFont typeface="Arial"/>
              <a:buNone/>
            </a:pPr>
            <a:r>
              <a:rPr lang="en-US" sz="4500" b="1" i="0" u="none" strike="noStrike" cap="non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Common beginner mistakes</a:t>
            </a:r>
            <a:endParaRPr sz="4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29"/>
          <p:cNvSpPr/>
          <p:nvPr/>
        </p:nvSpPr>
        <p:spPr>
          <a:xfrm>
            <a:off x="1047750" y="2339280"/>
            <a:ext cx="8010525" cy="1643955"/>
          </a:xfrm>
          <a:prstGeom prst="roundRect">
            <a:avLst>
              <a:gd name="adj" fmla="val 9270"/>
            </a:avLst>
          </a:prstGeom>
          <a:solidFill>
            <a:srgbClr val="F4F7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9" name="Google Shape;759;p29"/>
          <p:cNvSpPr/>
          <p:nvPr/>
        </p:nvSpPr>
        <p:spPr>
          <a:xfrm>
            <a:off x="1314450" y="2989759"/>
            <a:ext cx="278507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E4A32"/>
              </a:buClr>
              <a:buSzPts val="1950"/>
              <a:buFont typeface="Courier New"/>
              <a:buNone/>
            </a:pPr>
            <a:r>
              <a:rPr lang="en-US" sz="1950" b="0" i="0" u="none" strike="noStrike" cap="none">
                <a:solidFill>
                  <a:srgbClr val="CE4A32"/>
                </a:solidFill>
                <a:latin typeface="Courier New"/>
                <a:ea typeface="Courier New"/>
                <a:cs typeface="Courier New"/>
                <a:sym typeface="Courier New"/>
              </a:rPr>
              <a:t>✗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29"/>
          <p:cNvSpPr/>
          <p:nvPr/>
        </p:nvSpPr>
        <p:spPr>
          <a:xfrm>
            <a:off x="1688207" y="2904034"/>
            <a:ext cx="3552964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725"/>
              <a:buFont typeface="Arial"/>
              <a:buNone/>
            </a:pPr>
            <a:r>
              <a:rPr lang="en-US" sz="1725" b="1" i="0" u="none" strike="noStrike" cap="non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Wrong chart for the question</a:t>
            </a:r>
            <a:endParaRPr sz="17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29"/>
          <p:cNvSpPr/>
          <p:nvPr/>
        </p:nvSpPr>
        <p:spPr>
          <a:xfrm>
            <a:off x="1688207" y="3170734"/>
            <a:ext cx="3552964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14706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A line chart across unordered states.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29"/>
          <p:cNvSpPr/>
          <p:nvPr/>
        </p:nvSpPr>
        <p:spPr>
          <a:xfrm>
            <a:off x="9229725" y="2339280"/>
            <a:ext cx="8010525" cy="1643955"/>
          </a:xfrm>
          <a:prstGeom prst="roundRect">
            <a:avLst>
              <a:gd name="adj" fmla="val 9270"/>
            </a:avLst>
          </a:prstGeom>
          <a:solidFill>
            <a:srgbClr val="F4F7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3" name="Google Shape;763;p29"/>
          <p:cNvSpPr/>
          <p:nvPr/>
        </p:nvSpPr>
        <p:spPr>
          <a:xfrm>
            <a:off x="9496425" y="2989759"/>
            <a:ext cx="278507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E4A32"/>
              </a:buClr>
              <a:buSzPts val="1950"/>
              <a:buFont typeface="Courier New"/>
              <a:buNone/>
            </a:pPr>
            <a:r>
              <a:rPr lang="en-US" sz="1950" b="0" i="0" u="none" strike="noStrike" cap="none">
                <a:solidFill>
                  <a:srgbClr val="CE4A32"/>
                </a:solidFill>
                <a:latin typeface="Courier New"/>
                <a:ea typeface="Courier New"/>
                <a:cs typeface="Courier New"/>
                <a:sym typeface="Courier New"/>
              </a:rPr>
              <a:t>✗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29"/>
          <p:cNvSpPr/>
          <p:nvPr/>
        </p:nvSpPr>
        <p:spPr>
          <a:xfrm>
            <a:off x="9870182" y="2904034"/>
            <a:ext cx="3325842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725"/>
              <a:buFont typeface="Arial"/>
              <a:buNone/>
            </a:pPr>
            <a:r>
              <a:rPr lang="en-US" sz="1725" b="1" i="0" u="none" strike="noStrike" cap="non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No title, no axis labels</a:t>
            </a:r>
            <a:endParaRPr sz="17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29"/>
          <p:cNvSpPr/>
          <p:nvPr/>
        </p:nvSpPr>
        <p:spPr>
          <a:xfrm>
            <a:off x="9870182" y="3170734"/>
            <a:ext cx="3325842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14706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An unlabelled chart is not finished.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29"/>
          <p:cNvSpPr/>
          <p:nvPr/>
        </p:nvSpPr>
        <p:spPr>
          <a:xfrm>
            <a:off x="1047750" y="4154686"/>
            <a:ext cx="8010525" cy="1644055"/>
          </a:xfrm>
          <a:prstGeom prst="roundRect">
            <a:avLst>
              <a:gd name="adj" fmla="val 9270"/>
            </a:avLst>
          </a:prstGeom>
          <a:solidFill>
            <a:srgbClr val="F4F7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7" name="Google Shape;767;p29"/>
          <p:cNvSpPr/>
          <p:nvPr/>
        </p:nvSpPr>
        <p:spPr>
          <a:xfrm>
            <a:off x="1314450" y="4805263"/>
            <a:ext cx="278507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E4A32"/>
              </a:buClr>
              <a:buSzPts val="1950"/>
              <a:buFont typeface="Courier New"/>
              <a:buNone/>
            </a:pPr>
            <a:r>
              <a:rPr lang="en-US" sz="1950" b="0" i="0" u="none" strike="noStrike" cap="none">
                <a:solidFill>
                  <a:srgbClr val="CE4A32"/>
                </a:solidFill>
                <a:latin typeface="Courier New"/>
                <a:ea typeface="Courier New"/>
                <a:cs typeface="Courier New"/>
                <a:sym typeface="Courier New"/>
              </a:rPr>
              <a:t>✗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29"/>
          <p:cNvSpPr/>
          <p:nvPr/>
        </p:nvSpPr>
        <p:spPr>
          <a:xfrm>
            <a:off x="1688207" y="4719538"/>
            <a:ext cx="388300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725"/>
              <a:buFont typeface="Arial"/>
              <a:buNone/>
            </a:pPr>
            <a:r>
              <a:rPr lang="en-US" sz="1725" b="1" i="0" u="none" strike="noStrike" cap="non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Unreadable colours</a:t>
            </a:r>
            <a:endParaRPr sz="17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29"/>
          <p:cNvSpPr/>
          <p:nvPr/>
        </p:nvSpPr>
        <p:spPr>
          <a:xfrm>
            <a:off x="1688207" y="4986239"/>
            <a:ext cx="388300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14706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Everything highlighted means nothing is.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29"/>
          <p:cNvSpPr/>
          <p:nvPr/>
        </p:nvSpPr>
        <p:spPr>
          <a:xfrm>
            <a:off x="9229725" y="4154686"/>
            <a:ext cx="8010525" cy="1644055"/>
          </a:xfrm>
          <a:prstGeom prst="roundRect">
            <a:avLst>
              <a:gd name="adj" fmla="val 9270"/>
            </a:avLst>
          </a:prstGeom>
          <a:solidFill>
            <a:srgbClr val="F4F7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1" name="Google Shape;771;p29"/>
          <p:cNvSpPr/>
          <p:nvPr/>
        </p:nvSpPr>
        <p:spPr>
          <a:xfrm>
            <a:off x="9496425" y="4805263"/>
            <a:ext cx="278507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E4A32"/>
              </a:buClr>
              <a:buSzPts val="1950"/>
              <a:buFont typeface="Courier New"/>
              <a:buNone/>
            </a:pPr>
            <a:r>
              <a:rPr lang="en-US" sz="1950" b="0" i="0" u="none" strike="noStrike" cap="none">
                <a:solidFill>
                  <a:srgbClr val="CE4A32"/>
                </a:solidFill>
                <a:latin typeface="Courier New"/>
                <a:ea typeface="Courier New"/>
                <a:cs typeface="Courier New"/>
                <a:sym typeface="Courier New"/>
              </a:rPr>
              <a:t>✗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29"/>
          <p:cNvSpPr/>
          <p:nvPr/>
        </p:nvSpPr>
        <p:spPr>
          <a:xfrm>
            <a:off x="9870182" y="4719538"/>
            <a:ext cx="3094464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725"/>
              <a:buFont typeface="Arial"/>
              <a:buNone/>
            </a:pPr>
            <a:r>
              <a:rPr lang="en-US" sz="1725" b="1" i="0" u="none" strike="noStrike" cap="non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Not checking the status code</a:t>
            </a:r>
            <a:endParaRPr sz="17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29"/>
          <p:cNvSpPr/>
          <p:nvPr/>
        </p:nvSpPr>
        <p:spPr>
          <a:xfrm>
            <a:off x="9870182" y="4986239"/>
            <a:ext cx="3094464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14706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Parse only after a 200.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29"/>
          <p:cNvSpPr/>
          <p:nvPr/>
        </p:nvSpPr>
        <p:spPr>
          <a:xfrm>
            <a:off x="1047750" y="5970191"/>
            <a:ext cx="8010525" cy="1644055"/>
          </a:xfrm>
          <a:prstGeom prst="roundRect">
            <a:avLst>
              <a:gd name="adj" fmla="val 9270"/>
            </a:avLst>
          </a:prstGeom>
          <a:solidFill>
            <a:srgbClr val="F4F7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5" name="Google Shape;775;p29"/>
          <p:cNvSpPr/>
          <p:nvPr/>
        </p:nvSpPr>
        <p:spPr>
          <a:xfrm>
            <a:off x="1314450" y="6620768"/>
            <a:ext cx="278507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E4A32"/>
              </a:buClr>
              <a:buSzPts val="1950"/>
              <a:buFont typeface="Courier New"/>
              <a:buNone/>
            </a:pPr>
            <a:r>
              <a:rPr lang="en-US" sz="1950" b="0" i="0" u="none" strike="noStrike" cap="none">
                <a:solidFill>
                  <a:srgbClr val="CE4A32"/>
                </a:solidFill>
                <a:latin typeface="Courier New"/>
                <a:ea typeface="Courier New"/>
                <a:cs typeface="Courier New"/>
                <a:sym typeface="Courier New"/>
              </a:rPr>
              <a:t>✗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29"/>
          <p:cNvSpPr/>
          <p:nvPr/>
        </p:nvSpPr>
        <p:spPr>
          <a:xfrm>
            <a:off x="1688207" y="6535043"/>
            <a:ext cx="3585924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725"/>
              <a:buFont typeface="Arial"/>
              <a:buNone/>
            </a:pPr>
            <a:r>
              <a:rPr lang="en-US" sz="1725" b="1" i="0" u="none" strike="noStrike" cap="non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Guessing the JSON shape</a:t>
            </a:r>
            <a:endParaRPr sz="17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29"/>
          <p:cNvSpPr/>
          <p:nvPr/>
        </p:nvSpPr>
        <p:spPr>
          <a:xfrm>
            <a:off x="1688207" y="6801743"/>
            <a:ext cx="3585924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14706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Print the keys before you index them.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29"/>
          <p:cNvSpPr/>
          <p:nvPr/>
        </p:nvSpPr>
        <p:spPr>
          <a:xfrm>
            <a:off x="9229725" y="5970191"/>
            <a:ext cx="8010525" cy="1644055"/>
          </a:xfrm>
          <a:prstGeom prst="roundRect">
            <a:avLst>
              <a:gd name="adj" fmla="val 9270"/>
            </a:avLst>
          </a:prstGeom>
          <a:solidFill>
            <a:srgbClr val="F4F7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9" name="Google Shape;779;p29"/>
          <p:cNvSpPr/>
          <p:nvPr/>
        </p:nvSpPr>
        <p:spPr>
          <a:xfrm>
            <a:off x="9496425" y="6620768"/>
            <a:ext cx="278507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E4A32"/>
              </a:buClr>
              <a:buSzPts val="1950"/>
              <a:buFont typeface="Courier New"/>
              <a:buNone/>
            </a:pPr>
            <a:r>
              <a:rPr lang="en-US" sz="1950" b="0" i="0" u="none" strike="noStrike" cap="none">
                <a:solidFill>
                  <a:srgbClr val="CE4A32"/>
                </a:solidFill>
                <a:latin typeface="Courier New"/>
                <a:ea typeface="Courier New"/>
                <a:cs typeface="Courier New"/>
                <a:sym typeface="Courier New"/>
              </a:rPr>
              <a:t>✗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29"/>
          <p:cNvSpPr/>
          <p:nvPr/>
        </p:nvSpPr>
        <p:spPr>
          <a:xfrm>
            <a:off x="9870182" y="6535043"/>
            <a:ext cx="460158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725"/>
              <a:buFont typeface="Arial"/>
              <a:buNone/>
            </a:pPr>
            <a:r>
              <a:rPr lang="en-US" sz="1725" b="1" i="0" u="none" strike="noStrike" cap="non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Scraping the wrong element</a:t>
            </a:r>
            <a:endParaRPr sz="17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29"/>
          <p:cNvSpPr/>
          <p:nvPr/>
        </p:nvSpPr>
        <p:spPr>
          <a:xfrm>
            <a:off x="9870182" y="6801743"/>
            <a:ext cx="460158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14706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Three tables on a page — narrow with </a:t>
            </a:r>
            <a:r>
              <a:rPr lang="en-US" sz="1500" b="0" i="0" u="none" strike="noStrike" cap="none">
                <a:solidFill>
                  <a:srgbClr val="5B6B62"/>
                </a:solidFill>
                <a:latin typeface="Courier New"/>
                <a:ea typeface="Courier New"/>
                <a:cs typeface="Courier New"/>
                <a:sym typeface="Courier New"/>
              </a:rPr>
              <a:t>class_=</a:t>
            </a:r>
            <a:r>
              <a:rPr lang="en-US" sz="1500" b="0" i="0" u="none" strike="noStrike" cap="non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29"/>
          <p:cNvSpPr/>
          <p:nvPr/>
        </p:nvSpPr>
        <p:spPr>
          <a:xfrm>
            <a:off x="1047750" y="7785696"/>
            <a:ext cx="8010525" cy="1644055"/>
          </a:xfrm>
          <a:prstGeom prst="roundRect">
            <a:avLst>
              <a:gd name="adj" fmla="val 9270"/>
            </a:avLst>
          </a:prstGeom>
          <a:solidFill>
            <a:srgbClr val="F4F7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3" name="Google Shape;783;p29"/>
          <p:cNvSpPr/>
          <p:nvPr/>
        </p:nvSpPr>
        <p:spPr>
          <a:xfrm>
            <a:off x="1314450" y="8436273"/>
            <a:ext cx="278507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E4A32"/>
              </a:buClr>
              <a:buSzPts val="1950"/>
              <a:buFont typeface="Courier New"/>
              <a:buNone/>
            </a:pPr>
            <a:r>
              <a:rPr lang="en-US" sz="1950" b="0" i="0" u="none" strike="noStrike" cap="none">
                <a:solidFill>
                  <a:srgbClr val="CE4A32"/>
                </a:solidFill>
                <a:latin typeface="Courier New"/>
                <a:ea typeface="Courier New"/>
                <a:cs typeface="Courier New"/>
                <a:sym typeface="Courier New"/>
              </a:rPr>
              <a:t>✗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29"/>
          <p:cNvSpPr/>
          <p:nvPr/>
        </p:nvSpPr>
        <p:spPr>
          <a:xfrm>
            <a:off x="1688207" y="8350548"/>
            <a:ext cx="3148161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725"/>
              <a:buFont typeface="Arial"/>
              <a:buNone/>
            </a:pPr>
            <a:r>
              <a:rPr lang="en-US" sz="1725" b="1" i="0" u="none" strike="noStrike" cap="non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Hardcoded URLs &amp; paths</a:t>
            </a:r>
            <a:endParaRPr sz="17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29"/>
          <p:cNvSpPr/>
          <p:nvPr/>
        </p:nvSpPr>
        <p:spPr>
          <a:xfrm>
            <a:off x="1688207" y="8617248"/>
            <a:ext cx="3148161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14706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Put them in a variable at the top.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29"/>
          <p:cNvSpPr/>
          <p:nvPr/>
        </p:nvSpPr>
        <p:spPr>
          <a:xfrm>
            <a:off x="9229725" y="7785696"/>
            <a:ext cx="8010525" cy="1644055"/>
          </a:xfrm>
          <a:prstGeom prst="roundRect">
            <a:avLst>
              <a:gd name="adj" fmla="val 9270"/>
            </a:avLst>
          </a:prstGeom>
          <a:solidFill>
            <a:srgbClr val="F4F7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7" name="Google Shape;787;p29"/>
          <p:cNvSpPr/>
          <p:nvPr/>
        </p:nvSpPr>
        <p:spPr>
          <a:xfrm>
            <a:off x="9496425" y="8436273"/>
            <a:ext cx="278507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E4A32"/>
              </a:buClr>
              <a:buSzPts val="1950"/>
              <a:buFont typeface="Courier New"/>
              <a:buNone/>
            </a:pPr>
            <a:r>
              <a:rPr lang="en-US" sz="1950" b="0" i="0" u="none" strike="noStrike" cap="none">
                <a:solidFill>
                  <a:srgbClr val="CE4A32"/>
                </a:solidFill>
                <a:latin typeface="Courier New"/>
                <a:ea typeface="Courier New"/>
                <a:cs typeface="Courier New"/>
                <a:sym typeface="Courier New"/>
              </a:rPr>
              <a:t>✗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29"/>
          <p:cNvSpPr/>
          <p:nvPr/>
        </p:nvSpPr>
        <p:spPr>
          <a:xfrm>
            <a:off x="9870182" y="8344198"/>
            <a:ext cx="4351764" cy="29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725"/>
              <a:buFont typeface="Arial"/>
              <a:buNone/>
            </a:pPr>
            <a:r>
              <a:rPr lang="en-US" sz="1725" b="1" i="0" u="none" strike="noStrike" cap="non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Forgetting </a:t>
            </a:r>
            <a:r>
              <a:rPr lang="en-US" sz="1725" b="1" i="0" u="none" strike="noStrike" cap="none">
                <a:solidFill>
                  <a:srgbClr val="0C2E1E"/>
                </a:solidFill>
                <a:latin typeface="Courier New"/>
                <a:ea typeface="Courier New"/>
                <a:cs typeface="Courier New"/>
                <a:sym typeface="Courier New"/>
              </a:rPr>
              <a:t>astype</a:t>
            </a:r>
            <a:endParaRPr sz="17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29"/>
          <p:cNvSpPr/>
          <p:nvPr/>
        </p:nvSpPr>
        <p:spPr>
          <a:xfrm>
            <a:off x="9870182" y="8623598"/>
            <a:ext cx="4351764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14706"/>
              </a:lnSpc>
              <a:spcBef>
                <a:spcPts val="0"/>
              </a:spcBef>
              <a:spcAft>
                <a:spcPts val="0"/>
              </a:spcAft>
              <a:buClr>
                <a:srgbClr val="5B6B62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5B6B62"/>
                </a:solidFill>
                <a:latin typeface="Arial"/>
                <a:ea typeface="Arial"/>
                <a:cs typeface="Arial"/>
                <a:sym typeface="Arial"/>
              </a:rPr>
              <a:t>Scraped numbers are text — charts go weird.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90" name="Google Shape;790;p2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7750" y="9658350"/>
            <a:ext cx="40292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791" name="Google Shape;791;p29"/>
          <p:cNvSpPr/>
          <p:nvPr/>
        </p:nvSpPr>
        <p:spPr>
          <a:xfrm>
            <a:off x="1574502" y="9674225"/>
            <a:ext cx="4108763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lang="en-US" sz="1425" b="0" i="0" u="none" strike="noStrike" cap="non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29"/>
          <p:cNvSpPr/>
          <p:nvPr/>
        </p:nvSpPr>
        <p:spPr>
          <a:xfrm>
            <a:off x="14330760" y="9674225"/>
            <a:ext cx="2541091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lang="en-US" sz="1425" b="0" i="0" u="none" strike="noStrike" cap="non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29"/>
          <p:cNvSpPr/>
          <p:nvPr/>
        </p:nvSpPr>
        <p:spPr>
          <a:xfrm>
            <a:off x="17024252" y="9674225"/>
            <a:ext cx="292199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lang="en-US" sz="1425" b="0" i="0" u="none" strike="noStrike" cap="non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29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30"/>
          <p:cNvSpPr/>
          <p:nvPr/>
        </p:nvSpPr>
        <p:spPr>
          <a:xfrm>
            <a:off x="1047750" y="914400"/>
            <a:ext cx="1482725" cy="425450"/>
          </a:xfrm>
          <a:prstGeom prst="roundRect">
            <a:avLst>
              <a:gd name="adj" fmla="val 50000"/>
            </a:avLst>
          </a:prstGeom>
          <a:solidFill>
            <a:srgbClr val="0C2E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0" name="Google Shape;800;p30"/>
          <p:cNvSpPr/>
          <p:nvPr/>
        </p:nvSpPr>
        <p:spPr>
          <a:xfrm>
            <a:off x="1257300" y="1009650"/>
            <a:ext cx="1139825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</a:pPr>
            <a:r>
              <a:rPr lang="en-US" sz="1575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MINI QUIZ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30"/>
          <p:cNvSpPr/>
          <p:nvPr/>
        </p:nvSpPr>
        <p:spPr>
          <a:xfrm>
            <a:off x="1047750" y="1568450"/>
            <a:ext cx="17811750" cy="603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91794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4200"/>
              <a:buFont typeface="Arial"/>
              <a:buNone/>
            </a:pPr>
            <a:r>
              <a:rPr lang="en-US" sz="4200" b="1" i="0" u="none" strike="noStrike" cap="non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Answer before the reveal</a:t>
            </a:r>
            <a:endParaRPr sz="4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30"/>
          <p:cNvSpPr/>
          <p:nvPr/>
        </p:nvSpPr>
        <p:spPr>
          <a:xfrm>
            <a:off x="1047750" y="2438599"/>
            <a:ext cx="8001000" cy="2203351"/>
          </a:xfrm>
          <a:prstGeom prst="roundRect">
            <a:avLst>
              <a:gd name="adj" fmla="val 7781"/>
            </a:avLst>
          </a:prstGeom>
          <a:solidFill>
            <a:srgbClr val="F4F7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3" name="Google Shape;803;p30"/>
          <p:cNvSpPr/>
          <p:nvPr/>
        </p:nvSpPr>
        <p:spPr>
          <a:xfrm>
            <a:off x="1371600" y="3216374"/>
            <a:ext cx="8088630" cy="311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875"/>
              <a:buFont typeface="Arial"/>
              <a:buNone/>
            </a:pPr>
            <a:r>
              <a:rPr lang="en-US" sz="1875" b="1" i="0" u="none" strike="noStrike" cap="non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1. Which chart for "are two numbers related?"</a:t>
            </a:r>
            <a:endParaRPr sz="18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30"/>
          <p:cNvSpPr/>
          <p:nvPr/>
        </p:nvSpPr>
        <p:spPr>
          <a:xfrm>
            <a:off x="1371600" y="3584674"/>
            <a:ext cx="8088630" cy="3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650"/>
              <a:buFont typeface="Courier New"/>
              <a:buNone/>
            </a:pPr>
            <a:r>
              <a:rPr lang="en-US" sz="1650" b="0" i="0" u="none" strike="noStrike" cap="none">
                <a:solidFill>
                  <a:srgbClr val="1F9D57"/>
                </a:solidFill>
                <a:latin typeface="Courier New"/>
                <a:ea typeface="Courier New"/>
                <a:cs typeface="Courier New"/>
                <a:sym typeface="Courier New"/>
              </a:rPr>
              <a:t>→ scatter plot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30"/>
          <p:cNvSpPr/>
          <p:nvPr/>
        </p:nvSpPr>
        <p:spPr>
          <a:xfrm>
            <a:off x="9239250" y="2438599"/>
            <a:ext cx="8001000" cy="2203351"/>
          </a:xfrm>
          <a:prstGeom prst="roundRect">
            <a:avLst>
              <a:gd name="adj" fmla="val 7781"/>
            </a:avLst>
          </a:prstGeom>
          <a:solidFill>
            <a:srgbClr val="F4F7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6" name="Google Shape;806;p30"/>
          <p:cNvSpPr/>
          <p:nvPr/>
        </p:nvSpPr>
        <p:spPr>
          <a:xfrm>
            <a:off x="9563100" y="3216374"/>
            <a:ext cx="8088630" cy="311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875"/>
              <a:buFont typeface="Arial"/>
              <a:buNone/>
            </a:pPr>
            <a:r>
              <a:rPr lang="en-US" sz="1875" b="1" i="0" u="none" strike="noStrike" cap="non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2. Which status code means success?</a:t>
            </a:r>
            <a:endParaRPr sz="18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30"/>
          <p:cNvSpPr/>
          <p:nvPr/>
        </p:nvSpPr>
        <p:spPr>
          <a:xfrm>
            <a:off x="9563100" y="3584674"/>
            <a:ext cx="8088630" cy="3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650"/>
              <a:buFont typeface="Courier New"/>
              <a:buNone/>
            </a:pPr>
            <a:r>
              <a:rPr lang="en-US" sz="1650" b="0" i="0" u="none" strike="noStrike" cap="none">
                <a:solidFill>
                  <a:srgbClr val="1F9D57"/>
                </a:solidFill>
                <a:latin typeface="Courier New"/>
                <a:ea typeface="Courier New"/>
                <a:cs typeface="Courier New"/>
                <a:sym typeface="Courier New"/>
              </a:rPr>
              <a:t>→ 200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30"/>
          <p:cNvSpPr/>
          <p:nvPr/>
        </p:nvSpPr>
        <p:spPr>
          <a:xfrm>
            <a:off x="1047750" y="4832449"/>
            <a:ext cx="8001000" cy="2203351"/>
          </a:xfrm>
          <a:prstGeom prst="roundRect">
            <a:avLst>
              <a:gd name="adj" fmla="val 7781"/>
            </a:avLst>
          </a:prstGeom>
          <a:solidFill>
            <a:srgbClr val="F4F7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9" name="Google Shape;809;p30"/>
          <p:cNvSpPr/>
          <p:nvPr/>
        </p:nvSpPr>
        <p:spPr>
          <a:xfrm>
            <a:off x="1371600" y="5610225"/>
            <a:ext cx="8088630" cy="311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875"/>
              <a:buFont typeface="Arial"/>
              <a:buNone/>
            </a:pPr>
            <a:r>
              <a:rPr lang="en-US" sz="1875" b="1" i="0" u="none" strike="noStrike" cap="non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3. Turn a response into Python data?</a:t>
            </a:r>
            <a:endParaRPr sz="18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30"/>
          <p:cNvSpPr/>
          <p:nvPr/>
        </p:nvSpPr>
        <p:spPr>
          <a:xfrm>
            <a:off x="1371600" y="5978525"/>
            <a:ext cx="8088630" cy="3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650"/>
              <a:buFont typeface="Courier New"/>
              <a:buNone/>
            </a:pPr>
            <a:r>
              <a:rPr lang="en-US" sz="1650" b="0" i="0" u="none" strike="noStrike" cap="none">
                <a:solidFill>
                  <a:srgbClr val="1F9D57"/>
                </a:solidFill>
                <a:latin typeface="Courier New"/>
                <a:ea typeface="Courier New"/>
                <a:cs typeface="Courier New"/>
                <a:sym typeface="Courier New"/>
              </a:rPr>
              <a:t>→ response.json()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30"/>
          <p:cNvSpPr/>
          <p:nvPr/>
        </p:nvSpPr>
        <p:spPr>
          <a:xfrm>
            <a:off x="9239250" y="4832449"/>
            <a:ext cx="8001000" cy="2203351"/>
          </a:xfrm>
          <a:prstGeom prst="roundRect">
            <a:avLst>
              <a:gd name="adj" fmla="val 7781"/>
            </a:avLst>
          </a:prstGeom>
          <a:solidFill>
            <a:srgbClr val="F4F7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2" name="Google Shape;812;p30"/>
          <p:cNvSpPr/>
          <p:nvPr/>
        </p:nvSpPr>
        <p:spPr>
          <a:xfrm>
            <a:off x="9563100" y="5610225"/>
            <a:ext cx="8088630" cy="311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875"/>
              <a:buFont typeface="Arial"/>
              <a:buNone/>
            </a:pPr>
            <a:r>
              <a:rPr lang="en-US" sz="1875" b="1" i="0" u="none" strike="noStrike" cap="non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4. Every row of a table — find or find_all?</a:t>
            </a:r>
            <a:endParaRPr sz="18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30"/>
          <p:cNvSpPr/>
          <p:nvPr/>
        </p:nvSpPr>
        <p:spPr>
          <a:xfrm>
            <a:off x="9563100" y="5978525"/>
            <a:ext cx="8088630" cy="3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650"/>
              <a:buFont typeface="Courier New"/>
              <a:buNone/>
            </a:pPr>
            <a:r>
              <a:rPr lang="en-US" sz="1650" b="0" i="0" u="none" strike="noStrike" cap="none">
                <a:solidFill>
                  <a:srgbClr val="1F9D57"/>
                </a:solidFill>
                <a:latin typeface="Courier New"/>
                <a:ea typeface="Courier New"/>
                <a:cs typeface="Courier New"/>
                <a:sym typeface="Courier New"/>
              </a:rPr>
              <a:t>→ find_all("tr")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30"/>
          <p:cNvSpPr/>
          <p:nvPr/>
        </p:nvSpPr>
        <p:spPr>
          <a:xfrm>
            <a:off x="1047750" y="7226300"/>
            <a:ext cx="8001000" cy="2203450"/>
          </a:xfrm>
          <a:prstGeom prst="roundRect">
            <a:avLst>
              <a:gd name="adj" fmla="val 7781"/>
            </a:avLst>
          </a:prstGeom>
          <a:solidFill>
            <a:srgbClr val="F4F7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5" name="Google Shape;815;p30"/>
          <p:cNvSpPr/>
          <p:nvPr/>
        </p:nvSpPr>
        <p:spPr>
          <a:xfrm>
            <a:off x="1371600" y="8004175"/>
            <a:ext cx="8088630" cy="311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875"/>
              <a:buFont typeface="Arial"/>
              <a:buNone/>
            </a:pPr>
            <a:r>
              <a:rPr lang="en-US" sz="1875" b="1" i="0" u="none" strike="noStrike" cap="non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5. A pie with 13 slices — what's wrong, and the fix?</a:t>
            </a:r>
            <a:endParaRPr sz="18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30"/>
          <p:cNvSpPr/>
          <p:nvPr/>
        </p:nvSpPr>
        <p:spPr>
          <a:xfrm>
            <a:off x="1371600" y="8372475"/>
            <a:ext cx="8088630" cy="3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650"/>
              <a:buFont typeface="Courier New"/>
              <a:buNone/>
            </a:pPr>
            <a:r>
              <a:rPr lang="en-US" sz="1650" b="0" i="0" u="none" strike="noStrike" cap="none">
                <a:solidFill>
                  <a:srgbClr val="1F9D57"/>
                </a:solidFill>
                <a:latin typeface="Courier New"/>
                <a:ea typeface="Courier New"/>
                <a:cs typeface="Courier New"/>
                <a:sym typeface="Courier New"/>
              </a:rPr>
              <a:t>→ unreadable; use a sorted bar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30"/>
          <p:cNvSpPr/>
          <p:nvPr/>
        </p:nvSpPr>
        <p:spPr>
          <a:xfrm>
            <a:off x="9239250" y="7226300"/>
            <a:ext cx="8001000" cy="2203450"/>
          </a:xfrm>
          <a:prstGeom prst="roundRect">
            <a:avLst>
              <a:gd name="adj" fmla="val 7781"/>
            </a:avLst>
          </a:prstGeom>
          <a:solidFill>
            <a:srgbClr val="0C2E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8" name="Google Shape;818;p30"/>
          <p:cNvSpPr/>
          <p:nvPr/>
        </p:nvSpPr>
        <p:spPr>
          <a:xfrm>
            <a:off x="9563100" y="7997825"/>
            <a:ext cx="808863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lang="en-US" sz="1875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6. Why </a:t>
            </a:r>
            <a:r>
              <a:rPr lang="en-US" sz="1875" b="1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astype(int) </a:t>
            </a:r>
            <a:r>
              <a:rPr lang="en-US" sz="1875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after scraping?</a:t>
            </a:r>
            <a:endParaRPr sz="18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30"/>
          <p:cNvSpPr/>
          <p:nvPr/>
        </p:nvSpPr>
        <p:spPr>
          <a:xfrm>
            <a:off x="9563100" y="8378825"/>
            <a:ext cx="8088630" cy="3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650"/>
              <a:buFont typeface="Courier New"/>
              <a:buNone/>
            </a:pPr>
            <a:r>
              <a:rPr lang="en-US" sz="1650" b="0" i="0" u="none" strike="noStrike" cap="none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→ scraped values arrive as text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0" name="Google Shape;820;p3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7750" y="9658350"/>
            <a:ext cx="40292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821" name="Google Shape;821;p30"/>
          <p:cNvSpPr/>
          <p:nvPr/>
        </p:nvSpPr>
        <p:spPr>
          <a:xfrm>
            <a:off x="1574502" y="9674225"/>
            <a:ext cx="4108763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lang="en-US" sz="1425" b="0" i="0" u="none" strike="noStrike" cap="non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30"/>
          <p:cNvSpPr/>
          <p:nvPr/>
        </p:nvSpPr>
        <p:spPr>
          <a:xfrm>
            <a:off x="14315580" y="9674225"/>
            <a:ext cx="2541091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lang="en-US" sz="1425" b="0" i="0" u="none" strike="noStrike" cap="non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30"/>
          <p:cNvSpPr/>
          <p:nvPr/>
        </p:nvSpPr>
        <p:spPr>
          <a:xfrm>
            <a:off x="17009071" y="9674225"/>
            <a:ext cx="307380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lang="en-US" sz="1425" b="0" i="0" u="none" strike="noStrike" cap="non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31"/>
          <p:cNvSpPr/>
          <p:nvPr/>
        </p:nvSpPr>
        <p:spPr>
          <a:xfrm>
            <a:off x="1047750" y="914400"/>
            <a:ext cx="17811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E4A32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CE4A32"/>
                </a:solidFill>
                <a:latin typeface="Arial"/>
                <a:ea typeface="Arial"/>
                <a:cs typeface="Arial"/>
                <a:sym typeface="Arial"/>
              </a:rPr>
              <a:t>CAPSTONE 1 BEGINS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31"/>
          <p:cNvSpPr/>
          <p:nvPr/>
        </p:nvSpPr>
        <p:spPr>
          <a:xfrm>
            <a:off x="1047750" y="1390650"/>
            <a:ext cx="17811750" cy="643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92621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4500"/>
              <a:buFont typeface="Arial"/>
              <a:buNone/>
            </a:pPr>
            <a:r>
              <a:rPr lang="en-US" sz="4500" b="1" i="0" u="none" strike="noStrike" cap="non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Extract &amp; Explore</a:t>
            </a:r>
            <a:endParaRPr sz="4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31"/>
          <p:cNvSpPr/>
          <p:nvPr/>
        </p:nvSpPr>
        <p:spPr>
          <a:xfrm>
            <a:off x="1047750" y="2110680"/>
            <a:ext cx="136207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21154"/>
              </a:lnSpc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2250"/>
              <a:buFont typeface="Arial"/>
              <a:buNone/>
            </a:pPr>
            <a:r>
              <a:rPr lang="en-US" sz="2250" b="0" i="0" u="none" strike="noStrike" cap="non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Your own dataset, your own question, your own story — built across this session and the next.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31"/>
          <p:cNvSpPr/>
          <p:nvPr/>
        </p:nvSpPr>
        <p:spPr>
          <a:xfrm>
            <a:off x="1047750" y="2834580"/>
            <a:ext cx="3101280" cy="5699820"/>
          </a:xfrm>
          <a:prstGeom prst="roundRect">
            <a:avLst>
              <a:gd name="adj" fmla="val 6143"/>
            </a:avLst>
          </a:prstGeom>
          <a:solidFill>
            <a:srgbClr val="F4F7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3" name="Google Shape;833;p31"/>
          <p:cNvSpPr/>
          <p:nvPr/>
        </p:nvSpPr>
        <p:spPr>
          <a:xfrm>
            <a:off x="1295400" y="3120330"/>
            <a:ext cx="286657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31"/>
          <p:cNvSpPr/>
          <p:nvPr/>
        </p:nvSpPr>
        <p:spPr>
          <a:xfrm>
            <a:off x="1295400" y="3501330"/>
            <a:ext cx="2866579" cy="311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875"/>
              <a:buFont typeface="Arial"/>
              <a:buNone/>
            </a:pPr>
            <a:r>
              <a:rPr lang="en-US" sz="1875" b="1" i="0" u="none" strike="noStrike" cap="non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Acquire</a:t>
            </a:r>
            <a:endParaRPr sz="18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31"/>
          <p:cNvSpPr/>
          <p:nvPr/>
        </p:nvSpPr>
        <p:spPr>
          <a:xfrm>
            <a:off x="1295400" y="3850581"/>
            <a:ext cx="268416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An API or a scraped table. Save the raw CSV.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31"/>
          <p:cNvSpPr/>
          <p:nvPr/>
        </p:nvSpPr>
        <p:spPr>
          <a:xfrm>
            <a:off x="4320480" y="2834580"/>
            <a:ext cx="3101380" cy="5699820"/>
          </a:xfrm>
          <a:prstGeom prst="roundRect">
            <a:avLst>
              <a:gd name="adj" fmla="val 6142"/>
            </a:avLst>
          </a:prstGeom>
          <a:solidFill>
            <a:srgbClr val="F4F7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7" name="Google Shape;837;p31"/>
          <p:cNvSpPr/>
          <p:nvPr/>
        </p:nvSpPr>
        <p:spPr>
          <a:xfrm>
            <a:off x="4568130" y="3120330"/>
            <a:ext cx="2866688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31"/>
          <p:cNvSpPr/>
          <p:nvPr/>
        </p:nvSpPr>
        <p:spPr>
          <a:xfrm>
            <a:off x="4568130" y="3501330"/>
            <a:ext cx="2866688" cy="311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875"/>
              <a:buFont typeface="Arial"/>
              <a:buNone/>
            </a:pPr>
            <a:r>
              <a:rPr lang="en-US" sz="1875" b="1" i="0" u="none" strike="noStrike" cap="non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Clean</a:t>
            </a:r>
            <a:endParaRPr sz="18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31"/>
          <p:cNvSpPr/>
          <p:nvPr/>
        </p:nvSpPr>
        <p:spPr>
          <a:xfrm>
            <a:off x="4568130" y="3850581"/>
            <a:ext cx="2684262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The Session 6 toolkit — types, gaps, duplicates.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31"/>
          <p:cNvSpPr/>
          <p:nvPr/>
        </p:nvSpPr>
        <p:spPr>
          <a:xfrm>
            <a:off x="7593310" y="2834580"/>
            <a:ext cx="3101280" cy="5699820"/>
          </a:xfrm>
          <a:prstGeom prst="roundRect">
            <a:avLst>
              <a:gd name="adj" fmla="val 6143"/>
            </a:avLst>
          </a:prstGeom>
          <a:solidFill>
            <a:srgbClr val="F4F7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1" name="Google Shape;841;p31"/>
          <p:cNvSpPr/>
          <p:nvPr/>
        </p:nvSpPr>
        <p:spPr>
          <a:xfrm>
            <a:off x="7840960" y="3120330"/>
            <a:ext cx="286657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31"/>
          <p:cNvSpPr/>
          <p:nvPr/>
        </p:nvSpPr>
        <p:spPr>
          <a:xfrm>
            <a:off x="7840960" y="3501330"/>
            <a:ext cx="2866579" cy="311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875"/>
              <a:buFont typeface="Arial"/>
              <a:buNone/>
            </a:pPr>
            <a:r>
              <a:rPr lang="en-US" sz="1875" b="1" i="0" u="none" strike="noStrike" cap="non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Visualise</a:t>
            </a:r>
            <a:endParaRPr sz="18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31"/>
          <p:cNvSpPr/>
          <p:nvPr/>
        </p:nvSpPr>
        <p:spPr>
          <a:xfrm>
            <a:off x="7840960" y="3850581"/>
            <a:ext cx="268416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Three or four charts, each answering one question.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31"/>
          <p:cNvSpPr/>
          <p:nvPr/>
        </p:nvSpPr>
        <p:spPr>
          <a:xfrm>
            <a:off x="10866041" y="2834580"/>
            <a:ext cx="3101380" cy="5699820"/>
          </a:xfrm>
          <a:prstGeom prst="roundRect">
            <a:avLst>
              <a:gd name="adj" fmla="val 6142"/>
            </a:avLst>
          </a:prstGeom>
          <a:solidFill>
            <a:srgbClr val="F4F7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5" name="Google Shape;845;p31"/>
          <p:cNvSpPr/>
          <p:nvPr/>
        </p:nvSpPr>
        <p:spPr>
          <a:xfrm>
            <a:off x="11113691" y="3120330"/>
            <a:ext cx="2866688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31"/>
          <p:cNvSpPr/>
          <p:nvPr/>
        </p:nvSpPr>
        <p:spPr>
          <a:xfrm>
            <a:off x="11113691" y="3501330"/>
            <a:ext cx="2866688" cy="311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875"/>
              <a:buFont typeface="Arial"/>
              <a:buNone/>
            </a:pPr>
            <a:r>
              <a:rPr lang="en-US" sz="1875" b="1" i="0" u="none" strike="noStrike" cap="non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Tell the story</a:t>
            </a:r>
            <a:endParaRPr sz="18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31"/>
          <p:cNvSpPr/>
          <p:nvPr/>
        </p:nvSpPr>
        <p:spPr>
          <a:xfrm>
            <a:off x="11113691" y="3850581"/>
            <a:ext cx="2684262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One insight line per chart, one overall message.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31"/>
          <p:cNvSpPr/>
          <p:nvPr/>
        </p:nvSpPr>
        <p:spPr>
          <a:xfrm>
            <a:off x="14138871" y="2834580"/>
            <a:ext cx="3101280" cy="5699820"/>
          </a:xfrm>
          <a:prstGeom prst="roundRect">
            <a:avLst>
              <a:gd name="adj" fmla="val 6143"/>
            </a:avLst>
          </a:prstGeom>
          <a:solidFill>
            <a:srgbClr val="0C2E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9" name="Google Shape;849;p31"/>
          <p:cNvSpPr/>
          <p:nvPr/>
        </p:nvSpPr>
        <p:spPr>
          <a:xfrm>
            <a:off x="14386521" y="3120330"/>
            <a:ext cx="286657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7FD6A0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31"/>
          <p:cNvSpPr/>
          <p:nvPr/>
        </p:nvSpPr>
        <p:spPr>
          <a:xfrm>
            <a:off x="14386521" y="3501330"/>
            <a:ext cx="2866579" cy="311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lang="en-US" sz="1875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Publish</a:t>
            </a:r>
            <a:endParaRPr sz="18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31"/>
          <p:cNvSpPr/>
          <p:nvPr/>
        </p:nvSpPr>
        <p:spPr>
          <a:xfrm>
            <a:off x="14386521" y="3850581"/>
            <a:ext cx="268416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Notebook plus CSV pushed to GitHub.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31"/>
          <p:cNvSpPr/>
          <p:nvPr/>
        </p:nvSpPr>
        <p:spPr>
          <a:xfrm>
            <a:off x="1047750" y="8763000"/>
            <a:ext cx="16192500" cy="666750"/>
          </a:xfrm>
          <a:prstGeom prst="roundRect">
            <a:avLst>
              <a:gd name="adj" fmla="val 22857"/>
            </a:avLst>
          </a:prstGeom>
          <a:solidFill>
            <a:srgbClr val="EAF3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3" name="Google Shape;853;p31"/>
          <p:cNvSpPr/>
          <p:nvPr/>
        </p:nvSpPr>
        <p:spPr>
          <a:xfrm>
            <a:off x="1371600" y="8953500"/>
            <a:ext cx="1603057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1725"/>
              <a:buFont typeface="Arial"/>
              <a:buNone/>
            </a:pPr>
            <a:r>
              <a:rPr lang="en-US" sz="1725" b="0" i="0" u="none" strike="noStrike" cap="none">
                <a:solidFill>
                  <a:srgbClr val="47564E"/>
                </a:solidFill>
                <a:highlight>
                  <a:srgbClr val="EAF3EE"/>
                </a:highlight>
                <a:latin typeface="Arial"/>
                <a:ea typeface="Arial"/>
                <a:cs typeface="Arial"/>
                <a:sym typeface="Arial"/>
              </a:rPr>
              <a:t>Today's only hard requirement: </a:t>
            </a:r>
            <a:r>
              <a:rPr lang="en-US" sz="1725" b="1" i="0" u="none" strike="noStrike" cap="non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choose your source and save the raw CSV. </a:t>
            </a:r>
            <a:r>
              <a:rPr lang="en-US" sz="1725" b="0" i="0" u="none" strike="noStrike" cap="none">
                <a:solidFill>
                  <a:srgbClr val="47564E"/>
                </a:solidFill>
                <a:highlight>
                  <a:srgbClr val="EAF3EE"/>
                </a:highlight>
                <a:latin typeface="Arial"/>
                <a:ea typeface="Arial"/>
                <a:cs typeface="Arial"/>
                <a:sym typeface="Arial"/>
              </a:rPr>
              <a:t>We build the rest in Session 8.</a:t>
            </a:r>
            <a:endParaRPr sz="17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54" name="Google Shape;854;p3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7750" y="9658350"/>
            <a:ext cx="40292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855" name="Google Shape;855;p31"/>
          <p:cNvSpPr/>
          <p:nvPr/>
        </p:nvSpPr>
        <p:spPr>
          <a:xfrm>
            <a:off x="1574502" y="9674225"/>
            <a:ext cx="4108763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lang="en-US" sz="1425" b="0" i="0" u="none" strike="noStrike" cap="non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31"/>
          <p:cNvSpPr/>
          <p:nvPr/>
        </p:nvSpPr>
        <p:spPr>
          <a:xfrm>
            <a:off x="14387612" y="9674225"/>
            <a:ext cx="2541091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lang="en-US" sz="1425" b="0" i="0" u="none" strike="noStrike" cap="non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31"/>
          <p:cNvSpPr/>
          <p:nvPr/>
        </p:nvSpPr>
        <p:spPr>
          <a:xfrm>
            <a:off x="17081104" y="9674225"/>
            <a:ext cx="235347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lang="en-US" sz="1425" b="0" i="0" u="none" strike="noStrike" cap="non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31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32"/>
          <p:cNvSpPr/>
          <p:nvPr/>
        </p:nvSpPr>
        <p:spPr>
          <a:xfrm>
            <a:off x="1047750" y="914400"/>
            <a:ext cx="17811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E4A32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CE4A32"/>
                </a:solidFill>
                <a:latin typeface="Arial"/>
                <a:ea typeface="Arial"/>
                <a:cs typeface="Arial"/>
                <a:sym typeface="Arial"/>
              </a:rPr>
              <a:t>BEFORE NEXT SESSION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32"/>
          <p:cNvSpPr/>
          <p:nvPr/>
        </p:nvSpPr>
        <p:spPr>
          <a:xfrm>
            <a:off x="1047750" y="1390650"/>
            <a:ext cx="17811750" cy="643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92621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4500"/>
              <a:buFont typeface="Arial"/>
              <a:buNone/>
            </a:pPr>
            <a:r>
              <a:rPr lang="en-US" sz="4500" b="1" i="0" u="none" strike="noStrike" cap="non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Your homework</a:t>
            </a:r>
            <a:endParaRPr sz="4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32"/>
          <p:cNvSpPr/>
          <p:nvPr/>
        </p:nvSpPr>
        <p:spPr>
          <a:xfrm>
            <a:off x="1047750" y="2377380"/>
            <a:ext cx="7981950" cy="3411835"/>
          </a:xfrm>
          <a:prstGeom prst="roundRect">
            <a:avLst>
              <a:gd name="adj" fmla="val 5584"/>
            </a:avLst>
          </a:prstGeom>
          <a:solidFill>
            <a:srgbClr val="F4F7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6" name="Google Shape;866;p32"/>
          <p:cNvSpPr/>
          <p:nvPr/>
        </p:nvSpPr>
        <p:spPr>
          <a:xfrm>
            <a:off x="1409700" y="2682180"/>
            <a:ext cx="798385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32"/>
          <p:cNvSpPr/>
          <p:nvPr/>
        </p:nvSpPr>
        <p:spPr>
          <a:xfrm>
            <a:off x="1409700" y="3063180"/>
            <a:ext cx="7983855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025"/>
              <a:buFont typeface="Arial"/>
              <a:buNone/>
            </a:pPr>
            <a:r>
              <a:rPr lang="en-US" sz="2025" b="1" i="0" u="none" strike="noStrike" cap="non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Finish the notebook</a:t>
            </a:r>
            <a:endParaRPr sz="20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32"/>
          <p:cNvSpPr/>
          <p:nvPr/>
        </p:nvSpPr>
        <p:spPr>
          <a:xfrm>
            <a:off x="1409700" y="3456881"/>
            <a:ext cx="7475792" cy="624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21579"/>
              </a:lnSpc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1650"/>
              <a:buFont typeface="Arial"/>
              <a:buNone/>
            </a:pPr>
            <a:r>
              <a:rPr lang="en-US" sz="1650" b="0" i="0" u="none" strike="noStrike" cap="non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Complete every section and end with </a:t>
            </a:r>
            <a:r>
              <a:rPr lang="en-US" sz="1650" b="1" i="0" u="none" strike="noStrike" cap="non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Restart &amp; Run All </a:t>
            </a:r>
            <a:r>
              <a:rPr lang="en-US" sz="1650" b="0" i="0" u="none" strike="noStrike" cap="non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— it must run clean top to bottom.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32"/>
          <p:cNvSpPr/>
          <p:nvPr/>
        </p:nvSpPr>
        <p:spPr>
          <a:xfrm>
            <a:off x="9258300" y="2377380"/>
            <a:ext cx="7981950" cy="3411835"/>
          </a:xfrm>
          <a:prstGeom prst="roundRect">
            <a:avLst>
              <a:gd name="adj" fmla="val 5584"/>
            </a:avLst>
          </a:prstGeom>
          <a:solidFill>
            <a:srgbClr val="0C2E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0" name="Google Shape;870;p32"/>
          <p:cNvSpPr/>
          <p:nvPr/>
        </p:nvSpPr>
        <p:spPr>
          <a:xfrm>
            <a:off x="9620250" y="2682180"/>
            <a:ext cx="798385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7FD6A0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32"/>
          <p:cNvSpPr/>
          <p:nvPr/>
        </p:nvSpPr>
        <p:spPr>
          <a:xfrm>
            <a:off x="9620250" y="3063180"/>
            <a:ext cx="7983855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Arial"/>
              <a:buNone/>
            </a:pPr>
            <a:r>
              <a:rPr lang="en-US" sz="2025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Submit MP3</a:t>
            </a:r>
            <a:endParaRPr sz="20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32"/>
          <p:cNvSpPr/>
          <p:nvPr/>
        </p:nvSpPr>
        <p:spPr>
          <a:xfrm>
            <a:off x="9620250" y="3456881"/>
            <a:ext cx="7475792" cy="624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2157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visual narrative — </a:t>
            </a:r>
            <a:r>
              <a:rPr lang="en-US" sz="1650" b="1" i="0" u="none" strike="noStrike" cap="none">
                <a:solidFill>
                  <a:srgbClr val="7FD6A0"/>
                </a:solidFill>
                <a:latin typeface="Arial"/>
                <a:ea typeface="Arial"/>
                <a:cs typeface="Arial"/>
                <a:sym typeface="Arial"/>
              </a:rPr>
              <a:t>3–4 charts, one insight each </a:t>
            </a:r>
            <a:r>
              <a:rPr lang="en-US" sz="16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, on a UPSC theme you choose.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3" name="Google Shape;873;p32"/>
          <p:cNvSpPr/>
          <p:nvPr/>
        </p:nvSpPr>
        <p:spPr>
          <a:xfrm>
            <a:off x="1047750" y="6017816"/>
            <a:ext cx="7981950" cy="3411934"/>
          </a:xfrm>
          <a:prstGeom prst="roundRect">
            <a:avLst>
              <a:gd name="adj" fmla="val 5583"/>
            </a:avLst>
          </a:prstGeom>
          <a:solidFill>
            <a:srgbClr val="F4F7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4" name="Google Shape;874;p32"/>
          <p:cNvSpPr/>
          <p:nvPr/>
        </p:nvSpPr>
        <p:spPr>
          <a:xfrm>
            <a:off x="1409700" y="6322616"/>
            <a:ext cx="798385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32"/>
          <p:cNvSpPr/>
          <p:nvPr/>
        </p:nvSpPr>
        <p:spPr>
          <a:xfrm>
            <a:off x="1409700" y="6703616"/>
            <a:ext cx="7983855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025"/>
              <a:buFont typeface="Arial"/>
              <a:buNone/>
            </a:pPr>
            <a:r>
              <a:rPr lang="en-US" sz="2025" b="1" i="0" u="none" strike="noStrike" cap="non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Acquire your capstone dataset</a:t>
            </a:r>
            <a:endParaRPr sz="20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32"/>
          <p:cNvSpPr/>
          <p:nvPr/>
        </p:nvSpPr>
        <p:spPr>
          <a:xfrm>
            <a:off x="1409700" y="7097316"/>
            <a:ext cx="7983855" cy="331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21579"/>
              </a:lnSpc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1650"/>
              <a:buFont typeface="Arial"/>
              <a:buNone/>
            </a:pPr>
            <a:r>
              <a:rPr lang="en-US" sz="1650" b="0" i="0" u="none" strike="noStrike" cap="non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Use an API or a scraped table, and save it as a CSV.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32"/>
          <p:cNvSpPr/>
          <p:nvPr/>
        </p:nvSpPr>
        <p:spPr>
          <a:xfrm>
            <a:off x="9258300" y="6017816"/>
            <a:ext cx="7981950" cy="3411934"/>
          </a:xfrm>
          <a:prstGeom prst="roundRect">
            <a:avLst>
              <a:gd name="adj" fmla="val 5583"/>
            </a:avLst>
          </a:prstGeom>
          <a:solidFill>
            <a:srgbClr val="F4F7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8" name="Google Shape;878;p32"/>
          <p:cNvSpPr/>
          <p:nvPr/>
        </p:nvSpPr>
        <p:spPr>
          <a:xfrm>
            <a:off x="9620250" y="6322616"/>
            <a:ext cx="798385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32"/>
          <p:cNvSpPr/>
          <p:nvPr/>
        </p:nvSpPr>
        <p:spPr>
          <a:xfrm>
            <a:off x="9620250" y="6703616"/>
            <a:ext cx="7983855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2025"/>
              <a:buFont typeface="Arial"/>
              <a:buNone/>
            </a:pPr>
            <a:r>
              <a:rPr lang="en-US" sz="2025" b="1" i="0" u="none" strike="noStrike" cap="non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Commit to GitHub</a:t>
            </a:r>
            <a:endParaRPr sz="20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32"/>
          <p:cNvSpPr/>
          <p:nvPr/>
        </p:nvSpPr>
        <p:spPr>
          <a:xfrm>
            <a:off x="9620250" y="7097316"/>
            <a:ext cx="7983855" cy="331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21579"/>
              </a:lnSpc>
              <a:spcBef>
                <a:spcPts val="0"/>
              </a:spcBef>
              <a:spcAft>
                <a:spcPts val="0"/>
              </a:spcAft>
              <a:buClr>
                <a:srgbClr val="47564E"/>
              </a:buClr>
              <a:buSzPts val="1650"/>
              <a:buFont typeface="Arial"/>
              <a:buNone/>
            </a:pPr>
            <a:r>
              <a:rPr lang="en-US" sz="1650" b="0" i="0" u="none" strike="noStrike" cap="non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Notebook, charts and CSV in your </a:t>
            </a:r>
            <a:r>
              <a:rPr lang="en-US" sz="1650" b="1" i="0" u="none" strike="noStrike" cap="non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Session-7 </a:t>
            </a:r>
            <a:r>
              <a:rPr lang="en-US" sz="1650" b="0" i="0" u="none" strike="noStrike" cap="none">
                <a:solidFill>
                  <a:srgbClr val="47564E"/>
                </a:solidFill>
                <a:latin typeface="Arial"/>
                <a:ea typeface="Arial"/>
                <a:cs typeface="Arial"/>
                <a:sym typeface="Arial"/>
              </a:rPr>
              <a:t>folder.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81" name="Google Shape;881;p3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7750" y="9658350"/>
            <a:ext cx="40292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882" name="Google Shape;882;p32"/>
          <p:cNvSpPr/>
          <p:nvPr/>
        </p:nvSpPr>
        <p:spPr>
          <a:xfrm>
            <a:off x="1574502" y="9674225"/>
            <a:ext cx="4108763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lang="en-US" sz="1425" b="0" i="0" u="none" strike="noStrike" cap="non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32"/>
          <p:cNvSpPr/>
          <p:nvPr/>
        </p:nvSpPr>
        <p:spPr>
          <a:xfrm>
            <a:off x="14336217" y="9674225"/>
            <a:ext cx="2541091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lang="en-US" sz="1425" b="0" i="0" u="none" strike="noStrike" cap="non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32"/>
          <p:cNvSpPr/>
          <p:nvPr/>
        </p:nvSpPr>
        <p:spPr>
          <a:xfrm>
            <a:off x="17029708" y="9674225"/>
            <a:ext cx="286742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lang="en-US" sz="1425" b="0" i="0" u="none" strike="noStrike" cap="non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4"/>
        </a:solidFill>
        <a:effectLst/>
      </p:bgPr>
    </p:bg>
    <p:spTree>
      <p:nvGrpSpPr>
        <p:cNvPr id="1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33"/>
          <p:cNvSpPr/>
          <p:nvPr/>
        </p:nvSpPr>
        <p:spPr>
          <a:xfrm>
            <a:off x="14097000" y="6477000"/>
            <a:ext cx="5715000" cy="5715000"/>
          </a:xfrm>
          <a:prstGeom prst="ellipse">
            <a:avLst/>
          </a:prstGeom>
          <a:solidFill>
            <a:srgbClr val="CE4A32">
              <a:alpha val="588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1" name="Google Shape;891;p33"/>
          <p:cNvSpPr/>
          <p:nvPr/>
        </p:nvSpPr>
        <p:spPr>
          <a:xfrm>
            <a:off x="1047750" y="914400"/>
            <a:ext cx="17811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LOOK HOW FAR YOU CAME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p33"/>
          <p:cNvSpPr/>
          <p:nvPr/>
        </p:nvSpPr>
        <p:spPr>
          <a:xfrm>
            <a:off x="1047750" y="1390650"/>
            <a:ext cx="17811750" cy="623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92220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4350"/>
              <a:buFont typeface="Arial"/>
              <a:buNone/>
            </a:pPr>
            <a:r>
              <a:rPr lang="en-US" sz="4350" b="1" i="0" u="none" strike="noStrike" cap="non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Session summary</a:t>
            </a:r>
            <a:endParaRPr sz="4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33"/>
          <p:cNvSpPr/>
          <p:nvPr/>
        </p:nvSpPr>
        <p:spPr>
          <a:xfrm>
            <a:off x="1047750" y="2281039"/>
            <a:ext cx="8010525" cy="8001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4" name="Google Shape;894;p33"/>
          <p:cNvSpPr/>
          <p:nvPr/>
        </p:nvSpPr>
        <p:spPr>
          <a:xfrm>
            <a:off x="1352550" y="2509639"/>
            <a:ext cx="342900" cy="342900"/>
          </a:xfrm>
          <a:prstGeom prst="ellipse">
            <a:avLst/>
          </a:prstGeom>
          <a:solidFill>
            <a:srgbClr val="1F9D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5" name="Google Shape;895;p33"/>
          <p:cNvSpPr/>
          <p:nvPr/>
        </p:nvSpPr>
        <p:spPr>
          <a:xfrm>
            <a:off x="1314450" y="2509639"/>
            <a:ext cx="4191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6" name="Google Shape;896;p33"/>
          <p:cNvSpPr/>
          <p:nvPr/>
        </p:nvSpPr>
        <p:spPr>
          <a:xfrm>
            <a:off x="1866900" y="2526308"/>
            <a:ext cx="5429964" cy="347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13372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875"/>
              <a:buFont typeface="Arial"/>
              <a:buNone/>
            </a:pPr>
            <a:r>
              <a:rPr lang="en-US" sz="1875" b="0" i="0" u="none" strike="noStrike" cap="non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Chose and drew the right charts in Matplotlib</a:t>
            </a:r>
            <a:endParaRPr sz="18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33"/>
          <p:cNvSpPr/>
          <p:nvPr/>
        </p:nvSpPr>
        <p:spPr>
          <a:xfrm>
            <a:off x="9229725" y="2281039"/>
            <a:ext cx="8010525" cy="8001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8" name="Google Shape;898;p33"/>
          <p:cNvSpPr/>
          <p:nvPr/>
        </p:nvSpPr>
        <p:spPr>
          <a:xfrm>
            <a:off x="9534525" y="2509639"/>
            <a:ext cx="342900" cy="342900"/>
          </a:xfrm>
          <a:prstGeom prst="ellipse">
            <a:avLst/>
          </a:prstGeom>
          <a:solidFill>
            <a:srgbClr val="1F9D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9" name="Google Shape;899;p33"/>
          <p:cNvSpPr/>
          <p:nvPr/>
        </p:nvSpPr>
        <p:spPr>
          <a:xfrm>
            <a:off x="9496425" y="2509639"/>
            <a:ext cx="4191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Google Shape;900;p33"/>
          <p:cNvSpPr/>
          <p:nvPr/>
        </p:nvSpPr>
        <p:spPr>
          <a:xfrm>
            <a:off x="10048875" y="2526308"/>
            <a:ext cx="6008956" cy="347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13372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875"/>
              <a:buFont typeface="Arial"/>
              <a:buNone/>
            </a:pPr>
            <a:r>
              <a:rPr lang="en-US" sz="1875" b="0" i="0" u="none" strike="noStrike" cap="non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Polished with Seaborn, went interactive with Plotly</a:t>
            </a:r>
            <a:endParaRPr sz="18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p33"/>
          <p:cNvSpPr/>
          <p:nvPr/>
        </p:nvSpPr>
        <p:spPr>
          <a:xfrm>
            <a:off x="1047750" y="3252589"/>
            <a:ext cx="8010525" cy="8001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2" name="Google Shape;902;p33"/>
          <p:cNvSpPr/>
          <p:nvPr/>
        </p:nvSpPr>
        <p:spPr>
          <a:xfrm>
            <a:off x="1352550" y="3481189"/>
            <a:ext cx="342900" cy="342900"/>
          </a:xfrm>
          <a:prstGeom prst="ellipse">
            <a:avLst/>
          </a:prstGeom>
          <a:solidFill>
            <a:srgbClr val="1F9D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3" name="Google Shape;903;p33"/>
          <p:cNvSpPr/>
          <p:nvPr/>
        </p:nvSpPr>
        <p:spPr>
          <a:xfrm>
            <a:off x="1314450" y="3481189"/>
            <a:ext cx="4191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p33"/>
          <p:cNvSpPr/>
          <p:nvPr/>
        </p:nvSpPr>
        <p:spPr>
          <a:xfrm>
            <a:off x="1866900" y="3497858"/>
            <a:ext cx="4671765" cy="347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13372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875"/>
              <a:buFont typeface="Arial"/>
              <a:buNone/>
            </a:pPr>
            <a:r>
              <a:rPr lang="en-US" sz="1875" b="0" i="0" u="none" strike="noStrike" cap="non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Turned charts into one clear data story</a:t>
            </a:r>
            <a:endParaRPr sz="18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" name="Google Shape;905;p33"/>
          <p:cNvSpPr/>
          <p:nvPr/>
        </p:nvSpPr>
        <p:spPr>
          <a:xfrm>
            <a:off x="9229725" y="3252589"/>
            <a:ext cx="8010525" cy="8001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6" name="Google Shape;906;p33"/>
          <p:cNvSpPr/>
          <p:nvPr/>
        </p:nvSpPr>
        <p:spPr>
          <a:xfrm>
            <a:off x="9534525" y="3481189"/>
            <a:ext cx="342900" cy="342900"/>
          </a:xfrm>
          <a:prstGeom prst="ellipse">
            <a:avLst/>
          </a:prstGeom>
          <a:solidFill>
            <a:srgbClr val="1F9D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7" name="Google Shape;907;p33"/>
          <p:cNvSpPr/>
          <p:nvPr/>
        </p:nvSpPr>
        <p:spPr>
          <a:xfrm>
            <a:off x="9496425" y="3481189"/>
            <a:ext cx="4191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33"/>
          <p:cNvSpPr/>
          <p:nvPr/>
        </p:nvSpPr>
        <p:spPr>
          <a:xfrm>
            <a:off x="10048875" y="3497858"/>
            <a:ext cx="5642025" cy="347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13372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875"/>
              <a:buFont typeface="Arial"/>
              <a:buNone/>
            </a:pPr>
            <a:r>
              <a:rPr lang="en-US" sz="1875" b="0" i="0" u="none" strike="noStrike" cap="non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Acquired data from a REST API and a web table</a:t>
            </a:r>
            <a:endParaRPr sz="18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p33"/>
          <p:cNvSpPr/>
          <p:nvPr/>
        </p:nvSpPr>
        <p:spPr>
          <a:xfrm>
            <a:off x="1047750" y="4338439"/>
            <a:ext cx="8434685" cy="5091311"/>
          </a:xfrm>
          <a:prstGeom prst="roundRect">
            <a:avLst>
              <a:gd name="adj" fmla="val 4116"/>
            </a:avLst>
          </a:prstGeom>
          <a:solidFill>
            <a:srgbClr val="0C2E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0" name="Google Shape;910;p33"/>
          <p:cNvSpPr/>
          <p:nvPr/>
        </p:nvSpPr>
        <p:spPr>
          <a:xfrm>
            <a:off x="1428750" y="5844580"/>
            <a:ext cx="8439954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B060"/>
              </a:buClr>
              <a:buSzPts val="1650"/>
              <a:buFont typeface="Arial"/>
              <a:buNone/>
            </a:pPr>
            <a:r>
              <a:rPr lang="en-US" sz="1650" b="1" i="0" u="none" strike="noStrike" cap="none">
                <a:solidFill>
                  <a:srgbClr val="F0B060"/>
                </a:solidFill>
                <a:latin typeface="Arial"/>
                <a:ea typeface="Arial"/>
                <a:cs typeface="Arial"/>
                <a:sym typeface="Arial"/>
              </a:rPr>
              <a:t>NEXT UP · SESSION 8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p33"/>
          <p:cNvSpPr/>
          <p:nvPr/>
        </p:nvSpPr>
        <p:spPr>
          <a:xfrm>
            <a:off x="1428750" y="6257330"/>
            <a:ext cx="8439954" cy="558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Arial"/>
              <a:buNone/>
            </a:pPr>
            <a:r>
              <a:rPr lang="en-US" sz="3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Capstone 1 — end to end</a:t>
            </a:r>
            <a:endParaRPr sz="3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p33"/>
          <p:cNvSpPr/>
          <p:nvPr/>
        </p:nvSpPr>
        <p:spPr>
          <a:xfrm>
            <a:off x="1428750" y="6929735"/>
            <a:ext cx="8439954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22093"/>
              </a:lnSpc>
              <a:spcBef>
                <a:spcPts val="0"/>
              </a:spcBef>
              <a:spcAft>
                <a:spcPts val="0"/>
              </a:spcAft>
              <a:buClr>
                <a:srgbClr val="C9D6CD"/>
              </a:buClr>
              <a:buSzPts val="1875"/>
              <a:buFont typeface="Arial"/>
              <a:buNone/>
            </a:pPr>
            <a:r>
              <a:rPr lang="en-US" sz="1875" b="0" i="0" u="none" strike="noStrike" cap="none">
                <a:solidFill>
                  <a:srgbClr val="C9D6CD"/>
                </a:solidFill>
                <a:latin typeface="Arial"/>
                <a:ea typeface="Arial"/>
                <a:cs typeface="Arial"/>
                <a:sym typeface="Arial"/>
              </a:rPr>
              <a:t>Your own project: acquire, clean, analyse, visualise, present.</a:t>
            </a:r>
            <a:endParaRPr sz="18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p33"/>
          <p:cNvSpPr/>
          <p:nvPr/>
        </p:nvSpPr>
        <p:spPr>
          <a:xfrm>
            <a:off x="1428750" y="7472660"/>
            <a:ext cx="1131590" cy="450850"/>
          </a:xfrm>
          <a:prstGeom prst="roundRect">
            <a:avLst>
              <a:gd name="adj" fmla="val 50000"/>
            </a:avLst>
          </a:prstGeom>
          <a:solidFill>
            <a:srgbClr val="7FD6A0">
              <a:alpha val="1411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4" name="Google Shape;914;p33"/>
          <p:cNvSpPr/>
          <p:nvPr/>
        </p:nvSpPr>
        <p:spPr>
          <a:xfrm>
            <a:off x="1638300" y="7567910"/>
            <a:ext cx="788690" cy="29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575"/>
              <a:buFont typeface="Arial"/>
              <a:buNone/>
            </a:pPr>
            <a:r>
              <a:rPr lang="en-US" sz="1575" b="0" i="0" u="none" strike="noStrike" cap="none">
                <a:solidFill>
                  <a:srgbClr val="7FD6A0"/>
                </a:solidFill>
                <a:latin typeface="Arial"/>
                <a:ea typeface="Arial"/>
                <a:cs typeface="Arial"/>
                <a:sym typeface="Arial"/>
              </a:rPr>
              <a:t>Acquire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33"/>
          <p:cNvSpPr/>
          <p:nvPr/>
        </p:nvSpPr>
        <p:spPr>
          <a:xfrm>
            <a:off x="2674640" y="7472660"/>
            <a:ext cx="944166" cy="450850"/>
          </a:xfrm>
          <a:prstGeom prst="roundRect">
            <a:avLst>
              <a:gd name="adj" fmla="val 50000"/>
            </a:avLst>
          </a:prstGeom>
          <a:solidFill>
            <a:srgbClr val="7FD6A0">
              <a:alpha val="1411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6" name="Google Shape;916;p33"/>
          <p:cNvSpPr/>
          <p:nvPr/>
        </p:nvSpPr>
        <p:spPr>
          <a:xfrm>
            <a:off x="2884190" y="7567910"/>
            <a:ext cx="601266" cy="29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575"/>
              <a:buFont typeface="Arial"/>
              <a:buNone/>
            </a:pPr>
            <a:r>
              <a:rPr lang="en-US" sz="1575" b="0" i="0" u="none" strike="noStrike" cap="none">
                <a:solidFill>
                  <a:srgbClr val="7FD6A0"/>
                </a:solidFill>
                <a:latin typeface="Arial"/>
                <a:ea typeface="Arial"/>
                <a:cs typeface="Arial"/>
                <a:sym typeface="Arial"/>
              </a:rPr>
              <a:t>Clean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p33"/>
          <p:cNvSpPr/>
          <p:nvPr/>
        </p:nvSpPr>
        <p:spPr>
          <a:xfrm>
            <a:off x="3733106" y="7472660"/>
            <a:ext cx="1138833" cy="450850"/>
          </a:xfrm>
          <a:prstGeom prst="roundRect">
            <a:avLst>
              <a:gd name="adj" fmla="val 50000"/>
            </a:avLst>
          </a:prstGeom>
          <a:solidFill>
            <a:srgbClr val="7FD6A0">
              <a:alpha val="1411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8" name="Google Shape;918;p33"/>
          <p:cNvSpPr/>
          <p:nvPr/>
        </p:nvSpPr>
        <p:spPr>
          <a:xfrm>
            <a:off x="3942656" y="7567910"/>
            <a:ext cx="795933" cy="29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575"/>
              <a:buFont typeface="Arial"/>
              <a:buNone/>
            </a:pPr>
            <a:r>
              <a:rPr lang="en-US" sz="1575" b="0" i="0" u="none" strike="noStrike" cap="none">
                <a:solidFill>
                  <a:srgbClr val="7FD6A0"/>
                </a:solidFill>
                <a:latin typeface="Arial"/>
                <a:ea typeface="Arial"/>
                <a:cs typeface="Arial"/>
                <a:sym typeface="Arial"/>
              </a:rPr>
              <a:t>Analyse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33"/>
          <p:cNvSpPr/>
          <p:nvPr/>
        </p:nvSpPr>
        <p:spPr>
          <a:xfrm>
            <a:off x="4986239" y="7472660"/>
            <a:ext cx="1230015" cy="450850"/>
          </a:xfrm>
          <a:prstGeom prst="roundRect">
            <a:avLst>
              <a:gd name="adj" fmla="val 50000"/>
            </a:avLst>
          </a:prstGeom>
          <a:solidFill>
            <a:srgbClr val="7FD6A0">
              <a:alpha val="1411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0" name="Google Shape;920;p33"/>
          <p:cNvSpPr/>
          <p:nvPr/>
        </p:nvSpPr>
        <p:spPr>
          <a:xfrm>
            <a:off x="5195789" y="7567910"/>
            <a:ext cx="887115" cy="29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575"/>
              <a:buFont typeface="Arial"/>
              <a:buNone/>
            </a:pPr>
            <a:r>
              <a:rPr lang="en-US" sz="1575" b="0" i="0" u="none" strike="noStrike" cap="none">
                <a:solidFill>
                  <a:srgbClr val="7FD6A0"/>
                </a:solidFill>
                <a:latin typeface="Arial"/>
                <a:ea typeface="Arial"/>
                <a:cs typeface="Arial"/>
                <a:sym typeface="Arial"/>
              </a:rPr>
              <a:t>Visualise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33"/>
          <p:cNvSpPr/>
          <p:nvPr/>
        </p:nvSpPr>
        <p:spPr>
          <a:xfrm>
            <a:off x="6330553" y="7472660"/>
            <a:ext cx="1124049" cy="450850"/>
          </a:xfrm>
          <a:prstGeom prst="roundRect">
            <a:avLst>
              <a:gd name="adj" fmla="val 50000"/>
            </a:avLst>
          </a:prstGeom>
          <a:solidFill>
            <a:srgbClr val="7FD6A0">
              <a:alpha val="1411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2" name="Google Shape;922;p33"/>
          <p:cNvSpPr/>
          <p:nvPr/>
        </p:nvSpPr>
        <p:spPr>
          <a:xfrm>
            <a:off x="6540103" y="7567910"/>
            <a:ext cx="781149" cy="29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D6A0"/>
              </a:buClr>
              <a:buSzPts val="1575"/>
              <a:buFont typeface="Arial"/>
              <a:buNone/>
            </a:pPr>
            <a:r>
              <a:rPr lang="en-US" sz="1575" b="0" i="0" u="none" strike="noStrike" cap="none">
                <a:solidFill>
                  <a:srgbClr val="7FD6A0"/>
                </a:solidFill>
                <a:latin typeface="Arial"/>
                <a:ea typeface="Arial"/>
                <a:cs typeface="Arial"/>
                <a:sym typeface="Arial"/>
              </a:rPr>
              <a:t>Present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33"/>
          <p:cNvSpPr/>
          <p:nvPr/>
        </p:nvSpPr>
        <p:spPr>
          <a:xfrm>
            <a:off x="9806285" y="4338439"/>
            <a:ext cx="7433965" cy="5091311"/>
          </a:xfrm>
          <a:prstGeom prst="roundRect">
            <a:avLst>
              <a:gd name="adj" fmla="val 4116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4" name="Google Shape;924;p33"/>
          <p:cNvSpPr/>
          <p:nvPr/>
        </p:nvSpPr>
        <p:spPr>
          <a:xfrm>
            <a:off x="10187285" y="6184999"/>
            <a:ext cx="6872124" cy="731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24091"/>
              </a:lnSpc>
              <a:spcBef>
                <a:spcPts val="0"/>
              </a:spcBef>
              <a:spcAft>
                <a:spcPts val="0"/>
              </a:spcAft>
              <a:buClr>
                <a:srgbClr val="0C2E1E"/>
              </a:buClr>
              <a:buSzPts val="1950"/>
              <a:buFont typeface="Arial"/>
              <a:buNone/>
            </a:pPr>
            <a:r>
              <a:rPr lang="en-US" sz="1950" b="0" i="0" u="none" strike="noStrike" cap="none">
                <a:solidFill>
                  <a:srgbClr val="0C2E1E"/>
                </a:solidFill>
                <a:latin typeface="Arial"/>
                <a:ea typeface="Arial"/>
                <a:cs typeface="Arial"/>
                <a:sym typeface="Arial"/>
              </a:rPr>
              <a:t>You no longer wait for a CSV — you can </a:t>
            </a:r>
            <a:r>
              <a:rPr lang="en-US" sz="1950" b="1" i="0" u="none" strike="noStrike" cap="non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find the data, chart it, and say what it means.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5" name="Google Shape;925;p33"/>
          <p:cNvSpPr/>
          <p:nvPr/>
        </p:nvSpPr>
        <p:spPr>
          <a:xfrm>
            <a:off x="10187285" y="7087890"/>
            <a:ext cx="6872124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9D57"/>
              </a:buClr>
              <a:buSzPts val="1725"/>
              <a:buFont typeface="Arial"/>
              <a:buNone/>
            </a:pPr>
            <a:r>
              <a:rPr lang="en-US" sz="1725" b="1" i="0" u="none" strike="noStrike" cap="none">
                <a:solidFill>
                  <a:srgbClr val="1F9D57"/>
                </a:solidFill>
                <a:latin typeface="Arial"/>
                <a:ea typeface="Arial"/>
                <a:cs typeface="Arial"/>
                <a:sym typeface="Arial"/>
              </a:rPr>
              <a:t>Pre-work: finish the notebook, submit MP3, bring your capstone dataset.</a:t>
            </a:r>
            <a:endParaRPr sz="17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6" name="Google Shape;926;p3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7750" y="9658350"/>
            <a:ext cx="40292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27" name="Google Shape;927;p33"/>
          <p:cNvSpPr/>
          <p:nvPr/>
        </p:nvSpPr>
        <p:spPr>
          <a:xfrm>
            <a:off x="1574502" y="9674225"/>
            <a:ext cx="4108763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lang="en-US" sz="1425" b="0" i="0" u="none" strike="noStrike" cap="non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Rebounce Careers | Applied AI &amp; Analytics Lab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8" name="Google Shape;928;p33"/>
          <p:cNvSpPr/>
          <p:nvPr/>
        </p:nvSpPr>
        <p:spPr>
          <a:xfrm>
            <a:off x="14333538" y="9674225"/>
            <a:ext cx="2541091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8B82"/>
              </a:buClr>
              <a:buSzPts val="1425"/>
              <a:buFont typeface="Arial"/>
              <a:buNone/>
            </a:pPr>
            <a:r>
              <a:rPr lang="en-US" sz="1425" b="0" i="0" u="none" strike="noStrike" cap="none">
                <a:solidFill>
                  <a:srgbClr val="7C8B82"/>
                </a:solidFill>
                <a:latin typeface="Arial"/>
                <a:ea typeface="Arial"/>
                <a:cs typeface="Arial"/>
                <a:sym typeface="Arial"/>
              </a:rPr>
              <a:t>Instructor: Mr. Varunn Kaushik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9" name="Google Shape;929;p33"/>
          <p:cNvSpPr/>
          <p:nvPr/>
        </p:nvSpPr>
        <p:spPr>
          <a:xfrm>
            <a:off x="17027029" y="9674225"/>
            <a:ext cx="289421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CB3"/>
              </a:buClr>
              <a:buSzPts val="1425"/>
              <a:buFont typeface="Arial"/>
              <a:buNone/>
            </a:pPr>
            <a:r>
              <a:rPr lang="en-US" sz="1425" b="0" i="0" u="none" strike="noStrike" cap="none">
                <a:solidFill>
                  <a:srgbClr val="B0BCB3"/>
                </a:solidFill>
                <a:latin typeface="Arial"/>
                <a:ea typeface="Arial"/>
                <a:cs typeface="Arial"/>
                <a:sym typeface="Arial"/>
              </a:rPr>
              <a:t>33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8082</Words>
  <Application>Microsoft Office PowerPoint</Application>
  <PresentationFormat>Custom</PresentationFormat>
  <Paragraphs>608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Ayush Naik</cp:lastModifiedBy>
  <cp:revision>1</cp:revision>
  <dcterms:created xsi:type="dcterms:W3CDTF">2026-08-01T05:55:13Z</dcterms:created>
  <dcterms:modified xsi:type="dcterms:W3CDTF">2026-08-02T17:03:52Z</dcterms:modified>
</cp:coreProperties>
</file>